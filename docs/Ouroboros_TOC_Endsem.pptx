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2d6cbe7712b94e3a" /><Relationship Type="http://schemas.openxmlformats.org/package/2006/relationships/metadata/core-properties" Target="/docProps/core.xml" Id="R081d5b771fde470f" /><Relationship Type="http://schemas.openxmlformats.org/officeDocument/2006/relationships/extended-properties" Target="/docProps/app.xml" Id="Ra48ee21b08ea41cb" /><Relationship Type="http://schemas.openxmlformats.org/officeDocument/2006/relationships/custom-properties" Target="/docProps/custom.xml" Id="R9b1b659e3dd74582"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de8d61129c934b44"/>
  </p:notesMasterIdLst>
  <p:sldIdLst>
    <p:sldId id="256" r:id="R016a3206866d478d"/>
    <p:sldId id="257" r:id="Rb41ca2bc46694190"/>
    <p:sldId id="258" r:id="R93f1eef1f73b4bdb"/>
    <p:sldId id="259" r:id="R3fd48663e2cd4fa3"/>
    <p:sldId id="260" r:id="R2bfbe6501de14d1a"/>
    <p:sldId id="261" r:id="R590c6617e9b74bc0"/>
    <p:sldId id="262" r:id="R61fa9cee9a624f65"/>
    <p:sldId id="263" r:id="R80294bcd6b044fae"/>
    <p:sldId id="264" r:id="R63443527cc704b1e"/>
    <p:sldId id="265" r:id="R610463ef7a0d421c"/>
    <p:sldId id="266" r:id="R58ff37d58e074b9a"/>
    <p:sldId id="267" r:id="R054e63e2048a4f82"/>
    <p:sldId id="268" r:id="R0e3f6c54f7b0490a"/>
    <p:sldId id="269" r:id="R04904063aa3746f1"/>
    <p:sldId id="270" r:id="R1c7cc565f4584fe1"/>
    <p:sldId id="271" r:id="R8d540890a72d43e6"/>
    <p:sldId id="272" r:id="Rffd068472aa241bd"/>
    <p:sldId id="273" r:id="R2e1615e23d7844de"/>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016a3206866d478d" /><Relationship Type="http://schemas.openxmlformats.org/officeDocument/2006/relationships/slide" Target="/ppt/slides/slide2.xml" Id="Rb41ca2bc46694190" /><Relationship Type="http://schemas.openxmlformats.org/officeDocument/2006/relationships/notesMaster" Target="/ppt/notesMasters/notesMaster1.xml" Id="Rde8d61129c934b44" /><Relationship Type="http://schemas.openxmlformats.org/officeDocument/2006/relationships/slide" Target="/ppt/slides/slide3.xml" Id="R93f1eef1f73b4bdb" /><Relationship Type="http://schemas.openxmlformats.org/officeDocument/2006/relationships/slide" Target="/ppt/slides/slide4.xml" Id="R3fd48663e2cd4fa3" /><Relationship Type="http://schemas.openxmlformats.org/officeDocument/2006/relationships/slide" Target="/ppt/slides/slide5.xml" Id="R2bfbe6501de14d1a" /><Relationship Type="http://schemas.openxmlformats.org/officeDocument/2006/relationships/slide" Target="/ppt/slides/slide6.xml" Id="R590c6617e9b74bc0" /><Relationship Type="http://schemas.openxmlformats.org/officeDocument/2006/relationships/slide" Target="/ppt/slides/slide7.xml" Id="R61fa9cee9a624f65" /><Relationship Type="http://schemas.openxmlformats.org/officeDocument/2006/relationships/slide" Target="/ppt/slides/slide8.xml" Id="R80294bcd6b044fae" /><Relationship Type="http://schemas.openxmlformats.org/officeDocument/2006/relationships/slide" Target="/ppt/slides/slide9.xml" Id="R63443527cc704b1e" /><Relationship Type="http://schemas.openxmlformats.org/officeDocument/2006/relationships/slide" Target="/ppt/slides/slide10.xml" Id="R610463ef7a0d421c" /><Relationship Type="http://schemas.openxmlformats.org/officeDocument/2006/relationships/slide" Target="/ppt/slides/slide11.xml" Id="R58ff37d58e074b9a" /><Relationship Type="http://schemas.openxmlformats.org/officeDocument/2006/relationships/slide" Target="/ppt/slides/slide12.xml" Id="R054e63e2048a4f82" /><Relationship Type="http://schemas.openxmlformats.org/officeDocument/2006/relationships/slide" Target="/ppt/slides/slide13.xml" Id="R0e3f6c54f7b0490a" /><Relationship Type="http://schemas.openxmlformats.org/officeDocument/2006/relationships/slide" Target="/ppt/slides/slide14.xml" Id="R04904063aa3746f1" /><Relationship Type="http://schemas.openxmlformats.org/officeDocument/2006/relationships/slide" Target="/ppt/slides/slide15.xml" Id="R1c7cc565f4584fe1" /><Relationship Type="http://schemas.openxmlformats.org/officeDocument/2006/relationships/slide" Target="/ppt/slides/slide16.xml" Id="R8d540890a72d43e6" /><Relationship Type="http://schemas.openxmlformats.org/officeDocument/2006/relationships/slide" Target="/ppt/slides/slide17.xml" Id="Rffd068472aa241bd" /><Relationship Type="http://schemas.openxmlformats.org/officeDocument/2006/relationships/slide" Target="/ppt/slides/slide18.xml" Id="R2e1615e23d7844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6cde85d46e447bf"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2d2ca237ab764643" /><Relationship Type="http://schemas.openxmlformats.org/officeDocument/2006/relationships/slide" Target="/ppt/slides/slide2.xml" Id="R8ebb458ca11942a4"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b4a93e92c0114acc" /><Relationship Type="http://schemas.openxmlformats.org/officeDocument/2006/relationships/slide" Target="/ppt/slides/slide3.xml" Id="Rae4c6f5b5467462c"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4746e81970a34c8d" /><Relationship Type="http://schemas.openxmlformats.org/officeDocument/2006/relationships/slide" Target="/ppt/slides/slide4.xml" Id="R8982ffde49b44617"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92473cd15b6048b8" /><Relationship Type="http://schemas.openxmlformats.org/officeDocument/2006/relationships/slide" Target="/ppt/slides/slide5.xml" Id="R6cd060013df8415a"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c4d21c2cf5144a98" /><Relationship Type="http://schemas.openxmlformats.org/officeDocument/2006/relationships/slide" Target="/ppt/slides/slide6.xml" Id="Rca5f5e7767a54468"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36b87d5998354426" /><Relationship Type="http://schemas.openxmlformats.org/officeDocument/2006/relationships/slide" Target="/ppt/slides/slide7.xml" Id="R84241af20f1841ca"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88f252654e8f44f5" /><Relationship Type="http://schemas.openxmlformats.org/officeDocument/2006/relationships/slide" Target="/ppt/slides/slide8.xml" Id="R75f70d9ba3dc4f65"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d74411f3eb584cb9" /><Relationship Type="http://schemas.openxmlformats.org/officeDocument/2006/relationships/slide" Target="/ppt/slides/slide9.xml" Id="R0e1173156e7743e9"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5662df87d4b94309" /><Relationship Type="http://schemas.openxmlformats.org/officeDocument/2006/relationships/slide" Target="/ppt/slides/slide10.xml" Id="Rfbece96afc4e4aa4"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601eb915207c4aa4" /><Relationship Type="http://schemas.openxmlformats.org/officeDocument/2006/relationships/slide" Target="/ppt/slides/slide11.xml" Id="R8e888d5a8f3341ee"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9ee2783e807847a8" /><Relationship Type="http://schemas.openxmlformats.org/officeDocument/2006/relationships/slide" Target="/ppt/slides/slide12.xml" Id="R44fd1d70948b413e"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f861243aca7a454a" /><Relationship Type="http://schemas.openxmlformats.org/officeDocument/2006/relationships/slide" Target="/ppt/slides/slide13.xml" Id="R237f416f11dc4a91"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c290edf77d7c44a7" /><Relationship Type="http://schemas.openxmlformats.org/officeDocument/2006/relationships/slide" Target="/ppt/slides/slide14.xml" Id="Rac48f4e5f70149fc"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8b85fb4e7cf545e2" /><Relationship Type="http://schemas.openxmlformats.org/officeDocument/2006/relationships/slide" Target="/ppt/slides/slide15.xml" Id="R4dcb3852f9374827"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71c3d755cd184592" /><Relationship Type="http://schemas.openxmlformats.org/officeDocument/2006/relationships/slide" Target="/ppt/slides/slide16.xml" Id="Rfd313226924f4a33"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b1055f06a3bd4a23" /><Relationship Type="http://schemas.openxmlformats.org/officeDocument/2006/relationships/slide" Target="/ppt/slides/slide17.xml" Id="R26d38ed4fc4e46cf"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1e2c2b8acae04ee6" /><Relationship Type="http://schemas.openxmlformats.org/officeDocument/2006/relationships/slide" Target="/ppt/slides/slide18.xml" Id="R2aff17966efe42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Compilers are the most widely used application of automata theory, yet students usually only see the input and the output. Ouroboros opens the box. We designed a small language, Snek, built a complete compiler for it, and recorded every step every phase takes, so it can be replayed like a video with an explanation for each step.</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Our four objectives: show each ToC machine running on real input rather than on a whiteboard; build a complete seven-phase compiler that mirrors CPython; make every step explain itself in four parts (what, why, the formal rule, and what comes next); and show the limits of computation live, not just state them.</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theory spine of the project. The Chomsky hierarchy orders language classes by the machine needed to recognise them. Each compiler phase uses the weakest machine that can do its job, and each machine's limit is exactly why the next phase exists: a DFA cannot count brackets, a PDA cannot check declarations, and a Turing-complete machine cannot decide whether a program halts.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Where does ToC actually live in a compiler? Phases 1 and 2 are pure automata theory: regular languages and DFAs, context-free grammars and PDAs. That is where most of the ToC in this project is concentrated, and why they get two slides each. Phases 3, 5 and 7 apply ToC's limits: non-context-free languages, Rice's theorem and the halting problem. Phases 4 and 6 are translation, with little theory in them.</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pipeline. Each phase consumes only the previous phase's output. Source text becomes tokens, tokens become an abstract syntax tree, the tree is checked and typed, translated to stack instructions, optimised on a control-flow graph, packed into bytecode and finally executed. If any phase fails, the pipeline stops there and the error step explains which rule was broken.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lexer is a real DFA, defined as a five-tuple in code and drawn from that same data. The alphabet is character classes rather than raw characters. The transition function is total: every state has an edge for every class, and anything invalid falls into a DEAD trap state. There are no epsilon moves; accepting a token and restarting is the scanner's action, not an edge of the automaton.</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How the DFA is used: maximal munch. The scanner keeps moving while the transition function allows, remembers the last accepting state, and backs up to it when the next move would be DEAD. That is why less-than-or-equal is one token. Keywords are identifiers looked up in a table. A number running into letters, 123abc, is rejected as BAD_NUMBER, just as real compilers reject an invalid suffix.</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grammar is data, in pure BNF, and everything is derived from it. We left-factored it and removed left recursion so it is LL(1). FIRST and FOLLOW sets are computed by fixpoint iteration and produce the parse table. Every cell holds at most one production, which is exactly the condition for the PDA to be deterministic. Our self-check confirms there are zero conflicts.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PDA built from a grammar has one state; all the work happens on the stack. Expand: pop a non-terminal and push the production chosen by the table, reversed. Match: pop a terminal equal to the next input token. The input is accepted when it is consumed and the stack is empty. The app shows the stack, the leftmost derivation and the table cell used, then folds the parse tree into an AST.</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Is x declared before it is used? That is the language w c w, and the pumping lemma shows it is not context-free, so no PDA can check it. Semantic analysis walks the AST with a stack of scopes, the symbol table. Exact type checking is undecidable by Rice's theorem, so parameters stay unknown and the VM checks them at run time.</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Now we translate rather than recognise. Each AST node kind has one translation rule. Applied in post-order, children are compiled before their parent, so operands are on the stack before the operator pops them. For loops are desugared into while loops, and forward jumps are emitted with a placeholder and backpatched once their label is placed.</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instructions are cut into basic blocks at leaders and joined by edges: the control-flow graph. Rewrite rules then run until nothing changes, a fixpoint. Rice's theorem says deciding whether code is really dead is impossible in general, so we only remove blocks with no path from the entry, which is decidable by graph search. On the demo, the main code object goes from 47 to 40 instructions with the same output; 1 / 0 is never folded.</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assembler packs each instruction into two bytes, opcode and argument, like CPython's wordcode. Labels become relative jump offsets. Arguments above 255 need EXTENDED_ARG prefixes, which can lengthen jumps and push other targets further, so sizes are recomputed until nothing grows: another fixpoint. The app shows a dis-style listing with the raw bytes.</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VM fetches the opcode at the program counter, decodes it and executes it. It treats the program as data, like a universal Turing machine. With an operand stack, a call-frame stack and unbounded integers it is Turing-complete, so halting is undecidable. The VM therefore runs on a budget of 10,000 steps and 256 frames, and when the budget trips it explains the halting problem.</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Results. All seven phases are implemented and wired into the UI. On demo.snek the lexer produces 94 tokens in 700 DFA steps; the parser makes 559 PDA moves with zero LL(1) conflicts; the optimiser shrinks the main code object from 47 to 40 instructions; the VM prints hi. Six sample programs each fail in the phase they should, and seven self-check scripts pass.</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live demo: first demo.snek through all seven phases using the scrubber and the explanation grid, then one error sample per phase: a lexical error, a syntax error with the expected token set, a type error, a run-time division by zero, and a non-halting loop stopped by the step budget.</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To conclude: every compiler phase is a machine, from a DFA through a PDA to a Turing-complete VM. The theory is heaviest in lexing and parsing; later phases run into ToC's limits: the pumping lemma, Rice's theorem and the halting problem. Future work includes generating the lexer DFA from regular expressions via Thompson's construction and subset construction. Thank you.</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3e7ca91314e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bd98cc5ac245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55a8851b3c4b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2ab366d39b4c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b67831e6924911"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e5b1ecc2b1754700"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bbb1c530aec541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21ee64f55f4798" /><Relationship Type="http://schemas.openxmlformats.org/officeDocument/2006/relationships/notesSlide" Target="/ppt/notesSlides/notesSlide1.xml" Id="R206aff67d7c842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3061672c0b4637" /><Relationship Type="http://schemas.openxmlformats.org/officeDocument/2006/relationships/notesSlide" Target="/ppt/notesSlides/notesSlide2.xml" Id="R383d4cb7341f45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8a5ef5ecbd44fa" /><Relationship Type="http://schemas.openxmlformats.org/officeDocument/2006/relationships/notesSlide" Target="/ppt/notesSlides/notesSlide3.xml" Id="R52cc99cbec7643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6a5d7b6b3b4b4c" /><Relationship Type="http://schemas.openxmlformats.org/officeDocument/2006/relationships/notesSlide" Target="/ppt/notesSlides/notesSlide4.xml" Id="Rc75ac4c9066647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eb25bf141344da" /><Relationship Type="http://schemas.openxmlformats.org/officeDocument/2006/relationships/notesSlide" Target="/ppt/notesSlides/notesSlide5.xml" Id="R140fd77e21b147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d8a8612be8456e" /><Relationship Type="http://schemas.openxmlformats.org/officeDocument/2006/relationships/notesSlide" Target="/ppt/notesSlides/notesSlide6.xml" Id="R1e9e4138c19f45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57a36b349f4c41" /><Relationship Type="http://schemas.openxmlformats.org/officeDocument/2006/relationships/notesSlide" Target="/ppt/notesSlides/notesSlide7.xml" Id="Rde3a5dfe2d6e41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69afc7d5c7483e" /><Relationship Type="http://schemas.openxmlformats.org/officeDocument/2006/relationships/notesSlide" Target="/ppt/notesSlides/notesSlide8.xml" Id="Refd5f3fe956b4d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6d90d026f5429a" /><Relationship Type="http://schemas.openxmlformats.org/officeDocument/2006/relationships/notesSlide" Target="/ppt/notesSlides/notesSlide9.xml" Id="Rf62ac302206a4f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6eeecfe7f847ae" /><Relationship Type="http://schemas.openxmlformats.org/officeDocument/2006/relationships/notesSlide" Target="/ppt/notesSlides/notesSlide10.xml" Id="Ref00061aaf6141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b01dd5cc784044" /><Relationship Type="http://schemas.openxmlformats.org/officeDocument/2006/relationships/notesSlide" Target="/ppt/notesSlides/notesSlide11.xml" Id="R334a30f192224b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98238c95d244aa" /><Relationship Type="http://schemas.openxmlformats.org/officeDocument/2006/relationships/notesSlide" Target="/ppt/notesSlides/notesSlide12.xml" Id="Rb9ca44dbced04b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b8ff570d574296" /><Relationship Type="http://schemas.openxmlformats.org/officeDocument/2006/relationships/notesSlide" Target="/ppt/notesSlides/notesSlide13.xml" Id="R322b856722cd47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5743a66460e45c0" /><Relationship Type="http://schemas.openxmlformats.org/officeDocument/2006/relationships/notesSlide" Target="/ppt/notesSlides/notesSlide14.xml" Id="Ra6223095f31d46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77fae9ba954981" /><Relationship Type="http://schemas.openxmlformats.org/officeDocument/2006/relationships/notesSlide" Target="/ppt/notesSlides/notesSlide15.xml" Id="R7d801826925d4a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5d6a04b8664aba" /><Relationship Type="http://schemas.openxmlformats.org/officeDocument/2006/relationships/notesSlide" Target="/ppt/notesSlides/notesSlide16.xml" Id="Re9d8c6f3f03e42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ad03b8395e4760" /><Relationship Type="http://schemas.openxmlformats.org/officeDocument/2006/relationships/notesSlide" Target="/ppt/notesSlides/notesSlide17.xml" Id="R8f8c799f1f3e4dfc" /></Relationships>
</file>

<file path=ppt/slides/slide1.xml><?xml version="1.0" encoding="utf-8"?>
<p:sld xmlns:p="http://schemas.openxmlformats.org/presentationml/2006/main">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000" name="!!scene-orb1"/>
          <p:cNvSpPr/>
          <p:nvPr/>
        </p:nvSpPr>
        <p:spPr>
          <a:xfrm xmlns:a="http://schemas.openxmlformats.org/drawingml/2006/main">
            <a:off x="6480000" y="-10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01" name="!!scene-orb2"/>
          <p:cNvSpPr/>
          <p:nvPr/>
        </p:nvSpPr>
        <p:spPr>
          <a:xfrm xmlns:a="http://schemas.openxmlformats.org/drawingml/2006/main">
            <a:off x="-1080000" y="396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02" name="!!scene-ring"/>
          <p:cNvSpPr/>
          <p:nvPr/>
        </p:nvSpPr>
        <p:spPr>
          <a:xfrm xmlns:a="http://schemas.openxmlformats.org/drawingml/2006/main">
            <a:off x="7034400" y="1274400"/>
            <a:ext cx="4287600" cy="4287600"/>
          </a:xfrm>
          <a:prstGeom xmlns:a="http://schemas.openxmlformats.org/drawingml/2006/main" prst="blockArc">
            <a:avLst>
              <a:gd name="adj1" fmla="val 15540000"/>
              <a:gd name="adj2" fmla="val 1374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003" name="!!scene-p1"/>
          <p:cNvSpPr/>
          <p:nvPr/>
        </p:nvSpPr>
        <p:spPr>
          <a:xfrm xmlns:a="http://schemas.openxmlformats.org/drawingml/2006/main">
            <a:off x="8748000" y="9720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1</a:t>
            </a:r>
          </a:p>
        </p:txBody>
      </p:sp>
      <p:sp>
        <p:nvSpPr>
          <p:cNvPr id="100004" name="!!scene-p2"/>
          <p:cNvSpPr/>
          <p:nvPr/>
        </p:nvSpPr>
        <p:spPr>
          <a:xfrm xmlns:a="http://schemas.openxmlformats.org/drawingml/2006/main">
            <a:off x="10324800" y="17316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2</a:t>
            </a:r>
          </a:p>
        </p:txBody>
      </p:sp>
      <p:sp>
        <p:nvSpPr>
          <p:cNvPr id="100005" name="!!scene-p3"/>
          <p:cNvSpPr/>
          <p:nvPr/>
        </p:nvSpPr>
        <p:spPr>
          <a:xfrm xmlns:a="http://schemas.openxmlformats.org/drawingml/2006/main">
            <a:off x="10713600" y="34380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3</a:t>
            </a:r>
          </a:p>
        </p:txBody>
      </p:sp>
      <p:sp>
        <p:nvSpPr>
          <p:cNvPr id="100006" name="!!scene-p4"/>
          <p:cNvSpPr/>
          <p:nvPr/>
        </p:nvSpPr>
        <p:spPr>
          <a:xfrm xmlns:a="http://schemas.openxmlformats.org/drawingml/2006/main">
            <a:off x="9622800" y="48060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4</a:t>
            </a:r>
          </a:p>
        </p:txBody>
      </p:sp>
      <p:sp>
        <p:nvSpPr>
          <p:cNvPr id="100007" name="!!scene-p5"/>
          <p:cNvSpPr/>
          <p:nvPr/>
        </p:nvSpPr>
        <p:spPr>
          <a:xfrm xmlns:a="http://schemas.openxmlformats.org/drawingml/2006/main">
            <a:off x="7873200" y="48060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5</a:t>
            </a:r>
          </a:p>
        </p:txBody>
      </p:sp>
      <p:sp>
        <p:nvSpPr>
          <p:cNvPr id="100008" name="!!scene-p6"/>
          <p:cNvSpPr/>
          <p:nvPr/>
        </p:nvSpPr>
        <p:spPr>
          <a:xfrm xmlns:a="http://schemas.openxmlformats.org/drawingml/2006/main">
            <a:off x="6782400" y="34380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6</a:t>
            </a:r>
          </a:p>
        </p:txBody>
      </p:sp>
      <p:sp>
        <p:nvSpPr>
          <p:cNvPr id="100009" name="!!scene-p7"/>
          <p:cNvSpPr/>
          <p:nvPr/>
        </p:nvSpPr>
        <p:spPr>
          <a:xfrm xmlns:a="http://schemas.openxmlformats.org/drawingml/2006/main">
            <a:off x="7171200" y="1731600"/>
            <a:ext cx="864000" cy="8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7</a:t>
            </a:r>
          </a:p>
        </p:txBody>
      </p:sp>
      <p:sp>
        <p:nvSpPr>
          <p:cNvPr id="100010" name="#s1-title"/>
          <p:cNvSpPr txBox="1"/>
          <p:nvPr/>
        </p:nvSpPr>
        <p:spPr>
          <a:xfrm xmlns:a="http://schemas.openxmlformats.org/drawingml/2006/main">
            <a:off x="576000" y="1944000"/>
            <a:ext cx="6300000" cy="11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6000" b="0">
                <a:solidFill>
                  <a:srgbClr val="00FF88"/>
                </a:solidFill>
                <a:latin typeface="Arial Black"/>
                <a:ea typeface="Arial Black"/>
              </a:rPr>
              <a:t>OUROBOROS</a:t>
            </a:r>
          </a:p>
        </p:txBody>
      </p:sp>
      <p:sp>
        <p:nvSpPr>
          <p:cNvPr id="100011" name="#s1-sub"/>
          <p:cNvSpPr txBox="1"/>
          <p:nvPr/>
        </p:nvSpPr>
        <p:spPr>
          <a:xfrm xmlns:a="http://schemas.openxmlformats.org/drawingml/2006/main">
            <a:off x="576000" y="3096000"/>
            <a:ext cx="6120000" cy="9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400" b="0">
                <a:solidFill>
                  <a:srgbClr val="D1FAE5"/>
                </a:solidFill>
                <a:latin typeface="Segoe UI"/>
                <a:ea typeface="Segoe UI"/>
              </a:rPr>
              <a:t>Visualizing a compiler through the Theory of Computation</a:t>
            </a:r>
          </a:p>
        </p:txBody>
      </p:sp>
      <p:sp>
        <p:nvSpPr>
          <p:cNvPr id="100012" name="#s1-meta"/>
          <p:cNvSpPr txBox="1"/>
          <p:nvPr/>
        </p:nvSpPr>
        <p:spPr>
          <a:xfrm xmlns:a="http://schemas.openxmlformats.org/drawingml/2006/main">
            <a:off x="576000" y="4032000"/>
            <a:ext cx="61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Theory of Computation  ·  End-Semester Project</a:t>
            </a:r>
          </a:p>
        </p:txBody>
      </p:sp>
      <p:sp>
        <p:nvSpPr>
          <p:cNvPr id="100013" name="#s1-lang"/>
          <p:cNvSpPr txBox="1"/>
          <p:nvPr/>
        </p:nvSpPr>
        <p:spPr>
          <a:xfrm xmlns:a="http://schemas.openxmlformats.org/drawingml/2006/main">
            <a:off x="576000" y="5832000"/>
            <a:ext cx="72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language: Snek  ·  7 phases  ·  every step explained</a:t>
            </a:r>
          </a:p>
        </p:txBody>
      </p:sp>
    </p:spTree>
  </p:cSld>
</p:sld>
</file>

<file path=ppt/slides/slide2.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014" name="!!scene-orb1"/>
          <p:cNvSpPr/>
          <p:nvPr/>
        </p:nvSpPr>
        <p:spPr>
          <a:xfrm xmlns:a="http://schemas.openxmlformats.org/drawingml/2006/main">
            <a:off x="7920000" y="28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15" name="!!scene-orb2"/>
          <p:cNvSpPr/>
          <p:nvPr/>
        </p:nvSpPr>
        <p:spPr>
          <a:xfrm xmlns:a="http://schemas.openxmlformats.org/drawingml/2006/main">
            <a:off x="720000" y="-144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16" name="!!scene-ring"/>
          <p:cNvSpPr/>
          <p:nvPr/>
        </p:nvSpPr>
        <p:spPr>
          <a:xfrm xmlns:a="http://schemas.openxmlformats.org/drawingml/2006/main">
            <a:off x="9414000" y="522000"/>
            <a:ext cx="1760400" cy="1760400"/>
          </a:xfrm>
          <a:prstGeom xmlns:a="http://schemas.openxmlformats.org/drawingml/2006/main" prst="blockArc">
            <a:avLst>
              <a:gd name="adj1" fmla="val 18900000"/>
              <a:gd name="adj2" fmla="val 171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017" name="!!scene-p1"/>
          <p:cNvSpPr/>
          <p:nvPr/>
        </p:nvSpPr>
        <p:spPr>
          <a:xfrm xmlns:a="http://schemas.openxmlformats.org/drawingml/2006/main">
            <a:off x="10116000" y="39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018" name="!!scene-p2"/>
          <p:cNvSpPr/>
          <p:nvPr/>
        </p:nvSpPr>
        <p:spPr>
          <a:xfrm xmlns:a="http://schemas.openxmlformats.org/drawingml/2006/main">
            <a:off x="10764000" y="7092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019" name="!!scene-p3"/>
          <p:cNvSpPr/>
          <p:nvPr/>
        </p:nvSpPr>
        <p:spPr>
          <a:xfrm xmlns:a="http://schemas.openxmlformats.org/drawingml/2006/main">
            <a:off x="10922400" y="14076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020" name="!!scene-p4"/>
          <p:cNvSpPr/>
          <p:nvPr/>
        </p:nvSpPr>
        <p:spPr>
          <a:xfrm xmlns:a="http://schemas.openxmlformats.org/drawingml/2006/main">
            <a:off x="10476000" y="19692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4</a:t>
            </a:r>
          </a:p>
        </p:txBody>
      </p:sp>
      <p:sp>
        <p:nvSpPr>
          <p:cNvPr id="100021" name="!!scene-p5"/>
          <p:cNvSpPr/>
          <p:nvPr/>
        </p:nvSpPr>
        <p:spPr>
          <a:xfrm xmlns:a="http://schemas.openxmlformats.org/drawingml/2006/main">
            <a:off x="9756000" y="19692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5</a:t>
            </a:r>
          </a:p>
        </p:txBody>
      </p:sp>
      <p:sp>
        <p:nvSpPr>
          <p:cNvPr id="100022" name="!!scene-p6"/>
          <p:cNvSpPr/>
          <p:nvPr/>
        </p:nvSpPr>
        <p:spPr>
          <a:xfrm xmlns:a="http://schemas.openxmlformats.org/drawingml/2006/main">
            <a:off x="9309600" y="14076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6</a:t>
            </a:r>
          </a:p>
        </p:txBody>
      </p:sp>
      <p:sp>
        <p:nvSpPr>
          <p:cNvPr id="100023" name="!!scene-p7"/>
          <p:cNvSpPr/>
          <p:nvPr/>
        </p:nvSpPr>
        <p:spPr>
          <a:xfrm xmlns:a="http://schemas.openxmlformats.org/drawingml/2006/main">
            <a:off x="9468000" y="7092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7</a:t>
            </a:r>
          </a:p>
        </p:txBody>
      </p:sp>
      <p:sp>
        <p:nvSpPr>
          <p:cNvPr id="100024" name="!!#s2-kicker"/>
          <p:cNvSpPr txBox="1"/>
          <p:nvPr/>
        </p:nvSpPr>
        <p:spPr>
          <a:xfrm xmlns:a="http://schemas.openxmlformats.org/drawingml/2006/main">
            <a:off x="576000" y="252000"/>
            <a:ext cx="720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01 · INTRODUCTION</a:t>
            </a:r>
          </a:p>
        </p:txBody>
      </p:sp>
      <p:sp>
        <p:nvSpPr>
          <p:cNvPr id="100025" name="!!#s2-title"/>
          <p:cNvSpPr txBox="1"/>
          <p:nvPr/>
        </p:nvSpPr>
        <p:spPr>
          <a:xfrm xmlns:a="http://schemas.openxmlformats.org/drawingml/2006/main">
            <a:off x="576000" y="576000"/>
            <a:ext cx="1080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Introduction</a:t>
            </a:r>
          </a:p>
        </p:txBody>
      </p:sp>
      <p:sp>
        <p:nvSpPr>
          <p:cNvPr id="100026" name="!!#s2-pts"/>
          <p:cNvSpPr txBox="1"/>
          <p:nvPr/>
        </p:nvSpPr>
        <p:spPr>
          <a:xfrm xmlns:a="http://schemas.openxmlformats.org/drawingml/2006/main">
            <a:off x="576000" y="1584000"/>
            <a:ext cx="6264000" cy="45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2000" b="0">
                <a:solidFill>
                  <a:srgbClr val="D1FAE5"/>
                </a:solidFill>
                <a:latin typeface="Segoe UI"/>
                <a:ea typeface="Segoe UI"/>
              </a:rPr>
              <a:t>▸  Compilers are the most-used application of automata theory — yet we only ever see their input and output.</a:t>
            </a:r>
          </a:p>
          <a:p xmlns:a="http://schemas.openxmlformats.org/drawingml/2006/main">
            <a:pPr algn="l">
              <a:spcAft>
                <a:spcPts val="600"/>
              </a:spcAft>
            </a:pPr>
            <a:r>
              <a:rPr lang="en-US" sz="2000" b="0">
                <a:solidFill>
                  <a:srgbClr val="D1FAE5"/>
                </a:solidFill>
                <a:latin typeface="Segoe UI"/>
                <a:ea typeface="Segoe UI"/>
              </a:rPr>
              <a:t>▸  Ouroboros opens the black box: a complete compiler for Snek, a small language we designed.</a:t>
            </a:r>
          </a:p>
          <a:p xmlns:a="http://schemas.openxmlformats.org/drawingml/2006/main">
            <a:pPr algn="l">
              <a:spcAft>
                <a:spcPts val="600"/>
              </a:spcAft>
            </a:pPr>
            <a:r>
              <a:rPr lang="en-US" sz="2000" b="0">
                <a:solidFill>
                  <a:srgbClr val="D1FAE5"/>
                </a:solidFill>
                <a:latin typeface="Segoe UI"/>
                <a:ea typeface="Segoe UI"/>
              </a:rPr>
              <a:t>▸  Every phase records every step; the app replays it with What · Why · Formal rule · Next.</a:t>
            </a:r>
          </a:p>
          <a:p xmlns:a="http://schemas.openxmlformats.org/drawingml/2006/main">
            <a:pPr algn="l">
              <a:spcAft>
                <a:spcPts val="600"/>
              </a:spcAft>
            </a:pPr>
            <a:r>
              <a:rPr lang="en-US" sz="2000" b="0">
                <a:solidFill>
                  <a:srgbClr val="D1FAE5"/>
                </a:solidFill>
                <a:latin typeface="Segoe UI"/>
                <a:ea typeface="Segoe UI"/>
              </a:rPr>
              <a:t>▸  Runs entirely in the browser (Preact + TypeScript).</a:t>
            </a:r>
          </a:p>
        </p:txBody>
      </p:sp>
      <p:sp>
        <p:nvSpPr>
          <p:cNvPr id="100027" name="!!#s2-code"/>
          <p:cNvSpPr/>
          <p:nvPr/>
        </p:nvSpPr>
        <p:spPr>
          <a:xfrm xmlns:a="http://schemas.openxmlformats.org/drawingml/2006/main">
            <a:off x="7128000" y="2736000"/>
            <a:ext cx="4500000" cy="3096000"/>
          </a:xfrm>
          <a:prstGeom xmlns:a="http://schemas.openxmlformats.org/drawingml/2006/main" prst="roundRect">
            <a:avLst/>
          </a:prstGeom>
          <a:solidFill xmlns:a="http://schemas.openxmlformats.org/drawingml/2006/main">
            <a:srgbClr val="000000"/>
          </a:solidFill>
          <a:ln xmlns:a="http://schemas.openxmlformats.org/drawingml/2006/main" w="12700">
            <a:solidFill>
              <a:srgbClr val="34D399"/>
            </a:solidFill>
          </a:ln>
        </p:spPr>
        <p:txBody>
          <a:bodyPr xmlns:a="http://schemas.openxmlformats.org/drawingml/2006/main" anchor="t"/>
          <a:lstStyle xmlns:a="http://schemas.openxmlformats.org/drawingml/2006/main"/>
          <a:p xmlns:a="http://schemas.openxmlformats.org/drawingml/2006/main">
            <a:pPr algn="l"/>
            <a:r>
              <a:rPr lang="en-US" sz="1400" b="0">
                <a:solidFill>
                  <a:srgbClr val="D1FAE5"/>
                </a:solidFill>
                <a:latin typeface="Consolas"/>
                <a:ea typeface="Consolas"/>
              </a:rPr>
              <a:t>fn square(n) {</a:t>
            </a:r>
          </a:p>
          <a:p xmlns:a="http://schemas.openxmlformats.org/drawingml/2006/main">
            <a:pPr algn="l"/>
            <a:r>
              <a:rPr lang="en-US" sz="1400" b="0">
                <a:solidFill>
                  <a:srgbClr val="D1FAE5"/>
                </a:solidFill>
                <a:latin typeface="Consolas"/>
                <a:ea typeface="Consolas"/>
              </a:rPr>
              <a:t>  return n * n;</a:t>
            </a:r>
          </a:p>
          <a:p xmlns:a="http://schemas.openxmlformats.org/drawingml/2006/main">
            <a:pPr algn="l"/>
            <a:r>
              <a:rPr lang="en-US" sz="1400" b="0">
                <a:solidFill>
                  <a:srgbClr val="D1FAE5"/>
                </a:solidFill>
                <a:latin typeface="Consolas"/>
                <a:ea typeface="Consolas"/>
              </a:rPr>
              <a:t>}</a:t>
            </a:r>
          </a:p>
          <a:p xmlns:a="http://schemas.openxmlformats.org/drawingml/2006/main">
            <a:pPr algn="l"/>
            <a:r>
              <a:rPr lang="en-US" sz="1400" b="0">
                <a:solidFill>
                  <a:srgbClr val="D1FAE5"/>
                </a:solidFill>
                <a:latin typeface="Consolas"/>
                <a:ea typeface="Consolas"/>
              </a:rPr>
              <a:t>let limit = 1 + 2;</a:t>
            </a:r>
          </a:p>
          <a:p xmlns:a="http://schemas.openxmlformats.org/drawingml/2006/main">
            <a:pPr algn="l"/>
            <a:r>
              <a:rPr lang="en-US" sz="1400" b="0">
                <a:solidFill>
                  <a:srgbClr val="D1FAE5"/>
                </a:solidFill>
                <a:latin typeface="Consolas"/>
                <a:ea typeface="Consolas"/>
              </a:rPr>
              <a:t>for (let i = 0; i &lt; limit; i = i + 1) {</a:t>
            </a:r>
          </a:p>
          <a:p xmlns:a="http://schemas.openxmlformats.org/drawingml/2006/main">
            <a:pPr algn="l"/>
            <a:r>
              <a:rPr lang="en-US" sz="1400" b="0">
                <a:solidFill>
                  <a:srgbClr val="D1FAE5"/>
                </a:solidFill>
                <a:latin typeface="Consolas"/>
                <a:ea typeface="Consolas"/>
              </a:rPr>
              <a:t>  total = total + square(i);</a:t>
            </a:r>
          </a:p>
          <a:p xmlns:a="http://schemas.openxmlformats.org/drawingml/2006/main">
            <a:pPr algn="l"/>
            <a:r>
              <a:rPr lang="en-US" sz="1400" b="0">
                <a:solidFill>
                  <a:srgbClr val="D1FAE5"/>
                </a:solidFill>
                <a:latin typeface="Consolas"/>
                <a:ea typeface="Consolas"/>
              </a:rPr>
              <a:t>}</a:t>
            </a:r>
          </a:p>
          <a:p xmlns:a="http://schemas.openxmlformats.org/drawingml/2006/main">
            <a:pPr algn="l"/>
            <a:r>
              <a:rPr lang="en-US" sz="1400" b="0">
                <a:solidFill>
                  <a:srgbClr val="D1FAE5"/>
                </a:solidFill>
                <a:latin typeface="Consolas"/>
                <a:ea typeface="Consolas"/>
              </a:rPr>
              <a:t>print names[1];   # → hi</a:t>
            </a:r>
          </a:p>
        </p:txBody>
      </p:sp>
      <p:sp>
        <p:nvSpPr>
          <p:cNvPr id="100028" name="!!#s2-codel"/>
          <p:cNvSpPr txBox="1"/>
          <p:nvPr/>
        </p:nvSpPr>
        <p:spPr>
          <a:xfrm xmlns:a="http://schemas.openxmlformats.org/drawingml/2006/main">
            <a:off x="7128000" y="5868000"/>
            <a:ext cx="45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demo.snek</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3.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029" name="!!scene-orb1"/>
          <p:cNvSpPr/>
          <p:nvPr/>
        </p:nvSpPr>
        <p:spPr>
          <a:xfrm xmlns:a="http://schemas.openxmlformats.org/drawingml/2006/main">
            <a:off x="-1440000" y="28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30" name="!!scene-orb2"/>
          <p:cNvSpPr/>
          <p:nvPr/>
        </p:nvSpPr>
        <p:spPr>
          <a:xfrm xmlns:a="http://schemas.openxmlformats.org/drawingml/2006/main">
            <a:off x="8640000" y="-108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31" name="!!scene-ring"/>
          <p:cNvSpPr/>
          <p:nvPr/>
        </p:nvSpPr>
        <p:spPr>
          <a:xfrm xmlns:a="http://schemas.openxmlformats.org/drawingml/2006/main">
            <a:off x="522000" y="4842000"/>
            <a:ext cx="1839600" cy="1839600"/>
          </a:xfrm>
          <a:prstGeom xmlns:a="http://schemas.openxmlformats.org/drawingml/2006/main" prst="blockArc">
            <a:avLst>
              <a:gd name="adj1" fmla="val 2100000"/>
              <a:gd name="adj2" fmla="val 3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032" name="!!scene-p1"/>
          <p:cNvSpPr/>
          <p:nvPr/>
        </p:nvSpPr>
        <p:spPr>
          <a:xfrm xmlns:a="http://schemas.openxmlformats.org/drawingml/2006/main">
            <a:off x="795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033" name="!!scene-p2"/>
          <p:cNvSpPr/>
          <p:nvPr/>
        </p:nvSpPr>
        <p:spPr>
          <a:xfrm xmlns:a="http://schemas.openxmlformats.org/drawingml/2006/main">
            <a:off x="849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034" name="!!scene-p3"/>
          <p:cNvSpPr/>
          <p:nvPr/>
        </p:nvSpPr>
        <p:spPr>
          <a:xfrm xmlns:a="http://schemas.openxmlformats.org/drawingml/2006/main">
            <a:off x="903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035" name="!!scene-p4"/>
          <p:cNvSpPr/>
          <p:nvPr/>
        </p:nvSpPr>
        <p:spPr>
          <a:xfrm xmlns:a="http://schemas.openxmlformats.org/drawingml/2006/main">
            <a:off x="957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4</a:t>
            </a:r>
          </a:p>
        </p:txBody>
      </p:sp>
      <p:sp>
        <p:nvSpPr>
          <p:cNvPr id="100036" name="!!scene-p5"/>
          <p:cNvSpPr/>
          <p:nvPr/>
        </p:nvSpPr>
        <p:spPr>
          <a:xfrm xmlns:a="http://schemas.openxmlformats.org/drawingml/2006/main">
            <a:off x="1011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5</a:t>
            </a:r>
          </a:p>
        </p:txBody>
      </p:sp>
      <p:sp>
        <p:nvSpPr>
          <p:cNvPr id="100037" name="!!scene-p6"/>
          <p:cNvSpPr/>
          <p:nvPr/>
        </p:nvSpPr>
        <p:spPr>
          <a:xfrm xmlns:a="http://schemas.openxmlformats.org/drawingml/2006/main">
            <a:off x="1065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6</a:t>
            </a:r>
          </a:p>
        </p:txBody>
      </p:sp>
      <p:sp>
        <p:nvSpPr>
          <p:cNvPr id="100038" name="!!scene-p7"/>
          <p:cNvSpPr/>
          <p:nvPr/>
        </p:nvSpPr>
        <p:spPr>
          <a:xfrm xmlns:a="http://schemas.openxmlformats.org/drawingml/2006/main">
            <a:off x="11196000" y="216000"/>
            <a:ext cx="360000" cy="3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7</a:t>
            </a:r>
          </a:p>
        </p:txBody>
      </p:sp>
      <p:sp>
        <p:nvSpPr>
          <p:cNvPr id="100039" name="!!#s3-kicker"/>
          <p:cNvSpPr txBox="1"/>
          <p:nvPr/>
        </p:nvSpPr>
        <p:spPr>
          <a:xfrm xmlns:a="http://schemas.openxmlformats.org/drawingml/2006/main">
            <a:off x="576000" y="252000"/>
            <a:ext cx="720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02 · OBJECTIVES</a:t>
            </a:r>
          </a:p>
        </p:txBody>
      </p:sp>
      <p:sp>
        <p:nvSpPr>
          <p:cNvPr id="100040" name="!!#s3-title"/>
          <p:cNvSpPr txBox="1"/>
          <p:nvPr/>
        </p:nvSpPr>
        <p:spPr>
          <a:xfrm xmlns:a="http://schemas.openxmlformats.org/drawingml/2006/main">
            <a:off x="576000" y="576000"/>
            <a:ext cx="1080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Objectives</a:t>
            </a:r>
          </a:p>
        </p:txBody>
      </p:sp>
      <p:sp>
        <p:nvSpPr>
          <p:cNvPr id="100041" name="!!#s3-o0"/>
          <p:cNvSpPr/>
          <p:nvPr/>
        </p:nvSpPr>
        <p:spPr>
          <a:xfrm xmlns:a="http://schemas.openxmlformats.org/drawingml/2006/main">
            <a:off x="576000" y="1656000"/>
            <a:ext cx="5374800" cy="1800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42" name="!!#s3-n0"/>
          <p:cNvSpPr txBox="1"/>
          <p:nvPr/>
        </p:nvSpPr>
        <p:spPr>
          <a:xfrm xmlns:a="http://schemas.openxmlformats.org/drawingml/2006/main">
            <a:off x="792000" y="1764000"/>
            <a:ext cx="10800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200" b="0">
                <a:solidFill>
                  <a:srgbClr val="00FF88"/>
                </a:solidFill>
                <a:latin typeface="Arial Black"/>
                <a:ea typeface="Arial Black"/>
              </a:rPr>
              <a:t>01</a:t>
            </a:r>
          </a:p>
        </p:txBody>
      </p:sp>
      <p:sp>
        <p:nvSpPr>
          <p:cNvPr id="100043" name="!!#s3-t0"/>
          <p:cNvSpPr txBox="1"/>
          <p:nvPr/>
        </p:nvSpPr>
        <p:spPr>
          <a:xfrm xmlns:a="http://schemas.openxmlformats.org/drawingml/2006/main">
            <a:off x="792000" y="2412000"/>
            <a:ext cx="4942800" cy="111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2000" b="0">
                <a:solidFill>
                  <a:srgbClr val="FFFFFF"/>
                </a:solidFill>
                <a:latin typeface="Segoe UI"/>
                <a:ea typeface="Segoe UI"/>
              </a:rPr>
              <a:t>Show each ToC machine — DFA, PDA, Turing-complete VM — running on real input.</a:t>
            </a:r>
          </a:p>
        </p:txBody>
      </p:sp>
      <p:sp>
        <p:nvSpPr>
          <p:cNvPr id="100044" name="!!#s3-o1"/>
          <p:cNvSpPr/>
          <p:nvPr/>
        </p:nvSpPr>
        <p:spPr>
          <a:xfrm xmlns:a="http://schemas.openxmlformats.org/drawingml/2006/main">
            <a:off x="6242400" y="1656000"/>
            <a:ext cx="5374800" cy="1800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45" name="!!#s3-n1"/>
          <p:cNvSpPr txBox="1"/>
          <p:nvPr/>
        </p:nvSpPr>
        <p:spPr>
          <a:xfrm xmlns:a="http://schemas.openxmlformats.org/drawingml/2006/main">
            <a:off x="6458400" y="1764000"/>
            <a:ext cx="10800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200" b="0">
                <a:solidFill>
                  <a:srgbClr val="00FF88"/>
                </a:solidFill>
                <a:latin typeface="Arial Black"/>
                <a:ea typeface="Arial Black"/>
              </a:rPr>
              <a:t>02</a:t>
            </a:r>
          </a:p>
        </p:txBody>
      </p:sp>
      <p:sp>
        <p:nvSpPr>
          <p:cNvPr id="100046" name="!!#s3-t1"/>
          <p:cNvSpPr txBox="1"/>
          <p:nvPr/>
        </p:nvSpPr>
        <p:spPr>
          <a:xfrm xmlns:a="http://schemas.openxmlformats.org/drawingml/2006/main">
            <a:off x="6458400" y="2412000"/>
            <a:ext cx="4942800" cy="111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2000" b="0">
                <a:solidFill>
                  <a:srgbClr val="FFFFFF"/>
                </a:solidFill>
                <a:latin typeface="Segoe UI"/>
                <a:ea typeface="Segoe UI"/>
              </a:rPr>
              <a:t>Build a complete 7-phase compiler that mirrors CPython's pipeline.</a:t>
            </a:r>
          </a:p>
        </p:txBody>
      </p:sp>
      <p:sp>
        <p:nvSpPr>
          <p:cNvPr id="100047" name="!!#s3-o2"/>
          <p:cNvSpPr/>
          <p:nvPr/>
        </p:nvSpPr>
        <p:spPr>
          <a:xfrm xmlns:a="http://schemas.openxmlformats.org/drawingml/2006/main">
            <a:off x="576000" y="3672000"/>
            <a:ext cx="5374800" cy="1800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48" name="!!#s3-n2"/>
          <p:cNvSpPr txBox="1"/>
          <p:nvPr/>
        </p:nvSpPr>
        <p:spPr>
          <a:xfrm xmlns:a="http://schemas.openxmlformats.org/drawingml/2006/main">
            <a:off x="792000" y="3780000"/>
            <a:ext cx="10800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200" b="0">
                <a:solidFill>
                  <a:srgbClr val="00FF88"/>
                </a:solidFill>
                <a:latin typeface="Arial Black"/>
                <a:ea typeface="Arial Black"/>
              </a:rPr>
              <a:t>03</a:t>
            </a:r>
          </a:p>
        </p:txBody>
      </p:sp>
      <p:sp>
        <p:nvSpPr>
          <p:cNvPr id="100049" name="!!#s3-t2"/>
          <p:cNvSpPr txBox="1"/>
          <p:nvPr/>
        </p:nvSpPr>
        <p:spPr>
          <a:xfrm xmlns:a="http://schemas.openxmlformats.org/drawingml/2006/main">
            <a:off x="792000" y="4428000"/>
            <a:ext cx="4942800" cy="111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2000" b="0">
                <a:solidFill>
                  <a:srgbClr val="FFFFFF"/>
                </a:solidFill>
                <a:latin typeface="Segoe UI"/>
                <a:ea typeface="Segoe UI"/>
              </a:rPr>
              <a:t>Make every step explain itself: What · Why · Formal rule · Next.</a:t>
            </a:r>
          </a:p>
        </p:txBody>
      </p:sp>
      <p:sp>
        <p:nvSpPr>
          <p:cNvPr id="100050" name="!!#s3-o3"/>
          <p:cNvSpPr/>
          <p:nvPr/>
        </p:nvSpPr>
        <p:spPr>
          <a:xfrm xmlns:a="http://schemas.openxmlformats.org/drawingml/2006/main">
            <a:off x="6242400" y="3672000"/>
            <a:ext cx="5374800" cy="1800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51" name="!!#s3-n3"/>
          <p:cNvSpPr txBox="1"/>
          <p:nvPr/>
        </p:nvSpPr>
        <p:spPr>
          <a:xfrm xmlns:a="http://schemas.openxmlformats.org/drawingml/2006/main">
            <a:off x="6458400" y="3780000"/>
            <a:ext cx="10800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200" b="0">
                <a:solidFill>
                  <a:srgbClr val="00FF88"/>
                </a:solidFill>
                <a:latin typeface="Arial Black"/>
                <a:ea typeface="Arial Black"/>
              </a:rPr>
              <a:t>04</a:t>
            </a:r>
          </a:p>
        </p:txBody>
      </p:sp>
      <p:sp>
        <p:nvSpPr>
          <p:cNvPr id="100052" name="!!#s3-t3"/>
          <p:cNvSpPr txBox="1"/>
          <p:nvPr/>
        </p:nvSpPr>
        <p:spPr>
          <a:xfrm xmlns:a="http://schemas.openxmlformats.org/drawingml/2006/main">
            <a:off x="6458400" y="4428000"/>
            <a:ext cx="4942800" cy="111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2000" b="0">
                <a:solidFill>
                  <a:srgbClr val="FFFFFF"/>
                </a:solidFill>
                <a:latin typeface="Segoe UI"/>
                <a:ea typeface="Segoe UI"/>
              </a:rPr>
              <a:t>Demonstrate the limits live: non-CFLs, Rice's theorem, the halting problem.</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4.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053"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54"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55" name="!!scene-ring"/>
          <p:cNvSpPr/>
          <p:nvPr/>
        </p:nvSpPr>
        <p:spPr>
          <a:xfrm xmlns:a="http://schemas.openxmlformats.org/drawingml/2006/main">
            <a:off x="10134000" y="4590000"/>
            <a:ext cx="3927600" cy="3927600"/>
          </a:xfrm>
          <a:prstGeom xmlns:a="http://schemas.openxmlformats.org/drawingml/2006/main" prst="blockArc">
            <a:avLst>
              <a:gd name="adj1" fmla="val 9300000"/>
              <a:gd name="adj2" fmla="val 7500000"/>
              <a:gd name="adj3" fmla="val 12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056" name="!!scene-p1"/>
          <p:cNvSpPr/>
          <p:nvPr/>
        </p:nvSpPr>
        <p:spPr>
          <a:xfrm xmlns:a="http://schemas.openxmlformats.org/drawingml/2006/main">
            <a:off x="576000" y="1494000"/>
            <a:ext cx="504000" cy="50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1</a:t>
            </a:r>
          </a:p>
        </p:txBody>
      </p:sp>
      <p:sp>
        <p:nvSpPr>
          <p:cNvPr id="100057" name="!!scene-p2"/>
          <p:cNvSpPr/>
          <p:nvPr/>
        </p:nvSpPr>
        <p:spPr>
          <a:xfrm xmlns:a="http://schemas.openxmlformats.org/drawingml/2006/main">
            <a:off x="576000" y="2232000"/>
            <a:ext cx="504000" cy="504000"/>
          </a:xfrm>
          <a:prstGeom xmlns:a="http://schemas.openxmlformats.org/drawingml/2006/main" prst="ellipse">
            <a:avLst/>
          </a:prstGeom>
          <a:solidFill xmlns:a="http://schemas.openxmlformats.org/drawingml/2006/main">
            <a:srgbClr val="5EEAD4"/>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2</a:t>
            </a:r>
          </a:p>
        </p:txBody>
      </p:sp>
      <p:sp>
        <p:nvSpPr>
          <p:cNvPr id="100058" name="!!scene-p3"/>
          <p:cNvSpPr/>
          <p:nvPr/>
        </p:nvSpPr>
        <p:spPr>
          <a:xfrm xmlns:a="http://schemas.openxmlformats.org/drawingml/2006/main">
            <a:off x="576000" y="3060000"/>
            <a:ext cx="504000" cy="504000"/>
          </a:xfrm>
          <a:prstGeom xmlns:a="http://schemas.openxmlformats.org/drawingml/2006/main" prst="ellipse">
            <a:avLst/>
          </a:prstGeom>
          <a:solidFill xmlns:a="http://schemas.openxmlformats.org/drawingml/2006/main">
            <a:srgbClr val="0B8F45"/>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3</a:t>
            </a:r>
          </a:p>
        </p:txBody>
      </p:sp>
      <p:sp>
        <p:nvSpPr>
          <p:cNvPr id="100059" name="!!scene-p4"/>
          <p:cNvSpPr/>
          <p:nvPr/>
        </p:nvSpPr>
        <p:spPr>
          <a:xfrm xmlns:a="http://schemas.openxmlformats.org/drawingml/2006/main">
            <a:off x="576000" y="3672000"/>
            <a:ext cx="504000" cy="504000"/>
          </a:xfrm>
          <a:prstGeom xmlns:a="http://schemas.openxmlformats.org/drawingml/2006/main" prst="ellipse">
            <a:avLst/>
          </a:prstGeom>
          <a:solidFill xmlns:a="http://schemas.openxmlformats.org/drawingml/2006/main">
            <a:srgbClr val="0B8F45"/>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4</a:t>
            </a:r>
          </a:p>
        </p:txBody>
      </p:sp>
      <p:sp>
        <p:nvSpPr>
          <p:cNvPr id="100060" name="!!scene-p5"/>
          <p:cNvSpPr/>
          <p:nvPr/>
        </p:nvSpPr>
        <p:spPr>
          <a:xfrm xmlns:a="http://schemas.openxmlformats.org/drawingml/2006/main">
            <a:off x="576000" y="4284000"/>
            <a:ext cx="504000" cy="504000"/>
          </a:xfrm>
          <a:prstGeom xmlns:a="http://schemas.openxmlformats.org/drawingml/2006/main" prst="ellipse">
            <a:avLst/>
          </a:prstGeom>
          <a:solidFill xmlns:a="http://schemas.openxmlformats.org/drawingml/2006/main">
            <a:srgbClr val="0B8F45"/>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5</a:t>
            </a:r>
          </a:p>
        </p:txBody>
      </p:sp>
      <p:sp>
        <p:nvSpPr>
          <p:cNvPr id="100061" name="!!scene-p6"/>
          <p:cNvSpPr/>
          <p:nvPr/>
        </p:nvSpPr>
        <p:spPr>
          <a:xfrm xmlns:a="http://schemas.openxmlformats.org/drawingml/2006/main">
            <a:off x="576000" y="4896000"/>
            <a:ext cx="504000" cy="504000"/>
          </a:xfrm>
          <a:prstGeom xmlns:a="http://schemas.openxmlformats.org/drawingml/2006/main" prst="ellipse">
            <a:avLst/>
          </a:prstGeom>
          <a:solidFill xmlns:a="http://schemas.openxmlformats.org/drawingml/2006/main">
            <a:srgbClr val="0B8F45"/>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6</a:t>
            </a:r>
          </a:p>
        </p:txBody>
      </p:sp>
      <p:sp>
        <p:nvSpPr>
          <p:cNvPr id="100062" name="!!scene-p7"/>
          <p:cNvSpPr/>
          <p:nvPr/>
        </p:nvSpPr>
        <p:spPr>
          <a:xfrm xmlns:a="http://schemas.openxmlformats.org/drawingml/2006/main">
            <a:off x="576000" y="5580000"/>
            <a:ext cx="504000" cy="504000"/>
          </a:xfrm>
          <a:prstGeom xmlns:a="http://schemas.openxmlformats.org/drawingml/2006/main" prst="ellipse">
            <a:avLst/>
          </a:prstGeom>
          <a:solidFill xmlns:a="http://schemas.openxmlformats.org/drawingml/2006/main">
            <a:srgbClr val="FBBF24"/>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00140A"/>
                </a:solidFill>
                <a:latin typeface="Arial Black"/>
                <a:ea typeface="Arial Black"/>
              </a:rPr>
              <a:t>7</a:t>
            </a:r>
          </a:p>
        </p:txBody>
      </p:sp>
      <p:sp>
        <p:nvSpPr>
          <p:cNvPr id="100063" name="!!#s4-kicker"/>
          <p:cNvSpPr txBox="1"/>
          <p:nvPr/>
        </p:nvSpPr>
        <p:spPr>
          <a:xfrm xmlns:a="http://schemas.openxmlformats.org/drawingml/2006/main">
            <a:off x="1512000" y="216000"/>
            <a:ext cx="1008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03 · THEORETICAL BACKGROUND</a:t>
            </a:r>
          </a:p>
        </p:txBody>
      </p:sp>
      <p:sp>
        <p:nvSpPr>
          <p:cNvPr id="100064" name="!!#s4-title"/>
          <p:cNvSpPr txBox="1"/>
          <p:nvPr/>
        </p:nvSpPr>
        <p:spPr>
          <a:xfrm xmlns:a="http://schemas.openxmlformats.org/drawingml/2006/main">
            <a:off x="1512000" y="540000"/>
            <a:ext cx="1008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The Chomsky Hierarchy</a:t>
            </a:r>
          </a:p>
        </p:txBody>
      </p:sp>
      <p:sp>
        <p:nvSpPr>
          <p:cNvPr id="100065" name="!!#s4-b1"/>
          <p:cNvSpPr/>
          <p:nvPr/>
        </p:nvSpPr>
        <p:spPr>
          <a:xfrm xmlns:a="http://schemas.openxmlformats.org/drawingml/2006/main">
            <a:off x="1512000" y="1404000"/>
            <a:ext cx="10080000" cy="684000"/>
          </a:xfrm>
          <a:prstGeom xmlns:a="http://schemas.openxmlformats.org/drawingml/2006/main" prst="roundRect">
            <a:avLst/>
          </a:prstGeom>
          <a:solidFill xmlns:a="http://schemas.openxmlformats.org/drawingml/2006/main">
            <a:srgbClr val="00FF88">
              <a:alpha val="30000"/>
            </a:srgbClr>
          </a:solidFill>
          <a:ln xmlns:a="http://schemas.openxmlformats.org/drawingml/2006/main" w="19050">
            <a:solidFill>
              <a:srgbClr val="00FF88"/>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REGULAR · DFA — Lexing        (Q, Σ, δ, q₀, F) · cannot count nested brackets</a:t>
            </a:r>
          </a:p>
        </p:txBody>
      </p:sp>
      <p:sp>
        <p:nvSpPr>
          <p:cNvPr id="100066" name="!!#s4-b2"/>
          <p:cNvSpPr/>
          <p:nvPr/>
        </p:nvSpPr>
        <p:spPr>
          <a:xfrm xmlns:a="http://schemas.openxmlformats.org/drawingml/2006/main">
            <a:off x="1512000" y="2142000"/>
            <a:ext cx="10080000" cy="684000"/>
          </a:xfrm>
          <a:prstGeom xmlns:a="http://schemas.openxmlformats.org/drawingml/2006/main" prst="roundRect">
            <a:avLst/>
          </a:prstGeom>
          <a:solidFill xmlns:a="http://schemas.openxmlformats.org/drawingml/2006/main">
            <a:srgbClr val="5EEAD4">
              <a:alpha val="30000"/>
            </a:srgbClr>
          </a:solidFill>
          <a:ln xmlns:a="http://schemas.openxmlformats.org/drawingml/2006/main" w="19050">
            <a:solidFill>
              <a:srgbClr val="5EEAD4"/>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CONTEXT-FREE · PDA — Parsing        CFG → PDA · cannot check declarations ({wcw})</a:t>
            </a:r>
          </a:p>
        </p:txBody>
      </p:sp>
      <p:sp>
        <p:nvSpPr>
          <p:cNvPr id="100067" name="!!#s4-b3"/>
          <p:cNvSpPr/>
          <p:nvPr/>
        </p:nvSpPr>
        <p:spPr>
          <a:xfrm xmlns:a="http://schemas.openxmlformats.org/drawingml/2006/main">
            <a:off x="1512000" y="2880000"/>
            <a:ext cx="10080000" cy="2538000"/>
          </a:xfrm>
          <a:prstGeom xmlns:a="http://schemas.openxmlformats.org/drawingml/2006/main" prst="roundRect">
            <a:avLst/>
          </a:prstGeom>
          <a:solidFill xmlns:a="http://schemas.openxmlformats.org/drawingml/2006/main">
            <a:srgbClr val="0B8F45">
              <a:alpha val="30000"/>
            </a:srgbClr>
          </a:solidFill>
          <a:ln xmlns:a="http://schemas.openxmlformats.org/drawingml/2006/main" w="19050">
            <a:solidFill>
              <a:srgbClr val="0B8F45"/>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DECIDABLE · algorithms — Semantic · IR · Optimize · Bytecode</a:t>
            </a:r>
          </a:p>
          <a:p xmlns:a="http://schemas.openxmlformats.org/drawingml/2006/main">
            <a:pPr algn="l"/>
            <a:r>
              <a:rPr lang="en-US" sz="1800" b="1">
                <a:solidFill>
                  <a:srgbClr val="FFFFFF"/>
                </a:solidFill>
                <a:latin typeface="Segoe UI"/>
                <a:ea typeface="Segoe UI"/>
              </a:rPr>
              <a:t>Rice's theorem: non-trivial program properties are undecidable → decidable approximations</a:t>
            </a:r>
          </a:p>
        </p:txBody>
      </p:sp>
      <p:sp>
        <p:nvSpPr>
          <p:cNvPr id="100068" name="!!#s4-b4"/>
          <p:cNvSpPr/>
          <p:nvPr/>
        </p:nvSpPr>
        <p:spPr>
          <a:xfrm xmlns:a="http://schemas.openxmlformats.org/drawingml/2006/main">
            <a:off x="1512000" y="5490000"/>
            <a:ext cx="10080000" cy="684000"/>
          </a:xfrm>
          <a:prstGeom xmlns:a="http://schemas.openxmlformats.org/drawingml/2006/main" prst="roundRect">
            <a:avLst/>
          </a:prstGeom>
          <a:solidFill xmlns:a="http://schemas.openxmlformats.org/drawingml/2006/main">
            <a:srgbClr val="FBBF24">
              <a:alpha val="30000"/>
            </a:srgbClr>
          </a:solidFill>
          <a:ln xmlns:a="http://schemas.openxmlformats.org/drawingml/2006/main" w="19050">
            <a:solidFill>
              <a:srgbClr val="FBBF24"/>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RECURSIVELY ENUMERABLE · TM — VM        halting is undecidable → step budget</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5.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069" name="!!scene-orb1"/>
          <p:cNvSpPr/>
          <p:nvPr/>
        </p:nvSpPr>
        <p:spPr>
          <a:xfrm xmlns:a="http://schemas.openxmlformats.org/drawingml/2006/main">
            <a:off x="7920000" y="-14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70" name="!!scene-orb2"/>
          <p:cNvSpPr/>
          <p:nvPr/>
        </p:nvSpPr>
        <p:spPr>
          <a:xfrm xmlns:a="http://schemas.openxmlformats.org/drawingml/2006/main">
            <a:off x="-1080000" y="360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71" name="!!scene-ring"/>
          <p:cNvSpPr/>
          <p:nvPr/>
        </p:nvSpPr>
        <p:spPr>
          <a:xfrm xmlns:a="http://schemas.openxmlformats.org/drawingml/2006/main">
            <a:off x="10260000" y="252000"/>
            <a:ext cx="1800000" cy="1800000"/>
          </a:xfrm>
          <a:prstGeom xmlns:a="http://schemas.openxmlformats.org/drawingml/2006/main" prst="blockArc">
            <a:avLst>
              <a:gd name="adj1" fmla="val 5700000"/>
              <a:gd name="adj2" fmla="val 3900000"/>
              <a:gd name="adj3" fmla="val 12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072" name="!!#s5-kicker"/>
          <p:cNvSpPr txBox="1"/>
          <p:nvPr/>
        </p:nvSpPr>
        <p:spPr>
          <a:xfrm xmlns:a="http://schemas.openxmlformats.org/drawingml/2006/main">
            <a:off x="576000" y="216000"/>
            <a:ext cx="1008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04 · TOC IN THIS PROJECT</a:t>
            </a:r>
          </a:p>
        </p:txBody>
      </p:sp>
      <p:sp>
        <p:nvSpPr>
          <p:cNvPr id="100073" name="!!#s5-title"/>
          <p:cNvSpPr txBox="1"/>
          <p:nvPr/>
        </p:nvSpPr>
        <p:spPr>
          <a:xfrm xmlns:a="http://schemas.openxmlformats.org/drawingml/2006/main">
            <a:off x="576000" y="540000"/>
            <a:ext cx="1008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Where the Theory Lives</a:t>
            </a:r>
          </a:p>
        </p:txBody>
      </p:sp>
      <p:sp>
        <p:nvSpPr>
          <p:cNvPr id="100074" name="!!scene-p1"/>
          <p:cNvSpPr/>
          <p:nvPr/>
        </p:nvSpPr>
        <p:spPr>
          <a:xfrm xmlns:a="http://schemas.openxmlformats.org/drawingml/2006/main">
            <a:off x="612000" y="1584000"/>
            <a:ext cx="432000" cy="432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00140A"/>
                </a:solidFill>
                <a:latin typeface="Arial Black"/>
                <a:ea typeface="Arial Black"/>
              </a:rPr>
              <a:t>1</a:t>
            </a:r>
          </a:p>
        </p:txBody>
      </p:sp>
      <p:sp>
        <p:nvSpPr>
          <p:cNvPr id="100075" name="!!#s5-n1"/>
          <p:cNvSpPr txBox="1"/>
          <p:nvPr/>
        </p:nvSpPr>
        <p:spPr>
          <a:xfrm xmlns:a="http://schemas.openxmlformats.org/drawingml/2006/main">
            <a:off x="1224000" y="158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Lexing</a:t>
            </a:r>
          </a:p>
        </p:txBody>
      </p:sp>
      <p:sp>
        <p:nvSpPr>
          <p:cNvPr id="100076" name="!!#s5-c1"/>
          <p:cNvSpPr txBox="1"/>
          <p:nvPr/>
        </p:nvSpPr>
        <p:spPr>
          <a:xfrm xmlns:a="http://schemas.openxmlformats.org/drawingml/2006/main">
            <a:off x="3096000" y="158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DFA · regular languages</a:t>
            </a:r>
          </a:p>
        </p:txBody>
      </p:sp>
      <p:sp>
        <p:nvSpPr>
          <p:cNvPr id="100077" name="!!#s5-w1"/>
          <p:cNvSpPr/>
          <p:nvPr/>
        </p:nvSpPr>
        <p:spPr>
          <a:xfrm xmlns:a="http://schemas.openxmlformats.org/drawingml/2006/main">
            <a:off x="7272000" y="1656000"/>
            <a:ext cx="2880000" cy="288000"/>
          </a:xfrm>
          <a:prstGeom xmlns:a="http://schemas.openxmlformats.org/drawingml/2006/main" prst="roundRect">
            <a:avLst/>
          </a:prstGeom>
          <a:solidFill xmlns:a="http://schemas.openxmlformats.org/drawingml/2006/main">
            <a:srgbClr val="00FF8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00140A"/>
              </a:solidFill>
              <a:latin typeface="Segoe UI"/>
              <a:ea typeface="Segoe UI"/>
            </a:endParaRPr>
          </a:p>
        </p:txBody>
      </p:sp>
      <p:sp>
        <p:nvSpPr>
          <p:cNvPr id="100078" name="!!#s5-k1"/>
          <p:cNvSpPr txBox="1"/>
          <p:nvPr/>
        </p:nvSpPr>
        <p:spPr>
          <a:xfrm xmlns:a="http://schemas.openxmlformats.org/drawingml/2006/main">
            <a:off x="10224000" y="158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00FF88"/>
                </a:solidFill>
                <a:latin typeface="Segoe UI"/>
                <a:ea typeface="Segoe UI"/>
              </a:rPr>
              <a:t>automaton</a:t>
            </a:r>
          </a:p>
        </p:txBody>
      </p:sp>
      <p:sp>
        <p:nvSpPr>
          <p:cNvPr id="100079" name="!!scene-p2"/>
          <p:cNvSpPr/>
          <p:nvPr/>
        </p:nvSpPr>
        <p:spPr>
          <a:xfrm xmlns:a="http://schemas.openxmlformats.org/drawingml/2006/main">
            <a:off x="612000" y="2214000"/>
            <a:ext cx="432000" cy="432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00140A"/>
                </a:solidFill>
                <a:latin typeface="Arial Black"/>
                <a:ea typeface="Arial Black"/>
              </a:rPr>
              <a:t>2</a:t>
            </a:r>
          </a:p>
        </p:txBody>
      </p:sp>
      <p:sp>
        <p:nvSpPr>
          <p:cNvPr id="100080" name="!!#s5-n2"/>
          <p:cNvSpPr txBox="1"/>
          <p:nvPr/>
        </p:nvSpPr>
        <p:spPr>
          <a:xfrm xmlns:a="http://schemas.openxmlformats.org/drawingml/2006/main">
            <a:off x="1224000" y="221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Parsing</a:t>
            </a:r>
          </a:p>
        </p:txBody>
      </p:sp>
      <p:sp>
        <p:nvSpPr>
          <p:cNvPr id="100081" name="!!#s5-c2"/>
          <p:cNvSpPr txBox="1"/>
          <p:nvPr/>
        </p:nvSpPr>
        <p:spPr>
          <a:xfrm xmlns:a="http://schemas.openxmlformats.org/drawingml/2006/main">
            <a:off x="3096000" y="221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CFG · PDA · LL(1)</a:t>
            </a:r>
          </a:p>
        </p:txBody>
      </p:sp>
      <p:sp>
        <p:nvSpPr>
          <p:cNvPr id="100082" name="!!#s5-w2"/>
          <p:cNvSpPr/>
          <p:nvPr/>
        </p:nvSpPr>
        <p:spPr>
          <a:xfrm xmlns:a="http://schemas.openxmlformats.org/drawingml/2006/main">
            <a:off x="7272000" y="2286000"/>
            <a:ext cx="2880000" cy="288000"/>
          </a:xfrm>
          <a:prstGeom xmlns:a="http://schemas.openxmlformats.org/drawingml/2006/main" prst="roundRect">
            <a:avLst/>
          </a:prstGeom>
          <a:solidFill xmlns:a="http://schemas.openxmlformats.org/drawingml/2006/main">
            <a:srgbClr val="00FF8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00140A"/>
              </a:solidFill>
              <a:latin typeface="Segoe UI"/>
              <a:ea typeface="Segoe UI"/>
            </a:endParaRPr>
          </a:p>
        </p:txBody>
      </p:sp>
      <p:sp>
        <p:nvSpPr>
          <p:cNvPr id="100083" name="!!#s5-k2"/>
          <p:cNvSpPr txBox="1"/>
          <p:nvPr/>
        </p:nvSpPr>
        <p:spPr>
          <a:xfrm xmlns:a="http://schemas.openxmlformats.org/drawingml/2006/main">
            <a:off x="10224000" y="221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00FF88"/>
                </a:solidFill>
                <a:latin typeface="Segoe UI"/>
                <a:ea typeface="Segoe UI"/>
              </a:rPr>
              <a:t>automaton</a:t>
            </a:r>
          </a:p>
        </p:txBody>
      </p:sp>
      <p:sp>
        <p:nvSpPr>
          <p:cNvPr id="100084" name="!!scene-p3"/>
          <p:cNvSpPr/>
          <p:nvPr/>
        </p:nvSpPr>
        <p:spPr>
          <a:xfrm xmlns:a="http://schemas.openxmlformats.org/drawingml/2006/main">
            <a:off x="612000" y="2844000"/>
            <a:ext cx="432000" cy="432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00140A"/>
                </a:solidFill>
                <a:latin typeface="Arial Black"/>
                <a:ea typeface="Arial Black"/>
              </a:rPr>
              <a:t>3</a:t>
            </a:r>
          </a:p>
        </p:txBody>
      </p:sp>
      <p:sp>
        <p:nvSpPr>
          <p:cNvPr id="100085" name="!!#s5-n3"/>
          <p:cNvSpPr txBox="1"/>
          <p:nvPr/>
        </p:nvSpPr>
        <p:spPr>
          <a:xfrm xmlns:a="http://schemas.openxmlformats.org/drawingml/2006/main">
            <a:off x="1224000" y="284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Semantic</a:t>
            </a:r>
          </a:p>
        </p:txBody>
      </p:sp>
      <p:sp>
        <p:nvSpPr>
          <p:cNvPr id="100086" name="!!#s5-c3"/>
          <p:cNvSpPr txBox="1"/>
          <p:nvPr/>
        </p:nvSpPr>
        <p:spPr>
          <a:xfrm xmlns:a="http://schemas.openxmlformats.org/drawingml/2006/main">
            <a:off x="3096000" y="284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non-CFL {wcw} · Rice</a:t>
            </a:r>
          </a:p>
        </p:txBody>
      </p:sp>
      <p:sp>
        <p:nvSpPr>
          <p:cNvPr id="100087" name="!!#s5-w3"/>
          <p:cNvSpPr/>
          <p:nvPr/>
        </p:nvSpPr>
        <p:spPr>
          <a:xfrm xmlns:a="http://schemas.openxmlformats.org/drawingml/2006/main">
            <a:off x="7272000" y="2916000"/>
            <a:ext cx="1728000" cy="288000"/>
          </a:xfrm>
          <a:prstGeom xmlns:a="http://schemas.openxmlformats.org/drawingml/2006/main" prst="roundRect">
            <a:avLst/>
          </a:prstGeom>
          <a:solidFill xmlns:a="http://schemas.openxmlformats.org/drawingml/2006/main">
            <a:srgbClr val="0B8F45"/>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88" name="!!#s5-k3"/>
          <p:cNvSpPr txBox="1"/>
          <p:nvPr/>
        </p:nvSpPr>
        <p:spPr>
          <a:xfrm xmlns:a="http://schemas.openxmlformats.org/drawingml/2006/main">
            <a:off x="9072000" y="284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a limit</a:t>
            </a:r>
          </a:p>
        </p:txBody>
      </p:sp>
      <p:sp>
        <p:nvSpPr>
          <p:cNvPr id="100089" name="!!scene-p4"/>
          <p:cNvSpPr/>
          <p:nvPr/>
        </p:nvSpPr>
        <p:spPr>
          <a:xfrm xmlns:a="http://schemas.openxmlformats.org/drawingml/2006/main">
            <a:off x="612000" y="3474000"/>
            <a:ext cx="432000" cy="432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FFFFFF"/>
                </a:solidFill>
                <a:latin typeface="Arial Black"/>
                <a:ea typeface="Arial Black"/>
              </a:rPr>
              <a:t>4</a:t>
            </a:r>
          </a:p>
        </p:txBody>
      </p:sp>
      <p:sp>
        <p:nvSpPr>
          <p:cNvPr id="100090" name="!!#s5-n4"/>
          <p:cNvSpPr txBox="1"/>
          <p:nvPr/>
        </p:nvSpPr>
        <p:spPr>
          <a:xfrm xmlns:a="http://schemas.openxmlformats.org/drawingml/2006/main">
            <a:off x="1224000" y="347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IR</a:t>
            </a:r>
          </a:p>
        </p:txBody>
      </p:sp>
      <p:sp>
        <p:nvSpPr>
          <p:cNvPr id="100091" name="!!#s5-c4"/>
          <p:cNvSpPr txBox="1"/>
          <p:nvPr/>
        </p:nvSpPr>
        <p:spPr>
          <a:xfrm xmlns:a="http://schemas.openxmlformats.org/drawingml/2006/main">
            <a:off x="3096000" y="347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syntax-directed translation</a:t>
            </a:r>
          </a:p>
        </p:txBody>
      </p:sp>
      <p:sp>
        <p:nvSpPr>
          <p:cNvPr id="100092" name="!!#s5-w4"/>
          <p:cNvSpPr/>
          <p:nvPr/>
        </p:nvSpPr>
        <p:spPr>
          <a:xfrm xmlns:a="http://schemas.openxmlformats.org/drawingml/2006/main">
            <a:off x="7272000" y="3546000"/>
            <a:ext cx="576000" cy="288000"/>
          </a:xfrm>
          <a:prstGeom xmlns:a="http://schemas.openxmlformats.org/drawingml/2006/main" prst="roundRect">
            <a:avLst/>
          </a:prstGeom>
          <a:solidFill xmlns:a="http://schemas.openxmlformats.org/drawingml/2006/main">
            <a:srgbClr val="1F3D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93" name="!!#s5-k4"/>
          <p:cNvSpPr txBox="1"/>
          <p:nvPr/>
        </p:nvSpPr>
        <p:spPr>
          <a:xfrm xmlns:a="http://schemas.openxmlformats.org/drawingml/2006/main">
            <a:off x="7920000" y="347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translation</a:t>
            </a:r>
          </a:p>
        </p:txBody>
      </p:sp>
      <p:sp>
        <p:nvSpPr>
          <p:cNvPr id="100094" name="!!scene-p5"/>
          <p:cNvSpPr/>
          <p:nvPr/>
        </p:nvSpPr>
        <p:spPr>
          <a:xfrm xmlns:a="http://schemas.openxmlformats.org/drawingml/2006/main">
            <a:off x="612000" y="4104000"/>
            <a:ext cx="432000" cy="432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00140A"/>
                </a:solidFill>
                <a:latin typeface="Arial Black"/>
                <a:ea typeface="Arial Black"/>
              </a:rPr>
              <a:t>5</a:t>
            </a:r>
          </a:p>
        </p:txBody>
      </p:sp>
      <p:sp>
        <p:nvSpPr>
          <p:cNvPr id="100095" name="!!#s5-n5"/>
          <p:cNvSpPr txBox="1"/>
          <p:nvPr/>
        </p:nvSpPr>
        <p:spPr>
          <a:xfrm xmlns:a="http://schemas.openxmlformats.org/drawingml/2006/main">
            <a:off x="1224000" y="410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Optimize</a:t>
            </a:r>
          </a:p>
        </p:txBody>
      </p:sp>
      <p:sp>
        <p:nvSpPr>
          <p:cNvPr id="100096" name="!!#s5-c5"/>
          <p:cNvSpPr txBox="1"/>
          <p:nvPr/>
        </p:nvSpPr>
        <p:spPr>
          <a:xfrm xmlns:a="http://schemas.openxmlformats.org/drawingml/2006/main">
            <a:off x="3096000" y="410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fixpoints · Rice's theorem</a:t>
            </a:r>
          </a:p>
        </p:txBody>
      </p:sp>
      <p:sp>
        <p:nvSpPr>
          <p:cNvPr id="100097" name="!!#s5-w5"/>
          <p:cNvSpPr/>
          <p:nvPr/>
        </p:nvSpPr>
        <p:spPr>
          <a:xfrm xmlns:a="http://schemas.openxmlformats.org/drawingml/2006/main">
            <a:off x="7272000" y="4176000"/>
            <a:ext cx="1728000" cy="288000"/>
          </a:xfrm>
          <a:prstGeom xmlns:a="http://schemas.openxmlformats.org/drawingml/2006/main" prst="roundRect">
            <a:avLst/>
          </a:prstGeom>
          <a:solidFill xmlns:a="http://schemas.openxmlformats.org/drawingml/2006/main">
            <a:srgbClr val="0B8F45"/>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98" name="!!#s5-k5"/>
          <p:cNvSpPr txBox="1"/>
          <p:nvPr/>
        </p:nvSpPr>
        <p:spPr>
          <a:xfrm xmlns:a="http://schemas.openxmlformats.org/drawingml/2006/main">
            <a:off x="9072000" y="410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a limit</a:t>
            </a:r>
          </a:p>
        </p:txBody>
      </p:sp>
      <p:sp>
        <p:nvSpPr>
          <p:cNvPr id="100099" name="!!scene-p6"/>
          <p:cNvSpPr/>
          <p:nvPr/>
        </p:nvSpPr>
        <p:spPr>
          <a:xfrm xmlns:a="http://schemas.openxmlformats.org/drawingml/2006/main">
            <a:off x="612000" y="4734000"/>
            <a:ext cx="432000" cy="432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FFFFFF"/>
                </a:solidFill>
                <a:latin typeface="Arial Black"/>
                <a:ea typeface="Arial Black"/>
              </a:rPr>
              <a:t>6</a:t>
            </a:r>
          </a:p>
        </p:txBody>
      </p:sp>
      <p:sp>
        <p:nvSpPr>
          <p:cNvPr id="100100" name="!!#s5-n6"/>
          <p:cNvSpPr txBox="1"/>
          <p:nvPr/>
        </p:nvSpPr>
        <p:spPr>
          <a:xfrm xmlns:a="http://schemas.openxmlformats.org/drawingml/2006/main">
            <a:off x="1224000" y="473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Bytecode</a:t>
            </a:r>
          </a:p>
        </p:txBody>
      </p:sp>
      <p:sp>
        <p:nvSpPr>
          <p:cNvPr id="100101" name="!!#s5-c6"/>
          <p:cNvSpPr txBox="1"/>
          <p:nvPr/>
        </p:nvSpPr>
        <p:spPr>
          <a:xfrm xmlns:a="http://schemas.openxmlformats.org/drawingml/2006/main">
            <a:off x="3096000" y="473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computable encoding</a:t>
            </a:r>
          </a:p>
        </p:txBody>
      </p:sp>
      <p:sp>
        <p:nvSpPr>
          <p:cNvPr id="100102" name="!!#s5-w6"/>
          <p:cNvSpPr/>
          <p:nvPr/>
        </p:nvSpPr>
        <p:spPr>
          <a:xfrm xmlns:a="http://schemas.openxmlformats.org/drawingml/2006/main">
            <a:off x="7272000" y="4806000"/>
            <a:ext cx="576000" cy="288000"/>
          </a:xfrm>
          <a:prstGeom xmlns:a="http://schemas.openxmlformats.org/drawingml/2006/main" prst="roundRect">
            <a:avLst/>
          </a:prstGeom>
          <a:solidFill xmlns:a="http://schemas.openxmlformats.org/drawingml/2006/main">
            <a:srgbClr val="1F3D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103" name="!!#s5-k6"/>
          <p:cNvSpPr txBox="1"/>
          <p:nvPr/>
        </p:nvSpPr>
        <p:spPr>
          <a:xfrm xmlns:a="http://schemas.openxmlformats.org/drawingml/2006/main">
            <a:off x="7920000" y="473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translation</a:t>
            </a:r>
          </a:p>
        </p:txBody>
      </p:sp>
      <p:sp>
        <p:nvSpPr>
          <p:cNvPr id="100104" name="!!scene-p7"/>
          <p:cNvSpPr/>
          <p:nvPr/>
        </p:nvSpPr>
        <p:spPr>
          <a:xfrm xmlns:a="http://schemas.openxmlformats.org/drawingml/2006/main">
            <a:off x="612000" y="5364000"/>
            <a:ext cx="432000" cy="432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200">
                <a:solidFill>
                  <a:srgbClr val="00140A"/>
                </a:solidFill>
                <a:latin typeface="Arial Black"/>
                <a:ea typeface="Arial Black"/>
              </a:rPr>
              <a:t>7</a:t>
            </a:r>
          </a:p>
        </p:txBody>
      </p:sp>
      <p:sp>
        <p:nvSpPr>
          <p:cNvPr id="100105" name="!!#s5-n7"/>
          <p:cNvSpPr txBox="1"/>
          <p:nvPr/>
        </p:nvSpPr>
        <p:spPr>
          <a:xfrm xmlns:a="http://schemas.openxmlformats.org/drawingml/2006/main">
            <a:off x="1224000" y="5364000"/>
            <a:ext cx="1872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VM</a:t>
            </a:r>
          </a:p>
        </p:txBody>
      </p:sp>
      <p:sp>
        <p:nvSpPr>
          <p:cNvPr id="100106" name="!!#s5-c7"/>
          <p:cNvSpPr txBox="1"/>
          <p:nvPr/>
        </p:nvSpPr>
        <p:spPr>
          <a:xfrm xmlns:a="http://schemas.openxmlformats.org/drawingml/2006/main">
            <a:off x="3096000" y="5364000"/>
            <a:ext cx="4104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D1FAE5"/>
                </a:solidFill>
                <a:latin typeface="Segoe UI"/>
                <a:ea typeface="Segoe UI"/>
              </a:rPr>
              <a:t>Turing machine · halting</a:t>
            </a:r>
          </a:p>
        </p:txBody>
      </p:sp>
      <p:sp>
        <p:nvSpPr>
          <p:cNvPr id="100107" name="!!#s5-w7"/>
          <p:cNvSpPr/>
          <p:nvPr/>
        </p:nvSpPr>
        <p:spPr>
          <a:xfrm xmlns:a="http://schemas.openxmlformats.org/drawingml/2006/main">
            <a:off x="7272000" y="5436000"/>
            <a:ext cx="1728000" cy="288000"/>
          </a:xfrm>
          <a:prstGeom xmlns:a="http://schemas.openxmlformats.org/drawingml/2006/main" prst="roundRect">
            <a:avLst/>
          </a:prstGeom>
          <a:solidFill xmlns:a="http://schemas.openxmlformats.org/drawingml/2006/main">
            <a:srgbClr val="0B8F45"/>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108" name="!!#s5-k7"/>
          <p:cNvSpPr txBox="1"/>
          <p:nvPr/>
        </p:nvSpPr>
        <p:spPr>
          <a:xfrm xmlns:a="http://schemas.openxmlformats.org/drawingml/2006/main">
            <a:off x="9072000" y="5364000"/>
            <a:ext cx="18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a limit</a:t>
            </a:r>
          </a:p>
        </p:txBody>
      </p:sp>
      <p:sp>
        <p:nvSpPr>
          <p:cNvPr id="100109" name="!!#s5-note"/>
          <p:cNvSpPr/>
          <p:nvPr/>
        </p:nvSpPr>
        <p:spPr>
          <a:xfrm xmlns:a="http://schemas.openxmlformats.org/drawingml/2006/main">
            <a:off x="576000" y="5976000"/>
            <a:ext cx="11016000" cy="720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00FF88"/>
            </a:solid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Phases 1–2 are pure automata theory — the core of the project. Phases 3, 5, 7 meet ToC's limits.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6.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110" name="!!scene-orb1"/>
          <p:cNvSpPr/>
          <p:nvPr/>
        </p:nvSpPr>
        <p:spPr>
          <a:xfrm xmlns:a="http://schemas.openxmlformats.org/drawingml/2006/main">
            <a:off x="3600000" y="32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11" name="!!scene-orb2"/>
          <p:cNvSpPr/>
          <p:nvPr/>
        </p:nvSpPr>
        <p:spPr>
          <a:xfrm xmlns:a="http://schemas.openxmlformats.org/drawingml/2006/main">
            <a:off x="9720000" y="-108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12" name="!!scene-ring"/>
          <p:cNvSpPr/>
          <p:nvPr/>
        </p:nvSpPr>
        <p:spPr>
          <a:xfrm xmlns:a="http://schemas.openxmlformats.org/drawingml/2006/main">
            <a:off x="10278000" y="4986000"/>
            <a:ext cx="2127600" cy="2127600"/>
          </a:xfrm>
          <a:prstGeom xmlns:a="http://schemas.openxmlformats.org/drawingml/2006/main" prst="blockArc">
            <a:avLst>
              <a:gd name="adj1" fmla="val 12900000"/>
              <a:gd name="adj2" fmla="val 11100000"/>
              <a:gd name="adj3" fmla="val 12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113" name="!!#s6-kicker"/>
          <p:cNvSpPr txBox="1"/>
          <p:nvPr/>
        </p:nvSpPr>
        <p:spPr>
          <a:xfrm xmlns:a="http://schemas.openxmlformats.org/drawingml/2006/main">
            <a:off x="576000" y="252000"/>
            <a:ext cx="720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05 · SYSTEM OVERVIEW</a:t>
            </a:r>
          </a:p>
        </p:txBody>
      </p:sp>
      <p:sp>
        <p:nvSpPr>
          <p:cNvPr id="100114" name="!!#s6-title"/>
          <p:cNvSpPr txBox="1"/>
          <p:nvPr/>
        </p:nvSpPr>
        <p:spPr>
          <a:xfrm xmlns:a="http://schemas.openxmlformats.org/drawingml/2006/main">
            <a:off x="576000" y="576000"/>
            <a:ext cx="1080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Seven Phases, One Pipeline</a:t>
            </a:r>
          </a:p>
        </p:txBody>
      </p:sp>
      <p:sp>
        <p:nvSpPr>
          <p:cNvPr id="100115" name="!!scene-p1"/>
          <p:cNvSpPr/>
          <p:nvPr/>
        </p:nvSpPr>
        <p:spPr>
          <a:xfrm xmlns:a="http://schemas.openxmlformats.org/drawingml/2006/main">
            <a:off x="72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1</a:t>
            </a:r>
          </a:p>
        </p:txBody>
      </p:sp>
      <p:sp>
        <p:nvSpPr>
          <p:cNvPr id="100116" name="!!#s6-n1"/>
          <p:cNvSpPr txBox="1"/>
          <p:nvPr/>
        </p:nvSpPr>
        <p:spPr>
          <a:xfrm xmlns:a="http://schemas.openxmlformats.org/drawingml/2006/main">
            <a:off x="43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Lexing</a:t>
            </a:r>
          </a:p>
        </p:txBody>
      </p:sp>
      <p:sp>
        <p:nvSpPr>
          <p:cNvPr id="100117" name="!!#s6-o1"/>
          <p:cNvSpPr txBox="1"/>
          <p:nvPr/>
        </p:nvSpPr>
        <p:spPr>
          <a:xfrm xmlns:a="http://schemas.openxmlformats.org/drawingml/2006/main">
            <a:off x="43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tokens</a:t>
            </a:r>
          </a:p>
        </p:txBody>
      </p:sp>
      <p:sp>
        <p:nvSpPr>
          <p:cNvPr id="100118" name="!!scene-p2"/>
          <p:cNvSpPr/>
          <p:nvPr/>
        </p:nvSpPr>
        <p:spPr>
          <a:xfrm xmlns:a="http://schemas.openxmlformats.org/drawingml/2006/main">
            <a:off x="234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2</a:t>
            </a:r>
          </a:p>
        </p:txBody>
      </p:sp>
      <p:sp>
        <p:nvSpPr>
          <p:cNvPr id="100119" name="!!#s6-n2"/>
          <p:cNvSpPr txBox="1"/>
          <p:nvPr/>
        </p:nvSpPr>
        <p:spPr>
          <a:xfrm xmlns:a="http://schemas.openxmlformats.org/drawingml/2006/main">
            <a:off x="205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Parsing</a:t>
            </a:r>
          </a:p>
        </p:txBody>
      </p:sp>
      <p:sp>
        <p:nvSpPr>
          <p:cNvPr id="100120" name="!!#s6-o2"/>
          <p:cNvSpPr txBox="1"/>
          <p:nvPr/>
        </p:nvSpPr>
        <p:spPr>
          <a:xfrm xmlns:a="http://schemas.openxmlformats.org/drawingml/2006/main">
            <a:off x="205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AST</a:t>
            </a:r>
          </a:p>
        </p:txBody>
      </p:sp>
      <p:cxnSp>
        <p:nvCxnSpPr>
          <p:cNvPr id="100121" name="Connector 1"/>
          <p:cNvCxnSpPr>
            <a:stCxn xmlns:a="http://schemas.openxmlformats.org/drawingml/2006/main" id="100115" idx="0"/>
            <a:endCxn xmlns:a="http://schemas.openxmlformats.org/drawingml/2006/main" id="100118" idx="0"/>
          </p:cNvCxnSpPr>
          <p:nvPr/>
        </p:nvCxnSpPr>
        <p:spPr>
          <a:xfrm xmlns:a="http://schemas.openxmlformats.org/drawingml/2006/main">
            <a:off x="1728000" y="2736000"/>
            <a:ext cx="612000" cy="0"/>
          </a:xfrm>
          <a:prstGeom xmlns:a="http://schemas.openxmlformats.org/drawingml/2006/main" prst="straightConnector1">
            <a:avLst/>
          </a:prstGeom>
          <a:ln xmlns:a="http://schemas.openxmlformats.org/drawingml/2006/main" w="25400">
            <a:solidFill>
              <a:srgbClr val="00FF88"/>
            </a:solidFill>
            <a:tailEnd type="triangle"/>
          </a:ln>
        </p:spPr>
      </p:cxnSp>
      <p:sp>
        <p:nvSpPr>
          <p:cNvPr id="100122" name="!!scene-p3"/>
          <p:cNvSpPr/>
          <p:nvPr/>
        </p:nvSpPr>
        <p:spPr>
          <a:xfrm xmlns:a="http://schemas.openxmlformats.org/drawingml/2006/main">
            <a:off x="396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3</a:t>
            </a:r>
          </a:p>
        </p:txBody>
      </p:sp>
      <p:sp>
        <p:nvSpPr>
          <p:cNvPr id="100123" name="!!#s6-n3"/>
          <p:cNvSpPr txBox="1"/>
          <p:nvPr/>
        </p:nvSpPr>
        <p:spPr>
          <a:xfrm xmlns:a="http://schemas.openxmlformats.org/drawingml/2006/main">
            <a:off x="367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Semantic</a:t>
            </a:r>
          </a:p>
        </p:txBody>
      </p:sp>
      <p:sp>
        <p:nvSpPr>
          <p:cNvPr id="100124" name="!!#s6-o3"/>
          <p:cNvSpPr txBox="1"/>
          <p:nvPr/>
        </p:nvSpPr>
        <p:spPr>
          <a:xfrm xmlns:a="http://schemas.openxmlformats.org/drawingml/2006/main">
            <a:off x="367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typed AST</a:t>
            </a:r>
          </a:p>
        </p:txBody>
      </p:sp>
      <p:cxnSp>
        <p:nvCxnSpPr>
          <p:cNvPr id="100125" name="Connector 2"/>
          <p:cNvCxnSpPr>
            <a:stCxn xmlns:a="http://schemas.openxmlformats.org/drawingml/2006/main" id="100118" idx="0"/>
            <a:endCxn xmlns:a="http://schemas.openxmlformats.org/drawingml/2006/main" id="100122" idx="0"/>
          </p:cNvCxnSpPr>
          <p:nvPr/>
        </p:nvCxnSpPr>
        <p:spPr>
          <a:xfrm xmlns:a="http://schemas.openxmlformats.org/drawingml/2006/main">
            <a:off x="3348000" y="2736000"/>
            <a:ext cx="612000" cy="0"/>
          </a:xfrm>
          <a:prstGeom xmlns:a="http://schemas.openxmlformats.org/drawingml/2006/main" prst="straightConnector1">
            <a:avLst/>
          </a:prstGeom>
          <a:ln xmlns:a="http://schemas.openxmlformats.org/drawingml/2006/main" w="25400">
            <a:solidFill>
              <a:srgbClr val="00FF88"/>
            </a:solidFill>
            <a:tailEnd type="triangle"/>
          </a:ln>
        </p:spPr>
      </p:cxnSp>
      <p:sp>
        <p:nvSpPr>
          <p:cNvPr id="100126" name="!!scene-p4"/>
          <p:cNvSpPr/>
          <p:nvPr/>
        </p:nvSpPr>
        <p:spPr>
          <a:xfrm xmlns:a="http://schemas.openxmlformats.org/drawingml/2006/main">
            <a:off x="558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4</a:t>
            </a:r>
          </a:p>
        </p:txBody>
      </p:sp>
      <p:sp>
        <p:nvSpPr>
          <p:cNvPr id="100127" name="!!#s6-n4"/>
          <p:cNvSpPr txBox="1"/>
          <p:nvPr/>
        </p:nvSpPr>
        <p:spPr>
          <a:xfrm xmlns:a="http://schemas.openxmlformats.org/drawingml/2006/main">
            <a:off x="529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IR</a:t>
            </a:r>
          </a:p>
        </p:txBody>
      </p:sp>
      <p:sp>
        <p:nvSpPr>
          <p:cNvPr id="100128" name="!!#s6-o4"/>
          <p:cNvSpPr txBox="1"/>
          <p:nvPr/>
        </p:nvSpPr>
        <p:spPr>
          <a:xfrm xmlns:a="http://schemas.openxmlformats.org/drawingml/2006/main">
            <a:off x="529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instructions</a:t>
            </a:r>
          </a:p>
        </p:txBody>
      </p:sp>
      <p:cxnSp>
        <p:nvCxnSpPr>
          <p:cNvPr id="100129" name="Connector 3"/>
          <p:cNvCxnSpPr>
            <a:stCxn xmlns:a="http://schemas.openxmlformats.org/drawingml/2006/main" id="100122" idx="0"/>
            <a:endCxn xmlns:a="http://schemas.openxmlformats.org/drawingml/2006/main" id="100126" idx="0"/>
          </p:cNvCxnSpPr>
          <p:nvPr/>
        </p:nvCxnSpPr>
        <p:spPr>
          <a:xfrm xmlns:a="http://schemas.openxmlformats.org/drawingml/2006/main">
            <a:off x="4968000" y="2736000"/>
            <a:ext cx="612000" cy="0"/>
          </a:xfrm>
          <a:prstGeom xmlns:a="http://schemas.openxmlformats.org/drawingml/2006/main" prst="straightConnector1">
            <a:avLst/>
          </a:prstGeom>
          <a:ln xmlns:a="http://schemas.openxmlformats.org/drawingml/2006/main" w="25400">
            <a:solidFill>
              <a:srgbClr val="00FF88"/>
            </a:solidFill>
            <a:tailEnd type="triangle"/>
          </a:ln>
        </p:spPr>
      </p:cxnSp>
      <p:sp>
        <p:nvSpPr>
          <p:cNvPr id="100130" name="!!scene-p5"/>
          <p:cNvSpPr/>
          <p:nvPr/>
        </p:nvSpPr>
        <p:spPr>
          <a:xfrm xmlns:a="http://schemas.openxmlformats.org/drawingml/2006/main">
            <a:off x="720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5</a:t>
            </a:r>
          </a:p>
        </p:txBody>
      </p:sp>
      <p:sp>
        <p:nvSpPr>
          <p:cNvPr id="100131" name="!!#s6-n5"/>
          <p:cNvSpPr txBox="1"/>
          <p:nvPr/>
        </p:nvSpPr>
        <p:spPr>
          <a:xfrm xmlns:a="http://schemas.openxmlformats.org/drawingml/2006/main">
            <a:off x="691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Optimize</a:t>
            </a:r>
          </a:p>
        </p:txBody>
      </p:sp>
      <p:sp>
        <p:nvSpPr>
          <p:cNvPr id="100132" name="!!#s6-o5"/>
          <p:cNvSpPr txBox="1"/>
          <p:nvPr/>
        </p:nvSpPr>
        <p:spPr>
          <a:xfrm xmlns:a="http://schemas.openxmlformats.org/drawingml/2006/main">
            <a:off x="691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CFG · IR</a:t>
            </a:r>
          </a:p>
        </p:txBody>
      </p:sp>
      <p:cxnSp>
        <p:nvCxnSpPr>
          <p:cNvPr id="100133" name="Connector 4"/>
          <p:cNvCxnSpPr>
            <a:stCxn xmlns:a="http://schemas.openxmlformats.org/drawingml/2006/main" id="100126" idx="0"/>
            <a:endCxn xmlns:a="http://schemas.openxmlformats.org/drawingml/2006/main" id="100130" idx="0"/>
          </p:cNvCxnSpPr>
          <p:nvPr/>
        </p:nvCxnSpPr>
        <p:spPr>
          <a:xfrm xmlns:a="http://schemas.openxmlformats.org/drawingml/2006/main">
            <a:off x="6588000" y="2736000"/>
            <a:ext cx="612000" cy="0"/>
          </a:xfrm>
          <a:prstGeom xmlns:a="http://schemas.openxmlformats.org/drawingml/2006/main" prst="straightConnector1">
            <a:avLst/>
          </a:prstGeom>
          <a:ln xmlns:a="http://schemas.openxmlformats.org/drawingml/2006/main" w="25400">
            <a:solidFill>
              <a:srgbClr val="00FF88"/>
            </a:solidFill>
            <a:tailEnd type="triangle"/>
          </a:ln>
        </p:spPr>
      </p:cxnSp>
      <p:sp>
        <p:nvSpPr>
          <p:cNvPr id="100134" name="!!scene-p6"/>
          <p:cNvSpPr/>
          <p:nvPr/>
        </p:nvSpPr>
        <p:spPr>
          <a:xfrm xmlns:a="http://schemas.openxmlformats.org/drawingml/2006/main">
            <a:off x="882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6</a:t>
            </a:r>
          </a:p>
        </p:txBody>
      </p:sp>
      <p:sp>
        <p:nvSpPr>
          <p:cNvPr id="100135" name="!!#s6-n6"/>
          <p:cNvSpPr txBox="1"/>
          <p:nvPr/>
        </p:nvSpPr>
        <p:spPr>
          <a:xfrm xmlns:a="http://schemas.openxmlformats.org/drawingml/2006/main">
            <a:off x="853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Bytecode</a:t>
            </a:r>
          </a:p>
        </p:txBody>
      </p:sp>
      <p:sp>
        <p:nvSpPr>
          <p:cNvPr id="100136" name="!!#s6-o6"/>
          <p:cNvSpPr txBox="1"/>
          <p:nvPr/>
        </p:nvSpPr>
        <p:spPr>
          <a:xfrm xmlns:a="http://schemas.openxmlformats.org/drawingml/2006/main">
            <a:off x="853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bytes</a:t>
            </a:r>
          </a:p>
        </p:txBody>
      </p:sp>
      <p:cxnSp>
        <p:nvCxnSpPr>
          <p:cNvPr id="100137" name="Connector 5"/>
          <p:cNvCxnSpPr>
            <a:stCxn xmlns:a="http://schemas.openxmlformats.org/drawingml/2006/main" id="100130" idx="0"/>
            <a:endCxn xmlns:a="http://schemas.openxmlformats.org/drawingml/2006/main" id="100134" idx="0"/>
          </p:cNvCxnSpPr>
          <p:nvPr/>
        </p:nvCxnSpPr>
        <p:spPr>
          <a:xfrm xmlns:a="http://schemas.openxmlformats.org/drawingml/2006/main">
            <a:off x="8208000" y="2736000"/>
            <a:ext cx="612000" cy="0"/>
          </a:xfrm>
          <a:prstGeom xmlns:a="http://schemas.openxmlformats.org/drawingml/2006/main" prst="straightConnector1">
            <a:avLst/>
          </a:prstGeom>
          <a:ln xmlns:a="http://schemas.openxmlformats.org/drawingml/2006/main" w="25400">
            <a:solidFill>
              <a:srgbClr val="00FF88"/>
            </a:solidFill>
            <a:tailEnd type="triangle"/>
          </a:ln>
        </p:spPr>
      </p:cxnSp>
      <p:sp>
        <p:nvSpPr>
          <p:cNvPr id="100138" name="!!scene-p7"/>
          <p:cNvSpPr/>
          <p:nvPr/>
        </p:nvSpPr>
        <p:spPr>
          <a:xfrm xmlns:a="http://schemas.openxmlformats.org/drawingml/2006/main">
            <a:off x="10440000" y="2232000"/>
            <a:ext cx="1008000" cy="100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400">
                <a:solidFill>
                  <a:srgbClr val="00140A"/>
                </a:solidFill>
                <a:latin typeface="Arial Black"/>
                <a:ea typeface="Arial Black"/>
              </a:rPr>
              <a:t>7</a:t>
            </a:r>
          </a:p>
        </p:txBody>
      </p:sp>
      <p:sp>
        <p:nvSpPr>
          <p:cNvPr id="100139" name="!!#s6-n7"/>
          <p:cNvSpPr txBox="1"/>
          <p:nvPr/>
        </p:nvSpPr>
        <p:spPr>
          <a:xfrm xmlns:a="http://schemas.openxmlformats.org/drawingml/2006/main">
            <a:off x="10152000" y="3348000"/>
            <a:ext cx="158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VM</a:t>
            </a:r>
          </a:p>
        </p:txBody>
      </p:sp>
      <p:sp>
        <p:nvSpPr>
          <p:cNvPr id="100140" name="!!#s6-o7"/>
          <p:cNvSpPr txBox="1"/>
          <p:nvPr/>
        </p:nvSpPr>
        <p:spPr>
          <a:xfrm xmlns:a="http://schemas.openxmlformats.org/drawingml/2006/main">
            <a:off x="10152000" y="3744000"/>
            <a:ext cx="158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5EEAD4"/>
                </a:solidFill>
                <a:latin typeface="Segoe UI"/>
                <a:ea typeface="Segoe UI"/>
              </a:rPr>
              <a:t>output</a:t>
            </a:r>
          </a:p>
        </p:txBody>
      </p:sp>
      <p:cxnSp>
        <p:nvCxnSpPr>
          <p:cNvPr id="100141" name="Connector 6"/>
          <p:cNvCxnSpPr>
            <a:stCxn xmlns:a="http://schemas.openxmlformats.org/drawingml/2006/main" id="100134" idx="0"/>
            <a:endCxn xmlns:a="http://schemas.openxmlformats.org/drawingml/2006/main" id="100138" idx="0"/>
          </p:cNvCxnSpPr>
          <p:nvPr/>
        </p:nvCxnSpPr>
        <p:spPr>
          <a:xfrm xmlns:a="http://schemas.openxmlformats.org/drawingml/2006/main">
            <a:off x="9828000" y="2736000"/>
            <a:ext cx="612000" cy="0"/>
          </a:xfrm>
          <a:prstGeom xmlns:a="http://schemas.openxmlformats.org/drawingml/2006/main" prst="straightConnector1">
            <a:avLst/>
          </a:prstGeom>
          <a:ln xmlns:a="http://schemas.openxmlformats.org/drawingml/2006/main" w="25400">
            <a:solidFill>
              <a:srgbClr val="00FF88"/>
            </a:solidFill>
            <a:tailEnd type="triangle"/>
          </a:ln>
        </p:spPr>
      </p:cxnSp>
      <p:sp>
        <p:nvSpPr>
          <p:cNvPr id="100142" name="!!#s6-src"/>
          <p:cNvSpPr txBox="1"/>
          <p:nvPr/>
        </p:nvSpPr>
        <p:spPr>
          <a:xfrm xmlns:a="http://schemas.openxmlformats.org/drawingml/2006/main">
            <a:off x="576000" y="1584000"/>
            <a:ext cx="288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00FF88"/>
                </a:solidFill>
                <a:latin typeface="Consolas"/>
                <a:ea typeface="Consolas"/>
              </a:rPr>
              <a:t>source.snek</a:t>
            </a:r>
          </a:p>
        </p:txBody>
      </p:sp>
      <p:sp>
        <p:nvSpPr>
          <p:cNvPr id="100143" name="!!#s6-pts"/>
          <p:cNvSpPr txBox="1"/>
          <p:nvPr/>
        </p:nvSpPr>
        <p:spPr>
          <a:xfrm xmlns:a="http://schemas.openxmlformats.org/drawingml/2006/main">
            <a:off x="576000" y="4248000"/>
            <a:ext cx="10080000" cy="21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Each phase reads only the previous phase's output — the same stages CPython uses.</a:t>
            </a:r>
          </a:p>
          <a:p xmlns:a="http://schemas.openxmlformats.org/drawingml/2006/main">
            <a:pPr algn="l">
              <a:spcAft>
                <a:spcPts val="600"/>
              </a:spcAft>
            </a:pPr>
            <a:r>
              <a:rPr lang="en-US" sz="1800" b="0">
                <a:solidFill>
                  <a:srgbClr val="D1FAE5"/>
                </a:solidFill>
                <a:latin typeface="Segoe UI"/>
                <a:ea typeface="Segoe UI"/>
              </a:rPr>
              <a:t>▸  The first failing phase stops the pipeline; its error step names the broken rule.</a:t>
            </a:r>
          </a:p>
          <a:p xmlns:a="http://schemas.openxmlformats.org/drawingml/2006/main">
            <a:pPr algn="l">
              <a:spcAft>
                <a:spcPts val="600"/>
              </a:spcAft>
            </a:pPr>
            <a:r>
              <a:rPr lang="en-US" sz="1800" b="0">
                <a:solidFill>
                  <a:srgbClr val="D1FAE5"/>
                </a:solidFill>
                <a:latin typeface="Segoe UI"/>
                <a:ea typeface="Segoe UI"/>
              </a:rPr>
              <a:t>▸  Every phase returns a replayable trace: the UI is a player for these traces.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7.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144" name="!!scene-orb1"/>
          <p:cNvSpPr/>
          <p:nvPr/>
        </p:nvSpPr>
        <p:spPr>
          <a:xfrm xmlns:a="http://schemas.openxmlformats.org/drawingml/2006/main">
            <a:off x="9360000" y="216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45" name="!!scene-orb2"/>
          <p:cNvSpPr/>
          <p:nvPr/>
        </p:nvSpPr>
        <p:spPr>
          <a:xfrm xmlns:a="http://schemas.openxmlformats.org/drawingml/2006/main">
            <a:off x="1440000" y="432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46" name="!!scene-ring"/>
          <p:cNvSpPr/>
          <p:nvPr/>
        </p:nvSpPr>
        <p:spPr>
          <a:xfrm xmlns:a="http://schemas.openxmlformats.org/drawingml/2006/main">
            <a:off x="183600" y="1371600"/>
            <a:ext cx="3445200" cy="3445200"/>
          </a:xfrm>
          <a:prstGeom xmlns:a="http://schemas.openxmlformats.org/drawingml/2006/main" prst="blockArc">
            <a:avLst>
              <a:gd name="adj1" fmla="val 10200000"/>
              <a:gd name="adj2" fmla="val 84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147" name="!!scene-p1"/>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1</a:t>
            </a:r>
          </a:p>
        </p:txBody>
      </p:sp>
      <p:sp>
        <p:nvSpPr>
          <p:cNvPr id="100148"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149"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150"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151"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152"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153"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154" name="!!#s7-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1 · DFA</a:t>
            </a:r>
          </a:p>
        </p:txBody>
      </p:sp>
      <p:sp>
        <p:nvSpPr>
          <p:cNvPr id="100155" name="!!#s7-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Lexical Analysis</a:t>
            </a:r>
          </a:p>
        </p:txBody>
      </p:sp>
      <p:sp>
        <p:nvSpPr>
          <p:cNvPr id="100156" name="!!#s7-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M = (Q, Σ, δ, q₀, F) is stored as data — the screen draws the real automaton</a:t>
            </a:r>
          </a:p>
          <a:p xmlns:a="http://schemas.openxmlformats.org/drawingml/2006/main">
            <a:pPr algn="l">
              <a:spcAft>
                <a:spcPts val="600"/>
              </a:spcAft>
            </a:pPr>
            <a:r>
              <a:rPr lang="en-US" sz="1800" b="0">
                <a:solidFill>
                  <a:srgbClr val="D1FAE5"/>
                </a:solidFill>
                <a:latin typeface="Segoe UI"/>
                <a:ea typeface="Segoe UI"/>
              </a:rPr>
              <a:t>▸  Σ = character classes (letter, digit, &lt;, =, " …); δ is total: bad input → DEAD trap</a:t>
            </a:r>
          </a:p>
          <a:p xmlns:a="http://schemas.openxmlformats.org/drawingml/2006/main">
            <a:pPr algn="l">
              <a:spcAft>
                <a:spcPts val="600"/>
              </a:spcAft>
            </a:pPr>
            <a:r>
              <a:rPr lang="en-US" sz="1800" b="0">
                <a:solidFill>
                  <a:srgbClr val="D1FAE5"/>
                </a:solidFill>
                <a:latin typeface="Segoe UI"/>
                <a:ea typeface="Segoe UI"/>
              </a:rPr>
              <a:t>▸  No ε-moves: “emit a token and restart” is the scanner's action, not an edge</a:t>
            </a:r>
          </a:p>
        </p:txBody>
      </p:sp>
      <p:sp>
        <p:nvSpPr>
          <p:cNvPr id="100157" name="!!#s7-start"/>
          <p:cNvSpPr/>
          <p:nvPr/>
        </p:nvSpPr>
        <p:spPr>
          <a:xfrm xmlns:a="http://schemas.openxmlformats.org/drawingml/2006/main">
            <a:off x="4104000" y="3924000"/>
            <a:ext cx="1008000" cy="1008000"/>
          </a:xfrm>
          <a:prstGeom xmlns:a="http://schemas.openxmlformats.org/drawingml/2006/main" prst="ellipse">
            <a:avLst/>
          </a:prstGeom>
          <a:solidFill xmlns:a="http://schemas.openxmlformats.org/drawingml/2006/main">
            <a:srgbClr val="03200E"/>
          </a:solidFill>
          <a:ln xmlns:a="http://schemas.openxmlformats.org/drawingml/2006/main" w="25400">
            <a:solidFill>
              <a:srgbClr val="5EEAD4"/>
            </a:solid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q0</a:t>
            </a:r>
          </a:p>
        </p:txBody>
      </p:sp>
      <p:sp>
        <p:nvSpPr>
          <p:cNvPr id="100158" name="!!#s7-idento"/>
          <p:cNvSpPr/>
          <p:nvPr/>
        </p:nvSpPr>
        <p:spPr>
          <a:xfrm xmlns:a="http://schemas.openxmlformats.org/drawingml/2006/main">
            <a:off x="6408000" y="3492000"/>
            <a:ext cx="1008000" cy="1008000"/>
          </a:xfrm>
          <a:prstGeom xmlns:a="http://schemas.openxmlformats.org/drawingml/2006/main" prst="ellipse">
            <a:avLst/>
          </a:prstGeom>
          <a:noFill xmlns:a="http://schemas.openxmlformats.org/drawingml/2006/main"/>
          <a:ln xmlns:a="http://schemas.openxmlformats.org/drawingml/2006/main" w="25400">
            <a:solidFill>
              <a:srgbClr val="00FF88"/>
            </a:solidFill>
          </a:ln>
        </p:spPr>
        <p:txBody>
          <a:bodyPr xmlns:a="http://schemas.openxmlformats.org/drawingml/2006/main"/>
          <a:lstStyle xmlns:a="http://schemas.openxmlformats.org/drawingml/2006/main"/>
          <a:p xmlns:a="http://schemas.openxmlformats.org/drawingml/2006/main"/>
        </p:txBody>
      </p:sp>
      <p:sp>
        <p:nvSpPr>
          <p:cNvPr id="100159" name="!!#s7-ident"/>
          <p:cNvSpPr/>
          <p:nvPr/>
        </p:nvSpPr>
        <p:spPr>
          <a:xfrm xmlns:a="http://schemas.openxmlformats.org/drawingml/2006/main">
            <a:off x="6516000" y="3600000"/>
            <a:ext cx="792000" cy="792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b="1">
                <a:solidFill>
                  <a:srgbClr val="00140A"/>
                </a:solidFill>
                <a:latin typeface="Segoe UI"/>
                <a:ea typeface="Segoe UI"/>
              </a:rPr>
              <a:t>ID</a:t>
            </a:r>
          </a:p>
        </p:txBody>
      </p:sp>
      <p:sp>
        <p:nvSpPr>
          <p:cNvPr id="100160" name="!!#s7-numo"/>
          <p:cNvSpPr/>
          <p:nvPr/>
        </p:nvSpPr>
        <p:spPr>
          <a:xfrm xmlns:a="http://schemas.openxmlformats.org/drawingml/2006/main">
            <a:off x="6408000" y="4752000"/>
            <a:ext cx="1008000" cy="1008000"/>
          </a:xfrm>
          <a:prstGeom xmlns:a="http://schemas.openxmlformats.org/drawingml/2006/main" prst="ellipse">
            <a:avLst/>
          </a:prstGeom>
          <a:noFill xmlns:a="http://schemas.openxmlformats.org/drawingml/2006/main"/>
          <a:ln xmlns:a="http://schemas.openxmlformats.org/drawingml/2006/main" w="25400">
            <a:solidFill>
              <a:srgbClr val="00FF88"/>
            </a:solidFill>
          </a:ln>
        </p:spPr>
        <p:txBody>
          <a:bodyPr xmlns:a="http://schemas.openxmlformats.org/drawingml/2006/main"/>
          <a:lstStyle xmlns:a="http://schemas.openxmlformats.org/drawingml/2006/main"/>
          <a:p xmlns:a="http://schemas.openxmlformats.org/drawingml/2006/main"/>
        </p:txBody>
      </p:sp>
      <p:sp>
        <p:nvSpPr>
          <p:cNvPr id="100161" name="!!#s7-num"/>
          <p:cNvSpPr/>
          <p:nvPr/>
        </p:nvSpPr>
        <p:spPr>
          <a:xfrm xmlns:a="http://schemas.openxmlformats.org/drawingml/2006/main">
            <a:off x="6516000" y="4860000"/>
            <a:ext cx="792000" cy="792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b="1">
                <a:solidFill>
                  <a:srgbClr val="00140A"/>
                </a:solidFill>
                <a:latin typeface="Segoe UI"/>
                <a:ea typeface="Segoe UI"/>
              </a:rPr>
              <a:t>NUM</a:t>
            </a:r>
          </a:p>
        </p:txBody>
      </p:sp>
      <p:sp>
        <p:nvSpPr>
          <p:cNvPr id="100162" name="!!#s7-dead"/>
          <p:cNvSpPr/>
          <p:nvPr/>
        </p:nvSpPr>
        <p:spPr>
          <a:xfrm xmlns:a="http://schemas.openxmlformats.org/drawingml/2006/main">
            <a:off x="9000000" y="4752000"/>
            <a:ext cx="1008000" cy="1008000"/>
          </a:xfrm>
          <a:prstGeom xmlns:a="http://schemas.openxmlformats.org/drawingml/2006/main" prst="ellipse">
            <a:avLst/>
          </a:prstGeom>
          <a:solidFill xmlns:a="http://schemas.openxmlformats.org/drawingml/2006/main">
            <a:srgbClr val="2A2A2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400" b="1">
                <a:solidFill>
                  <a:srgbClr val="FFFFFF"/>
                </a:solidFill>
                <a:latin typeface="Segoe UI"/>
                <a:ea typeface="Segoe UI"/>
              </a:rPr>
              <a:t>DEAD</a:t>
            </a:r>
          </a:p>
        </p:txBody>
      </p:sp>
      <p:cxnSp>
        <p:nvCxnSpPr>
          <p:cNvPr id="100163" name="Connector 1"/>
          <p:cNvCxnSpPr>
            <a:stCxn xmlns:a="http://schemas.openxmlformats.org/drawingml/2006/main" id="100157" idx="0"/>
            <a:endCxn xmlns:a="http://schemas.openxmlformats.org/drawingml/2006/main" id="100158" idx="0"/>
          </p:cNvCxnSpPr>
          <p:nvPr/>
        </p:nvCxnSpPr>
        <p:spPr>
          <a:xfrm xmlns:a="http://schemas.openxmlformats.org/drawingml/2006/main" flipV="1">
            <a:off x="5112000" y="3996000"/>
            <a:ext cx="1296000" cy="432000"/>
          </a:xfrm>
          <a:prstGeom xmlns:a="http://schemas.openxmlformats.org/drawingml/2006/main" prst="straightConnector1">
            <a:avLst/>
          </a:prstGeom>
          <a:ln xmlns:a="http://schemas.openxmlformats.org/drawingml/2006/main" w="25400">
            <a:solidFill>
              <a:srgbClr val="5EEAD4"/>
            </a:solidFill>
            <a:tailEnd type="triangle"/>
          </a:ln>
        </p:spPr>
      </p:cxnSp>
      <p:cxnSp>
        <p:nvCxnSpPr>
          <p:cNvPr id="100164" name="Connector 2"/>
          <p:cNvCxnSpPr>
            <a:stCxn xmlns:a="http://schemas.openxmlformats.org/drawingml/2006/main" id="100157" idx="0"/>
            <a:endCxn xmlns:a="http://schemas.openxmlformats.org/drawingml/2006/main" id="100160" idx="0"/>
          </p:cNvCxnSpPr>
          <p:nvPr/>
        </p:nvCxnSpPr>
        <p:spPr>
          <a:xfrm xmlns:a="http://schemas.openxmlformats.org/drawingml/2006/main">
            <a:off x="5112000" y="4428000"/>
            <a:ext cx="1296000" cy="828000"/>
          </a:xfrm>
          <a:prstGeom xmlns:a="http://schemas.openxmlformats.org/drawingml/2006/main" prst="straightConnector1">
            <a:avLst/>
          </a:prstGeom>
          <a:ln xmlns:a="http://schemas.openxmlformats.org/drawingml/2006/main" w="25400">
            <a:solidFill>
              <a:srgbClr val="5EEAD4"/>
            </a:solidFill>
            <a:tailEnd type="triangle"/>
          </a:ln>
        </p:spPr>
      </p:cxnSp>
      <p:cxnSp>
        <p:nvCxnSpPr>
          <p:cNvPr id="100165" name="Connector 3"/>
          <p:cNvCxnSpPr>
            <a:stCxn xmlns:a="http://schemas.openxmlformats.org/drawingml/2006/main" id="100160" idx="0"/>
            <a:endCxn xmlns:a="http://schemas.openxmlformats.org/drawingml/2006/main" id="100162" idx="0"/>
          </p:cNvCxnSpPr>
          <p:nvPr/>
        </p:nvCxnSpPr>
        <p:spPr>
          <a:xfrm xmlns:a="http://schemas.openxmlformats.org/drawingml/2006/main">
            <a:off x="7416000" y="5256000"/>
            <a:ext cx="1584000" cy="0"/>
          </a:xfrm>
          <a:prstGeom xmlns:a="http://schemas.openxmlformats.org/drawingml/2006/main" prst="straightConnector1">
            <a:avLst/>
          </a:prstGeom>
          <a:ln xmlns:a="http://schemas.openxmlformats.org/drawingml/2006/main" w="25400">
            <a:solidFill>
              <a:srgbClr val="FBBF24"/>
            </a:solidFill>
            <a:tailEnd type="triangle"/>
          </a:ln>
        </p:spPr>
      </p:cxnSp>
      <p:sp>
        <p:nvSpPr>
          <p:cNvPr id="100166" name="!!#s7-l1"/>
          <p:cNvSpPr txBox="1"/>
          <p:nvPr/>
        </p:nvSpPr>
        <p:spPr>
          <a:xfrm xmlns:a="http://schemas.openxmlformats.org/drawingml/2006/main">
            <a:off x="5004000" y="3492000"/>
            <a:ext cx="12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5EEAD4"/>
                </a:solidFill>
                <a:latin typeface="Segoe UI"/>
                <a:ea typeface="Segoe UI"/>
              </a:rPr>
              <a:t>letter</a:t>
            </a:r>
          </a:p>
        </p:txBody>
      </p:sp>
      <p:sp>
        <p:nvSpPr>
          <p:cNvPr id="100167" name="!!#s7-l2"/>
          <p:cNvSpPr txBox="1"/>
          <p:nvPr/>
        </p:nvSpPr>
        <p:spPr>
          <a:xfrm xmlns:a="http://schemas.openxmlformats.org/drawingml/2006/main">
            <a:off x="5004000" y="5184000"/>
            <a:ext cx="12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5EEAD4"/>
                </a:solidFill>
                <a:latin typeface="Segoe UI"/>
                <a:ea typeface="Segoe UI"/>
              </a:rPr>
              <a:t>digit</a:t>
            </a:r>
          </a:p>
        </p:txBody>
      </p:sp>
      <p:sp>
        <p:nvSpPr>
          <p:cNvPr id="100168" name="!!#s7-l3"/>
          <p:cNvSpPr txBox="1"/>
          <p:nvPr/>
        </p:nvSpPr>
        <p:spPr>
          <a:xfrm xmlns:a="http://schemas.openxmlformats.org/drawingml/2006/main">
            <a:off x="7560000" y="4248000"/>
            <a:ext cx="30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FBBF24"/>
                </a:solidFill>
                <a:latin typeface="Segoe UI"/>
                <a:ea typeface="Segoe UI"/>
              </a:rPr>
              <a:t>letter → 123abc ✗</a:t>
            </a:r>
          </a:p>
        </p:txBody>
      </p:sp>
      <p:sp>
        <p:nvSpPr>
          <p:cNvPr id="100169" name="!!#s7-l4"/>
          <p:cNvSpPr txBox="1"/>
          <p:nvPr/>
        </p:nvSpPr>
        <p:spPr>
          <a:xfrm xmlns:a="http://schemas.openxmlformats.org/drawingml/2006/main">
            <a:off x="4104000" y="5904000"/>
            <a:ext cx="32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 = accepting state (F)</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8.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170" name="!!scene-orb1"/>
          <p:cNvSpPr/>
          <p:nvPr/>
        </p:nvSpPr>
        <p:spPr>
          <a:xfrm xmlns:a="http://schemas.openxmlformats.org/drawingml/2006/main">
            <a:off x="6480000" y="-10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71" name="!!scene-orb2"/>
          <p:cNvSpPr/>
          <p:nvPr/>
        </p:nvSpPr>
        <p:spPr>
          <a:xfrm xmlns:a="http://schemas.openxmlformats.org/drawingml/2006/main">
            <a:off x="-1080000" y="396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72" name="!!scene-ring"/>
          <p:cNvSpPr/>
          <p:nvPr/>
        </p:nvSpPr>
        <p:spPr>
          <a:xfrm xmlns:a="http://schemas.openxmlformats.org/drawingml/2006/main">
            <a:off x="489600" y="2541600"/>
            <a:ext cx="2833200" cy="2833200"/>
          </a:xfrm>
          <a:prstGeom xmlns:a="http://schemas.openxmlformats.org/drawingml/2006/main" prst="blockArc">
            <a:avLst>
              <a:gd name="adj1" fmla="val 14700000"/>
              <a:gd name="adj2" fmla="val 129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173" name="!!scene-p1"/>
          <p:cNvSpPr/>
          <p:nvPr/>
        </p:nvSpPr>
        <p:spPr>
          <a:xfrm xmlns:a="http://schemas.openxmlformats.org/drawingml/2006/main">
            <a:off x="828000" y="2880000"/>
            <a:ext cx="2160000" cy="21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8000">
                <a:solidFill>
                  <a:srgbClr val="00140A"/>
                </a:solidFill>
                <a:latin typeface="Arial Black"/>
                <a:ea typeface="Arial Black"/>
              </a:rPr>
              <a:t>1</a:t>
            </a:r>
          </a:p>
        </p:txBody>
      </p:sp>
      <p:sp>
        <p:nvSpPr>
          <p:cNvPr id="100174"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175"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176"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177"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178"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179"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180" name="!!#s8-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1 · IN ACTION</a:t>
            </a:r>
          </a:p>
        </p:txBody>
      </p:sp>
      <p:sp>
        <p:nvSpPr>
          <p:cNvPr id="100181" name="!!#s8-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Scanning the Input</a:t>
            </a:r>
          </a:p>
        </p:txBody>
      </p:sp>
      <p:sp>
        <p:nvSpPr>
          <p:cNvPr id="100182" name="!!#s8-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Maximal munch: keep moving while δ allows, back up to the last accepting state</a:t>
            </a:r>
          </a:p>
          <a:p xmlns:a="http://schemas.openxmlformats.org/drawingml/2006/main">
            <a:pPr algn="l">
              <a:spcAft>
                <a:spcPts val="600"/>
              </a:spcAft>
            </a:pPr>
            <a:r>
              <a:rPr lang="en-US" sz="1800" b="0">
                <a:solidFill>
                  <a:srgbClr val="D1FAE5"/>
                </a:solidFill>
                <a:latin typeface="Segoe UI"/>
                <a:ea typeface="Segoe UI"/>
              </a:rPr>
              <a:t>▸  Keywords: accept an identifier, then look it up in the keyword table</a:t>
            </a:r>
          </a:p>
        </p:txBody>
      </p:sp>
      <p:sp>
        <p:nvSpPr>
          <p:cNvPr id="100183" name="!!#s8-t0"/>
          <p:cNvSpPr/>
          <p:nvPr/>
        </p:nvSpPr>
        <p:spPr>
          <a:xfrm xmlns:a="http://schemas.openxmlformats.org/drawingml/2006/main">
            <a:off x="4104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i</a:t>
            </a:r>
          </a:p>
        </p:txBody>
      </p:sp>
      <p:sp>
        <p:nvSpPr>
          <p:cNvPr id="100184" name="!!#s8-t1"/>
          <p:cNvSpPr/>
          <p:nvPr/>
        </p:nvSpPr>
        <p:spPr>
          <a:xfrm xmlns:a="http://schemas.openxmlformats.org/drawingml/2006/main">
            <a:off x="4608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f</a:t>
            </a:r>
          </a:p>
        </p:txBody>
      </p:sp>
      <p:sp>
        <p:nvSpPr>
          <p:cNvPr id="100185" name="!!#s8-t2"/>
          <p:cNvSpPr/>
          <p:nvPr/>
        </p:nvSpPr>
        <p:spPr>
          <a:xfrm xmlns:a="http://schemas.openxmlformats.org/drawingml/2006/main">
            <a:off x="5112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a:t>
            </a:r>
          </a:p>
        </p:txBody>
      </p:sp>
      <p:sp>
        <p:nvSpPr>
          <p:cNvPr id="100186" name="!!#s8-t3"/>
          <p:cNvSpPr/>
          <p:nvPr/>
        </p:nvSpPr>
        <p:spPr>
          <a:xfrm xmlns:a="http://schemas.openxmlformats.org/drawingml/2006/main">
            <a:off x="5616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a:t>
            </a:r>
          </a:p>
        </p:txBody>
      </p:sp>
      <p:sp>
        <p:nvSpPr>
          <p:cNvPr id="100187" name="!!#s8-t4"/>
          <p:cNvSpPr/>
          <p:nvPr/>
        </p:nvSpPr>
        <p:spPr>
          <a:xfrm xmlns:a="http://schemas.openxmlformats.org/drawingml/2006/main">
            <a:off x="6120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x</a:t>
            </a:r>
          </a:p>
        </p:txBody>
      </p:sp>
      <p:sp>
        <p:nvSpPr>
          <p:cNvPr id="100188" name="!!#s8-t5"/>
          <p:cNvSpPr/>
          <p:nvPr/>
        </p:nvSpPr>
        <p:spPr>
          <a:xfrm xmlns:a="http://schemas.openxmlformats.org/drawingml/2006/main">
            <a:off x="6624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a:t>
            </a:r>
          </a:p>
        </p:txBody>
      </p:sp>
      <p:sp>
        <p:nvSpPr>
          <p:cNvPr id="100189" name="!!#s8-t6"/>
          <p:cNvSpPr/>
          <p:nvPr/>
        </p:nvSpPr>
        <p:spPr>
          <a:xfrm xmlns:a="http://schemas.openxmlformats.org/drawingml/2006/main">
            <a:off x="7128000" y="3492000"/>
            <a:ext cx="450000" cy="450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1">
                <a:solidFill>
                  <a:srgbClr val="00140A"/>
                </a:solidFill>
                <a:latin typeface="Consolas"/>
                <a:ea typeface="Consolas"/>
              </a:rPr>
              <a:t>&lt;</a:t>
            </a:r>
          </a:p>
        </p:txBody>
      </p:sp>
      <p:sp>
        <p:nvSpPr>
          <p:cNvPr id="100190" name="!!#s8-t7"/>
          <p:cNvSpPr/>
          <p:nvPr/>
        </p:nvSpPr>
        <p:spPr>
          <a:xfrm xmlns:a="http://schemas.openxmlformats.org/drawingml/2006/main">
            <a:off x="7632000" y="3492000"/>
            <a:ext cx="450000" cy="450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1">
                <a:solidFill>
                  <a:srgbClr val="00140A"/>
                </a:solidFill>
                <a:latin typeface="Consolas"/>
                <a:ea typeface="Consolas"/>
              </a:rPr>
              <a:t>=</a:t>
            </a:r>
          </a:p>
        </p:txBody>
      </p:sp>
      <p:sp>
        <p:nvSpPr>
          <p:cNvPr id="100191" name="!!#s8-t8"/>
          <p:cNvSpPr/>
          <p:nvPr/>
        </p:nvSpPr>
        <p:spPr>
          <a:xfrm xmlns:a="http://schemas.openxmlformats.org/drawingml/2006/main">
            <a:off x="8136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a:t>
            </a:r>
          </a:p>
        </p:txBody>
      </p:sp>
      <p:sp>
        <p:nvSpPr>
          <p:cNvPr id="100192" name="!!#s8-t9"/>
          <p:cNvSpPr/>
          <p:nvPr/>
        </p:nvSpPr>
        <p:spPr>
          <a:xfrm xmlns:a="http://schemas.openxmlformats.org/drawingml/2006/main">
            <a:off x="8640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3</a:t>
            </a:r>
          </a:p>
        </p:txBody>
      </p:sp>
      <p:sp>
        <p:nvSpPr>
          <p:cNvPr id="100193" name="!!#s8-t10"/>
          <p:cNvSpPr/>
          <p:nvPr/>
        </p:nvSpPr>
        <p:spPr>
          <a:xfrm xmlns:a="http://schemas.openxmlformats.org/drawingml/2006/main">
            <a:off x="9144000" y="3492000"/>
            <a:ext cx="450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a:t>
            </a:r>
          </a:p>
        </p:txBody>
      </p:sp>
      <p:sp>
        <p:nvSpPr>
          <p:cNvPr id="100194" name="!!#s8-lm"/>
          <p:cNvSpPr txBox="1"/>
          <p:nvPr/>
        </p:nvSpPr>
        <p:spPr>
          <a:xfrm xmlns:a="http://schemas.openxmlformats.org/drawingml/2006/main">
            <a:off x="4032000" y="3996000"/>
            <a:ext cx="756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5EEAD4"/>
                </a:solidFill>
                <a:latin typeface="Segoe UI"/>
                <a:ea typeface="Segoe UI"/>
              </a:rPr>
              <a:t>longest match: '&lt;' can still move on '=', so '&lt;=' is ONE token</a:t>
            </a:r>
          </a:p>
        </p:txBody>
      </p:sp>
      <p:sp>
        <p:nvSpPr>
          <p:cNvPr id="100195" name="!!#s8-k0"/>
          <p:cNvSpPr/>
          <p:nvPr/>
        </p:nvSpPr>
        <p:spPr>
          <a:xfrm xmlns:a="http://schemas.openxmlformats.org/drawingml/2006/main">
            <a:off x="4104000" y="4500000"/>
            <a:ext cx="734400" cy="432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IF</a:t>
            </a:r>
          </a:p>
        </p:txBody>
      </p:sp>
      <p:sp>
        <p:nvSpPr>
          <p:cNvPr id="100196" name="!!#s8-k1"/>
          <p:cNvSpPr/>
          <p:nvPr/>
        </p:nvSpPr>
        <p:spPr>
          <a:xfrm xmlns:a="http://schemas.openxmlformats.org/drawingml/2006/main">
            <a:off x="4946400" y="4500000"/>
            <a:ext cx="583200" cy="432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197" name="!!#s8-k2"/>
          <p:cNvSpPr/>
          <p:nvPr/>
        </p:nvSpPr>
        <p:spPr>
          <a:xfrm xmlns:a="http://schemas.openxmlformats.org/drawingml/2006/main">
            <a:off x="5637600" y="4500000"/>
            <a:ext cx="1490400" cy="432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IDENT x</a:t>
            </a:r>
          </a:p>
        </p:txBody>
      </p:sp>
      <p:sp>
        <p:nvSpPr>
          <p:cNvPr id="100198" name="!!#s8-k3"/>
          <p:cNvSpPr/>
          <p:nvPr/>
        </p:nvSpPr>
        <p:spPr>
          <a:xfrm xmlns:a="http://schemas.openxmlformats.org/drawingml/2006/main">
            <a:off x="7236000" y="4500000"/>
            <a:ext cx="734400" cy="432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LE</a:t>
            </a:r>
          </a:p>
        </p:txBody>
      </p:sp>
      <p:sp>
        <p:nvSpPr>
          <p:cNvPr id="100199" name="!!#s8-k4"/>
          <p:cNvSpPr/>
          <p:nvPr/>
        </p:nvSpPr>
        <p:spPr>
          <a:xfrm xmlns:a="http://schemas.openxmlformats.org/drawingml/2006/main">
            <a:off x="8078400" y="4500000"/>
            <a:ext cx="1641600" cy="432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NUMBER 3</a:t>
            </a:r>
          </a:p>
        </p:txBody>
      </p:sp>
      <p:sp>
        <p:nvSpPr>
          <p:cNvPr id="100200" name="!!#s8-k5"/>
          <p:cNvSpPr/>
          <p:nvPr/>
        </p:nvSpPr>
        <p:spPr>
          <a:xfrm xmlns:a="http://schemas.openxmlformats.org/drawingml/2006/main">
            <a:off x="9828000" y="4500000"/>
            <a:ext cx="583200" cy="432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201" name="!!#s8-err"/>
          <p:cNvSpPr/>
          <p:nvPr/>
        </p:nvSpPr>
        <p:spPr>
          <a:xfrm xmlns:a="http://schemas.openxmlformats.org/drawingml/2006/main">
            <a:off x="4104000" y="5184000"/>
            <a:ext cx="1296000" cy="468000"/>
          </a:xfrm>
          <a:prstGeom xmlns:a="http://schemas.openxmlformats.org/drawingml/2006/main" prst="roundRect">
            <a:avLst/>
          </a:prstGeom>
          <a:solidFill xmlns:a="http://schemas.openxmlformats.org/drawingml/2006/main">
            <a:srgbClr val="03200E"/>
          </a:solidFill>
          <a:ln xmlns:a="http://schemas.openxmlformats.org/drawingml/2006/main" w="25400">
            <a:solidFill>
              <a:srgbClr val="FBBF24"/>
            </a:solidFill>
          </a:ln>
        </p:spPr>
        <p:txBody>
          <a:bodyPr xmlns:a="http://schemas.openxmlformats.org/drawingml/2006/main" anchor="ctr"/>
          <a:lstStyle xmlns:a="http://schemas.openxmlformats.org/drawingml/2006/main"/>
          <a:p xmlns:a="http://schemas.openxmlformats.org/drawingml/2006/main">
            <a:pPr algn="ctr"/>
            <a:r>
              <a:rPr lang="en-US" sz="1800" b="0">
                <a:solidFill>
                  <a:srgbClr val="FFFFFF"/>
                </a:solidFill>
                <a:latin typeface="Consolas"/>
                <a:ea typeface="Consolas"/>
              </a:rPr>
              <a:t>123abc</a:t>
            </a:r>
          </a:p>
        </p:txBody>
      </p:sp>
      <p:sp>
        <p:nvSpPr>
          <p:cNvPr id="100202" name="!!#s8-errl"/>
          <p:cNvSpPr txBox="1"/>
          <p:nvPr/>
        </p:nvSpPr>
        <p:spPr>
          <a:xfrm xmlns:a="http://schemas.openxmlformats.org/drawingml/2006/main">
            <a:off x="5508000" y="5184000"/>
            <a:ext cx="61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FBBF24"/>
                </a:solidFill>
                <a:latin typeface="Segoe UI"/>
                <a:ea typeface="Segoe UI"/>
              </a:rPr>
              <a:t>→ BAD_NUMBER: digits ran into letters</a:t>
            </a:r>
          </a:p>
        </p:txBody>
      </p:sp>
      <p:sp>
        <p:nvSpPr>
          <p:cNvPr id="100203" name="!!#s8-stat"/>
          <p:cNvSpPr txBox="1"/>
          <p:nvPr/>
        </p:nvSpPr>
        <p:spPr>
          <a:xfrm xmlns:a="http://schemas.openxmlformats.org/drawingml/2006/main">
            <a:off x="4032000" y="5832000"/>
            <a:ext cx="756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demo.snek: 94 tokens in 700 DFA steps, every one replayable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9.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204" name="!!scene-orb1"/>
          <p:cNvSpPr/>
          <p:nvPr/>
        </p:nvSpPr>
        <p:spPr>
          <a:xfrm xmlns:a="http://schemas.openxmlformats.org/drawingml/2006/main">
            <a:off x="7920000" y="28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205" name="!!scene-orb2"/>
          <p:cNvSpPr/>
          <p:nvPr/>
        </p:nvSpPr>
        <p:spPr>
          <a:xfrm xmlns:a="http://schemas.openxmlformats.org/drawingml/2006/main">
            <a:off x="720000" y="-144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206" name="!!scene-ring"/>
          <p:cNvSpPr/>
          <p:nvPr/>
        </p:nvSpPr>
        <p:spPr>
          <a:xfrm xmlns:a="http://schemas.openxmlformats.org/drawingml/2006/main">
            <a:off x="183600" y="1371600"/>
            <a:ext cx="3445200" cy="3445200"/>
          </a:xfrm>
          <a:prstGeom xmlns:a="http://schemas.openxmlformats.org/drawingml/2006/main" prst="blockArc">
            <a:avLst>
              <a:gd name="adj1" fmla="val 15600000"/>
              <a:gd name="adj2" fmla="val 138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207" name="!!scene-p2"/>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2</a:t>
            </a:r>
          </a:p>
        </p:txBody>
      </p:sp>
      <p:sp>
        <p:nvSpPr>
          <p:cNvPr id="100208"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209"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210"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211"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212"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213"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214" name="!!#s9-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2 · CFG → PDA</a:t>
            </a:r>
          </a:p>
        </p:txBody>
      </p:sp>
      <p:sp>
        <p:nvSpPr>
          <p:cNvPr id="100215" name="!!#s9-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Syntax Analysis</a:t>
            </a:r>
          </a:p>
        </p:txBody>
      </p:sp>
      <p:sp>
        <p:nvSpPr>
          <p:cNvPr id="100216" name="!!#s9-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G = (V, T, P, S) in pure BNF — one source of truth for parser and screen</a:t>
            </a:r>
          </a:p>
          <a:p xmlns:a="http://schemas.openxmlformats.org/drawingml/2006/main">
            <a:pPr algn="l">
              <a:spcAft>
                <a:spcPts val="600"/>
              </a:spcAft>
            </a:pPr>
            <a:r>
              <a:rPr lang="en-US" sz="1800" b="0">
                <a:solidFill>
                  <a:srgbClr val="D1FAE5"/>
                </a:solidFill>
                <a:latin typeface="Segoe UI"/>
                <a:ea typeface="Segoe UI"/>
              </a:rPr>
              <a:t>▸  Left-factored, no left recursion; FIRST / FOLLOW computed by fixpoint</a:t>
            </a:r>
          </a:p>
          <a:p xmlns:a="http://schemas.openxmlformats.org/drawingml/2006/main">
            <a:pPr algn="l">
              <a:spcAft>
                <a:spcPts val="600"/>
              </a:spcAft>
            </a:pPr>
            <a:r>
              <a:rPr lang="en-US" sz="1800" b="0">
                <a:solidFill>
                  <a:srgbClr val="D1FAE5"/>
                </a:solidFill>
                <a:latin typeface="Segoe UI"/>
                <a:ea typeface="Segoe UI"/>
              </a:rPr>
              <a:t>▸  LL(1) table M[A, t]: at most one production per cell ⇒ a deterministic PDA</a:t>
            </a:r>
          </a:p>
        </p:txBody>
      </p:sp>
      <p:sp>
        <p:nvSpPr>
          <p:cNvPr id="100217" name="!!#s9-st0"/>
          <p:cNvSpPr/>
          <p:nvPr/>
        </p:nvSpPr>
        <p:spPr>
          <a:xfrm xmlns:a="http://schemas.openxmlformats.org/drawingml/2006/main">
            <a:off x="4104000" y="5724000"/>
            <a:ext cx="2016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Program</a:t>
            </a:r>
          </a:p>
        </p:txBody>
      </p:sp>
      <p:sp>
        <p:nvSpPr>
          <p:cNvPr id="100218" name="!!#s9-st1"/>
          <p:cNvSpPr/>
          <p:nvPr/>
        </p:nvSpPr>
        <p:spPr>
          <a:xfrm xmlns:a="http://schemas.openxmlformats.org/drawingml/2006/main">
            <a:off x="4104000" y="5202000"/>
            <a:ext cx="2016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Decl*</a:t>
            </a:r>
          </a:p>
        </p:txBody>
      </p:sp>
      <p:sp>
        <p:nvSpPr>
          <p:cNvPr id="100219" name="!!#s9-st2"/>
          <p:cNvSpPr/>
          <p:nvPr/>
        </p:nvSpPr>
        <p:spPr>
          <a:xfrm xmlns:a="http://schemas.openxmlformats.org/drawingml/2006/main">
            <a:off x="4104000" y="4680000"/>
            <a:ext cx="2016000" cy="45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Statement</a:t>
            </a:r>
          </a:p>
        </p:txBody>
      </p:sp>
      <p:sp>
        <p:nvSpPr>
          <p:cNvPr id="100220" name="!!#s9-st3"/>
          <p:cNvSpPr/>
          <p:nvPr/>
        </p:nvSpPr>
        <p:spPr>
          <a:xfrm xmlns:a="http://schemas.openxmlformats.org/drawingml/2006/main">
            <a:off x="4104000" y="4158000"/>
            <a:ext cx="2016000" cy="450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LetStmt</a:t>
            </a:r>
          </a:p>
        </p:txBody>
      </p:sp>
      <p:sp>
        <p:nvSpPr>
          <p:cNvPr id="100221" name="!!#s9-stl"/>
          <p:cNvSpPr txBox="1"/>
          <p:nvPr/>
        </p:nvSpPr>
        <p:spPr>
          <a:xfrm xmlns:a="http://schemas.openxmlformats.org/drawingml/2006/main">
            <a:off x="4104000" y="6228000"/>
            <a:ext cx="2016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stack (top ↑)</a:t>
            </a:r>
          </a:p>
        </p:txBody>
      </p:sp>
      <p:sp>
        <p:nvSpPr>
          <p:cNvPr id="100222" name="!!#s9-h0"/>
          <p:cNvSpPr/>
          <p:nvPr/>
        </p:nvSpPr>
        <p:spPr>
          <a:xfrm xmlns:a="http://schemas.openxmlformats.org/drawingml/2006/main">
            <a:off x="6552000" y="3780000"/>
            <a:ext cx="1296000" cy="468000"/>
          </a:xfrm>
          <a:prstGeom xmlns:a="http://schemas.openxmlformats.org/drawingml/2006/main" prst="roundRect">
            <a:avLst/>
          </a:prstGeom>
          <a:solidFill xmlns:a="http://schemas.openxmlformats.org/drawingml/2006/main">
            <a:srgbClr val="0A3A1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M[A, t]</a:t>
            </a:r>
          </a:p>
        </p:txBody>
      </p:sp>
      <p:sp>
        <p:nvSpPr>
          <p:cNvPr id="100223" name="!!#s9-h1"/>
          <p:cNvSpPr/>
          <p:nvPr/>
        </p:nvSpPr>
        <p:spPr>
          <a:xfrm xmlns:a="http://schemas.openxmlformats.org/drawingml/2006/main">
            <a:off x="7920000" y="3780000"/>
            <a:ext cx="1296000" cy="468000"/>
          </a:xfrm>
          <a:prstGeom xmlns:a="http://schemas.openxmlformats.org/drawingml/2006/main" prst="roundRect">
            <a:avLst/>
          </a:prstGeom>
          <a:solidFill xmlns:a="http://schemas.openxmlformats.org/drawingml/2006/main">
            <a:srgbClr val="0A3A1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let</a:t>
            </a:r>
          </a:p>
        </p:txBody>
      </p:sp>
      <p:sp>
        <p:nvSpPr>
          <p:cNvPr id="100224" name="!!#s9-h2"/>
          <p:cNvSpPr/>
          <p:nvPr/>
        </p:nvSpPr>
        <p:spPr>
          <a:xfrm xmlns:a="http://schemas.openxmlformats.org/drawingml/2006/main">
            <a:off x="9288000" y="3780000"/>
            <a:ext cx="1296000" cy="468000"/>
          </a:xfrm>
          <a:prstGeom xmlns:a="http://schemas.openxmlformats.org/drawingml/2006/main" prst="roundRect">
            <a:avLst/>
          </a:prstGeom>
          <a:solidFill xmlns:a="http://schemas.openxmlformats.org/drawingml/2006/main">
            <a:srgbClr val="0A3A1E"/>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print</a:t>
            </a:r>
          </a:p>
        </p:txBody>
      </p:sp>
      <p:sp>
        <p:nvSpPr>
          <p:cNvPr id="100225" name="!!#s9-c00"/>
          <p:cNvSpPr/>
          <p:nvPr/>
        </p:nvSpPr>
        <p:spPr>
          <a:xfrm xmlns:a="http://schemas.openxmlformats.org/drawingml/2006/main">
            <a:off x="6552000" y="4320000"/>
            <a:ext cx="129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Statement</a:t>
            </a:r>
          </a:p>
        </p:txBody>
      </p:sp>
      <p:sp>
        <p:nvSpPr>
          <p:cNvPr id="100226" name="!!#s9-c01"/>
          <p:cNvSpPr/>
          <p:nvPr/>
        </p:nvSpPr>
        <p:spPr>
          <a:xfrm xmlns:a="http://schemas.openxmlformats.org/drawingml/2006/main">
            <a:off x="7920000" y="4320000"/>
            <a:ext cx="1296000" cy="468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00140A"/>
                </a:solidFill>
                <a:latin typeface="Consolas"/>
                <a:ea typeface="Consolas"/>
              </a:rPr>
              <a:t>LetStmt</a:t>
            </a:r>
          </a:p>
        </p:txBody>
      </p:sp>
      <p:sp>
        <p:nvSpPr>
          <p:cNvPr id="100227" name="!!#s9-c02"/>
          <p:cNvSpPr/>
          <p:nvPr/>
        </p:nvSpPr>
        <p:spPr>
          <a:xfrm xmlns:a="http://schemas.openxmlformats.org/drawingml/2006/main">
            <a:off x="9288000" y="4320000"/>
            <a:ext cx="129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PrintStmt</a:t>
            </a:r>
          </a:p>
        </p:txBody>
      </p:sp>
      <p:sp>
        <p:nvSpPr>
          <p:cNvPr id="100228" name="!!#s9-c10"/>
          <p:cNvSpPr/>
          <p:nvPr/>
        </p:nvSpPr>
        <p:spPr>
          <a:xfrm xmlns:a="http://schemas.openxmlformats.org/drawingml/2006/main">
            <a:off x="6552000" y="4860000"/>
            <a:ext cx="129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Decl</a:t>
            </a:r>
          </a:p>
        </p:txBody>
      </p:sp>
      <p:sp>
        <p:nvSpPr>
          <p:cNvPr id="100229" name="!!#s9-c11"/>
          <p:cNvSpPr/>
          <p:nvPr/>
        </p:nvSpPr>
        <p:spPr>
          <a:xfrm xmlns:a="http://schemas.openxmlformats.org/drawingml/2006/main">
            <a:off x="7920000" y="4860000"/>
            <a:ext cx="129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Statement</a:t>
            </a:r>
          </a:p>
        </p:txBody>
      </p:sp>
      <p:sp>
        <p:nvSpPr>
          <p:cNvPr id="100230" name="!!#s9-c12"/>
          <p:cNvSpPr/>
          <p:nvPr/>
        </p:nvSpPr>
        <p:spPr>
          <a:xfrm xmlns:a="http://schemas.openxmlformats.org/drawingml/2006/main">
            <a:off x="9288000" y="4860000"/>
            <a:ext cx="129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Statement</a:t>
            </a:r>
          </a:p>
        </p:txBody>
      </p:sp>
      <p:sp>
        <p:nvSpPr>
          <p:cNvPr id="100231" name="!!#s9-tl"/>
          <p:cNvSpPr txBox="1"/>
          <p:nvPr/>
        </p:nvSpPr>
        <p:spPr>
          <a:xfrm xmlns:a="http://schemas.openxmlformats.org/drawingml/2006/main">
            <a:off x="6552000" y="5436000"/>
            <a:ext cx="4176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one entry per cell ⇒ deterministic</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0.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232" name="!!scene-orb1"/>
          <p:cNvSpPr/>
          <p:nvPr/>
        </p:nvSpPr>
        <p:spPr>
          <a:xfrm xmlns:a="http://schemas.openxmlformats.org/drawingml/2006/main">
            <a:off x="-1440000" y="28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233" name="!!scene-orb2"/>
          <p:cNvSpPr/>
          <p:nvPr/>
        </p:nvSpPr>
        <p:spPr>
          <a:xfrm xmlns:a="http://schemas.openxmlformats.org/drawingml/2006/main">
            <a:off x="8640000" y="-108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234" name="!!scene-ring"/>
          <p:cNvSpPr/>
          <p:nvPr/>
        </p:nvSpPr>
        <p:spPr>
          <a:xfrm xmlns:a="http://schemas.openxmlformats.org/drawingml/2006/main">
            <a:off x="489600" y="2541600"/>
            <a:ext cx="2833200" cy="2833200"/>
          </a:xfrm>
          <a:prstGeom xmlns:a="http://schemas.openxmlformats.org/drawingml/2006/main" prst="blockArc">
            <a:avLst>
              <a:gd name="adj1" fmla="val 20100000"/>
              <a:gd name="adj2" fmla="val 183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235" name="!!scene-p2"/>
          <p:cNvSpPr/>
          <p:nvPr/>
        </p:nvSpPr>
        <p:spPr>
          <a:xfrm xmlns:a="http://schemas.openxmlformats.org/drawingml/2006/main">
            <a:off x="828000" y="2880000"/>
            <a:ext cx="2160000" cy="2160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8000">
                <a:solidFill>
                  <a:srgbClr val="00140A"/>
                </a:solidFill>
                <a:latin typeface="Arial Black"/>
                <a:ea typeface="Arial Black"/>
              </a:rPr>
              <a:t>2</a:t>
            </a:r>
          </a:p>
        </p:txBody>
      </p:sp>
      <p:sp>
        <p:nvSpPr>
          <p:cNvPr id="100236"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237"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238"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239"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240"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241"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242" name="!!#s10-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2 · IN ACTION</a:t>
            </a:r>
          </a:p>
        </p:txBody>
      </p:sp>
      <p:sp>
        <p:nvSpPr>
          <p:cNvPr id="100243" name="!!#s10-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The PDA at Work</a:t>
            </a:r>
          </a:p>
        </p:txBody>
      </p:sp>
      <p:sp>
        <p:nvSpPr>
          <p:cNvPr id="100244" name="!!#s10-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expand A → α: pop A, push α reversed   ·   match t: pop t, read t</a:t>
            </a:r>
          </a:p>
          <a:p xmlns:a="http://schemas.openxmlformats.org/drawingml/2006/main">
            <a:pPr algn="l">
              <a:spcAft>
                <a:spcPts val="600"/>
              </a:spcAft>
            </a:pPr>
            <a:r>
              <a:rPr lang="en-US" sz="1800" b="0">
                <a:solidFill>
                  <a:srgbClr val="D1FAE5"/>
                </a:solidFill>
                <a:latin typeface="Segoe UI"/>
                <a:ea typeface="Segoe UI"/>
              </a:rPr>
              <a:t>▸  Leftmost derivation shown live; parse tree folded into the AST</a:t>
            </a:r>
          </a:p>
        </p:txBody>
      </p:sp>
      <p:sp>
        <p:nvSpPr>
          <p:cNvPr id="100245" name="!!#s10-der"/>
          <p:cNvSpPr txBox="1"/>
          <p:nvPr/>
        </p:nvSpPr>
        <p:spPr>
          <a:xfrm xmlns:a="http://schemas.openxmlformats.org/drawingml/2006/main">
            <a:off x="4032000" y="3384000"/>
            <a:ext cx="756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00FF88"/>
                </a:solidFill>
                <a:latin typeface="Consolas"/>
                <a:ea typeface="Consolas"/>
              </a:rPr>
              <a:t>Statement  ⇒  LetStmt  ⇒  let IDENT = Expr ;</a:t>
            </a:r>
          </a:p>
        </p:txBody>
      </p:sp>
      <p:sp>
        <p:nvSpPr>
          <p:cNvPr id="100246" name="!!#s10-c0i0"/>
          <p:cNvSpPr/>
          <p:nvPr/>
        </p:nvSpPr>
        <p:spPr>
          <a:xfrm xmlns:a="http://schemas.openxmlformats.org/drawingml/2006/main">
            <a:off x="4104000" y="525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Decl*</a:t>
            </a:r>
          </a:p>
        </p:txBody>
      </p:sp>
      <p:sp>
        <p:nvSpPr>
          <p:cNvPr id="100247" name="!!#s10-c0i1"/>
          <p:cNvSpPr/>
          <p:nvPr/>
        </p:nvSpPr>
        <p:spPr>
          <a:xfrm xmlns:a="http://schemas.openxmlformats.org/drawingml/2006/main">
            <a:off x="4104000" y="4896000"/>
            <a:ext cx="1800000" cy="3312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LetStmt</a:t>
            </a:r>
          </a:p>
        </p:txBody>
      </p:sp>
      <p:sp>
        <p:nvSpPr>
          <p:cNvPr id="100248" name="!!#s10-c0l"/>
          <p:cNvSpPr txBox="1"/>
          <p:nvPr/>
        </p:nvSpPr>
        <p:spPr>
          <a:xfrm xmlns:a="http://schemas.openxmlformats.org/drawingml/2006/main">
            <a:off x="4104000" y="5688000"/>
            <a:ext cx="18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D1FAE5"/>
                </a:solidFill>
                <a:latin typeface="Segoe UI"/>
                <a:ea typeface="Segoe UI"/>
              </a:rPr>
              <a:t>before</a:t>
            </a:r>
          </a:p>
        </p:txBody>
      </p:sp>
      <p:sp>
        <p:nvSpPr>
          <p:cNvPr id="100249" name="!!#s10-ar0"/>
          <p:cNvSpPr txBox="1"/>
          <p:nvPr/>
        </p:nvSpPr>
        <p:spPr>
          <a:xfrm xmlns:a="http://schemas.openxmlformats.org/drawingml/2006/main">
            <a:off x="5940000" y="4392000"/>
            <a:ext cx="648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2800" b="0">
                <a:solidFill>
                  <a:srgbClr val="00FF88"/>
                </a:solidFill>
                <a:latin typeface="Arial Black"/>
                <a:ea typeface="Arial Black"/>
              </a:rPr>
              <a:t>→</a:t>
            </a:r>
          </a:p>
        </p:txBody>
      </p:sp>
      <p:sp>
        <p:nvSpPr>
          <p:cNvPr id="100250" name="!!#s10-c1i0"/>
          <p:cNvSpPr/>
          <p:nvPr/>
        </p:nvSpPr>
        <p:spPr>
          <a:xfrm xmlns:a="http://schemas.openxmlformats.org/drawingml/2006/main">
            <a:off x="6660000" y="525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251" name="!!#s10-c1i1"/>
          <p:cNvSpPr/>
          <p:nvPr/>
        </p:nvSpPr>
        <p:spPr>
          <a:xfrm xmlns:a="http://schemas.openxmlformats.org/drawingml/2006/main">
            <a:off x="6660000" y="489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Expr</a:t>
            </a:r>
          </a:p>
        </p:txBody>
      </p:sp>
      <p:sp>
        <p:nvSpPr>
          <p:cNvPr id="100252" name="!!#s10-c1i2"/>
          <p:cNvSpPr/>
          <p:nvPr/>
        </p:nvSpPr>
        <p:spPr>
          <a:xfrm xmlns:a="http://schemas.openxmlformats.org/drawingml/2006/main">
            <a:off x="6660000" y="453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253" name="!!#s10-c1i3"/>
          <p:cNvSpPr/>
          <p:nvPr/>
        </p:nvSpPr>
        <p:spPr>
          <a:xfrm xmlns:a="http://schemas.openxmlformats.org/drawingml/2006/main">
            <a:off x="6660000" y="417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IDENT</a:t>
            </a:r>
          </a:p>
        </p:txBody>
      </p:sp>
      <p:sp>
        <p:nvSpPr>
          <p:cNvPr id="100254" name="!!#s10-c1i4"/>
          <p:cNvSpPr/>
          <p:nvPr/>
        </p:nvSpPr>
        <p:spPr>
          <a:xfrm xmlns:a="http://schemas.openxmlformats.org/drawingml/2006/main">
            <a:off x="6660000" y="3816000"/>
            <a:ext cx="1800000" cy="3312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let</a:t>
            </a:r>
          </a:p>
        </p:txBody>
      </p:sp>
      <p:sp>
        <p:nvSpPr>
          <p:cNvPr id="100255" name="!!#s10-c1l"/>
          <p:cNvSpPr txBox="1"/>
          <p:nvPr/>
        </p:nvSpPr>
        <p:spPr>
          <a:xfrm xmlns:a="http://schemas.openxmlformats.org/drawingml/2006/main">
            <a:off x="6660000" y="5688000"/>
            <a:ext cx="18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D1FAE5"/>
                </a:solidFill>
                <a:latin typeface="Segoe UI"/>
                <a:ea typeface="Segoe UI"/>
              </a:rPr>
              <a:t>expand LetStmt</a:t>
            </a:r>
          </a:p>
        </p:txBody>
      </p:sp>
      <p:sp>
        <p:nvSpPr>
          <p:cNvPr id="100256" name="!!#s10-ar1"/>
          <p:cNvSpPr txBox="1"/>
          <p:nvPr/>
        </p:nvSpPr>
        <p:spPr>
          <a:xfrm xmlns:a="http://schemas.openxmlformats.org/drawingml/2006/main">
            <a:off x="8496000" y="4392000"/>
            <a:ext cx="64800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2800" b="0">
                <a:solidFill>
                  <a:srgbClr val="00FF88"/>
                </a:solidFill>
                <a:latin typeface="Arial Black"/>
                <a:ea typeface="Arial Black"/>
              </a:rPr>
              <a:t>→</a:t>
            </a:r>
          </a:p>
        </p:txBody>
      </p:sp>
      <p:sp>
        <p:nvSpPr>
          <p:cNvPr id="100257" name="!!#s10-c2i0"/>
          <p:cNvSpPr/>
          <p:nvPr/>
        </p:nvSpPr>
        <p:spPr>
          <a:xfrm xmlns:a="http://schemas.openxmlformats.org/drawingml/2006/main">
            <a:off x="9216000" y="525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258" name="!!#s10-c2i1"/>
          <p:cNvSpPr/>
          <p:nvPr/>
        </p:nvSpPr>
        <p:spPr>
          <a:xfrm xmlns:a="http://schemas.openxmlformats.org/drawingml/2006/main">
            <a:off x="9216000" y="489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Expr</a:t>
            </a:r>
          </a:p>
        </p:txBody>
      </p:sp>
      <p:sp>
        <p:nvSpPr>
          <p:cNvPr id="100259" name="!!#s10-c2i2"/>
          <p:cNvSpPr/>
          <p:nvPr/>
        </p:nvSpPr>
        <p:spPr>
          <a:xfrm xmlns:a="http://schemas.openxmlformats.org/drawingml/2006/main">
            <a:off x="9216000" y="4536000"/>
            <a:ext cx="1800000" cy="3312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260" name="!!#s10-c2i3"/>
          <p:cNvSpPr/>
          <p:nvPr/>
        </p:nvSpPr>
        <p:spPr>
          <a:xfrm xmlns:a="http://schemas.openxmlformats.org/drawingml/2006/main">
            <a:off x="9216000" y="4176000"/>
            <a:ext cx="1800000" cy="3312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IDENT</a:t>
            </a:r>
          </a:p>
        </p:txBody>
      </p:sp>
      <p:sp>
        <p:nvSpPr>
          <p:cNvPr id="100261" name="!!#s10-c2l"/>
          <p:cNvSpPr txBox="1"/>
          <p:nvPr/>
        </p:nvSpPr>
        <p:spPr>
          <a:xfrm xmlns:a="http://schemas.openxmlformats.org/drawingml/2006/main">
            <a:off x="9216000" y="5688000"/>
            <a:ext cx="180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D1FAE5"/>
                </a:solidFill>
                <a:latin typeface="Segoe UI"/>
                <a:ea typeface="Segoe UI"/>
              </a:rPr>
              <a:t>match 'let'</a:t>
            </a:r>
          </a:p>
        </p:txBody>
      </p:sp>
      <p:sp>
        <p:nvSpPr>
          <p:cNvPr id="100262" name="!!#s10-stat"/>
          <p:cNvSpPr txBox="1"/>
          <p:nvPr/>
        </p:nvSpPr>
        <p:spPr>
          <a:xfrm xmlns:a="http://schemas.openxmlformats.org/drawingml/2006/main">
            <a:off x="4032000" y="6084000"/>
            <a:ext cx="75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demo.snek: 559 PDA moves · accept = input consumed and stack empty</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1.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263"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264"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265" name="!!scene-ring"/>
          <p:cNvSpPr/>
          <p:nvPr/>
        </p:nvSpPr>
        <p:spPr>
          <a:xfrm xmlns:a="http://schemas.openxmlformats.org/drawingml/2006/main">
            <a:off x="183600" y="1371600"/>
            <a:ext cx="3445200" cy="3445200"/>
          </a:xfrm>
          <a:prstGeom xmlns:a="http://schemas.openxmlformats.org/drawingml/2006/main" prst="blockArc">
            <a:avLst>
              <a:gd name="adj1" fmla="val 21000000"/>
              <a:gd name="adj2" fmla="val 192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266" name="!!scene-p3"/>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3</a:t>
            </a:r>
          </a:p>
        </p:txBody>
      </p:sp>
      <p:sp>
        <p:nvSpPr>
          <p:cNvPr id="100267"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268"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269"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270"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271"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272"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273" name="!!#s11-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3 · SYMBOL TABLE</a:t>
            </a:r>
          </a:p>
        </p:txBody>
      </p:sp>
      <p:sp>
        <p:nvSpPr>
          <p:cNvPr id="100274" name="!!#s11-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Semantic Analysis</a:t>
            </a:r>
          </a:p>
        </p:txBody>
      </p:sp>
      <p:sp>
        <p:nvSpPr>
          <p:cNvPr id="100275" name="!!#s11-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“Declared before use” is like {wcw} — not context-free (pumping lemma)</a:t>
            </a:r>
          </a:p>
          <a:p xmlns:a="http://schemas.openxmlformats.org/drawingml/2006/main">
            <a:pPr algn="l">
              <a:spcAft>
                <a:spcPts val="600"/>
              </a:spcAft>
            </a:pPr>
            <a:r>
              <a:rPr lang="en-US" sz="1800" b="0">
                <a:solidFill>
                  <a:srgbClr val="D1FAE5"/>
                </a:solidFill>
                <a:latin typeface="Segoe UI"/>
                <a:ea typeface="Segoe UI"/>
              </a:rPr>
              <a:t>▸  Hoist pass, then a scope-stack walk: every name → slot, every expression → type</a:t>
            </a:r>
          </a:p>
          <a:p xmlns:a="http://schemas.openxmlformats.org/drawingml/2006/main">
            <a:pPr algn="l">
              <a:spcAft>
                <a:spcPts val="600"/>
              </a:spcAft>
            </a:pPr>
            <a:r>
              <a:rPr lang="en-US" sz="1800" b="0">
                <a:solidFill>
                  <a:srgbClr val="D1FAE5"/>
                </a:solidFill>
                <a:latin typeface="Segoe UI"/>
                <a:ea typeface="Segoe UI"/>
              </a:rPr>
              <a:t>▸  Exact typing is undecidable (Rice): unknown types are checked at run time</a:t>
            </a:r>
          </a:p>
        </p:txBody>
      </p:sp>
      <p:sp>
        <p:nvSpPr>
          <p:cNvPr id="100276" name="!!#s11-g"/>
          <p:cNvSpPr/>
          <p:nvPr/>
        </p:nvSpPr>
        <p:spPr>
          <a:xfrm xmlns:a="http://schemas.openxmlformats.org/drawingml/2006/main">
            <a:off x="4104000" y="3708000"/>
            <a:ext cx="6624000" cy="2520000"/>
          </a:xfrm>
          <a:prstGeom xmlns:a="http://schemas.openxmlformats.org/drawingml/2006/main" prst="roundRect">
            <a:avLst/>
          </a:prstGeom>
          <a:noFill xmlns:a="http://schemas.openxmlformats.org/drawingml/2006/main"/>
          <a:ln xmlns:a="http://schemas.openxmlformats.org/drawingml/2006/main" w="25400">
            <a:solidFill>
              <a:srgbClr val="5EEAD4"/>
            </a:solidFill>
          </a:ln>
        </p:spPr>
        <p:txBody>
          <a:bodyPr xmlns:a="http://schemas.openxmlformats.org/drawingml/2006/main"/>
          <a:lstStyle xmlns:a="http://schemas.openxmlformats.org/drawingml/2006/main"/>
          <a:p xmlns:a="http://schemas.openxmlformats.org/drawingml/2006/main"/>
        </p:txBody>
      </p:sp>
      <p:sp>
        <p:nvSpPr>
          <p:cNvPr id="100277" name="!!#s11-gl"/>
          <p:cNvSpPr txBox="1"/>
          <p:nvPr/>
        </p:nvSpPr>
        <p:spPr>
          <a:xfrm xmlns:a="http://schemas.openxmlformats.org/drawingml/2006/main">
            <a:off x="4248000" y="3780000"/>
            <a:ext cx="288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5EEAD4"/>
                </a:solidFill>
                <a:latin typeface="Segoe UI"/>
                <a:ea typeface="Segoe UI"/>
              </a:rPr>
              <a:t>global scope</a:t>
            </a:r>
          </a:p>
        </p:txBody>
      </p:sp>
      <p:sp>
        <p:nvSpPr>
          <p:cNvPr id="100278" name="!!#s11-gc0"/>
          <p:cNvSpPr/>
          <p:nvPr/>
        </p:nvSpPr>
        <p:spPr>
          <a:xfrm xmlns:a="http://schemas.openxmlformats.org/drawingml/2006/main">
            <a:off x="4284000" y="4248000"/>
            <a:ext cx="237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00FF88"/>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square : fn(1)</a:t>
            </a:r>
          </a:p>
        </p:txBody>
      </p:sp>
      <p:sp>
        <p:nvSpPr>
          <p:cNvPr id="100279" name="!!#s11-gc1"/>
          <p:cNvSpPr/>
          <p:nvPr/>
        </p:nvSpPr>
        <p:spPr>
          <a:xfrm xmlns:a="http://schemas.openxmlformats.org/drawingml/2006/main">
            <a:off x="4284000" y="4860000"/>
            <a:ext cx="237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00FF88"/>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limit : int</a:t>
            </a:r>
          </a:p>
        </p:txBody>
      </p:sp>
      <p:sp>
        <p:nvSpPr>
          <p:cNvPr id="100280" name="!!#s11-gc2"/>
          <p:cNvSpPr/>
          <p:nvPr/>
        </p:nvSpPr>
        <p:spPr>
          <a:xfrm xmlns:a="http://schemas.openxmlformats.org/drawingml/2006/main">
            <a:off x="4284000" y="5472000"/>
            <a:ext cx="237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00FF88"/>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total : int</a:t>
            </a:r>
          </a:p>
        </p:txBody>
      </p:sp>
      <p:sp>
        <p:nvSpPr>
          <p:cNvPr id="100281" name="!!#s11-f"/>
          <p:cNvSpPr/>
          <p:nvPr/>
        </p:nvSpPr>
        <p:spPr>
          <a:xfrm xmlns:a="http://schemas.openxmlformats.org/drawingml/2006/main">
            <a:off x="7056000" y="4284000"/>
            <a:ext cx="3456000" cy="1728000"/>
          </a:xfrm>
          <a:prstGeom xmlns:a="http://schemas.openxmlformats.org/drawingml/2006/main" prst="roundRect">
            <a:avLst/>
          </a:prstGeom>
          <a:noFill xmlns:a="http://schemas.openxmlformats.org/drawingml/2006/main"/>
          <a:ln xmlns:a="http://schemas.openxmlformats.org/drawingml/2006/main" w="25400">
            <a:solidFill>
              <a:srgbClr val="00FF88"/>
            </a:solidFill>
          </a:ln>
        </p:spPr>
        <p:txBody>
          <a:bodyPr xmlns:a="http://schemas.openxmlformats.org/drawingml/2006/main"/>
          <a:lstStyle xmlns:a="http://schemas.openxmlformats.org/drawingml/2006/main"/>
          <a:p xmlns:a="http://schemas.openxmlformats.org/drawingml/2006/main"/>
        </p:txBody>
      </p:sp>
      <p:sp>
        <p:nvSpPr>
          <p:cNvPr id="100282" name="!!#s11-fl"/>
          <p:cNvSpPr txBox="1"/>
          <p:nvPr/>
        </p:nvSpPr>
        <p:spPr>
          <a:xfrm xmlns:a="http://schemas.openxmlformats.org/drawingml/2006/main">
            <a:off x="7200000" y="4356000"/>
            <a:ext cx="216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00FF88"/>
                </a:solidFill>
                <a:latin typeface="Segoe UI"/>
                <a:ea typeface="Segoe UI"/>
              </a:rPr>
              <a:t>fn square</a:t>
            </a:r>
          </a:p>
        </p:txBody>
      </p:sp>
      <p:sp>
        <p:nvSpPr>
          <p:cNvPr id="100283" name="!!#s11-fc"/>
          <p:cNvSpPr/>
          <p:nvPr/>
        </p:nvSpPr>
        <p:spPr>
          <a:xfrm xmlns:a="http://schemas.openxmlformats.org/drawingml/2006/main">
            <a:off x="7236000" y="4932000"/>
            <a:ext cx="2376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FBBF24"/>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n : unknown</a:t>
            </a:r>
          </a:p>
        </p:txBody>
      </p:sp>
      <p:sp>
        <p:nvSpPr>
          <p:cNvPr id="100284" name="!!#s11-fn"/>
          <p:cNvSpPr txBox="1"/>
          <p:nvPr/>
        </p:nvSpPr>
        <p:spPr>
          <a:xfrm xmlns:a="http://schemas.openxmlformats.org/drawingml/2006/main">
            <a:off x="7200000" y="5400000"/>
            <a:ext cx="3240000" cy="5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400" b="0">
                <a:solidFill>
                  <a:srgbClr val="FBBF24"/>
                </a:solidFill>
                <a:latin typeface="Segoe UI"/>
                <a:ea typeface="Segoe UI"/>
              </a:rPr>
              <a:t>checked at run time (Rice)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2.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285" name="!!scene-orb1"/>
          <p:cNvSpPr/>
          <p:nvPr/>
        </p:nvSpPr>
        <p:spPr>
          <a:xfrm xmlns:a="http://schemas.openxmlformats.org/drawingml/2006/main">
            <a:off x="7920000" y="-14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286" name="!!scene-orb2"/>
          <p:cNvSpPr/>
          <p:nvPr/>
        </p:nvSpPr>
        <p:spPr>
          <a:xfrm xmlns:a="http://schemas.openxmlformats.org/drawingml/2006/main">
            <a:off x="-1080000" y="360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287" name="!!scene-ring"/>
          <p:cNvSpPr/>
          <p:nvPr/>
        </p:nvSpPr>
        <p:spPr>
          <a:xfrm xmlns:a="http://schemas.openxmlformats.org/drawingml/2006/main">
            <a:off x="183600" y="1371600"/>
            <a:ext cx="3445200" cy="3445200"/>
          </a:xfrm>
          <a:prstGeom xmlns:a="http://schemas.openxmlformats.org/drawingml/2006/main" prst="blockArc">
            <a:avLst>
              <a:gd name="adj1" fmla="val 2100000"/>
              <a:gd name="adj2" fmla="val 3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288" name="!!scene-p4"/>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4</a:t>
            </a:r>
          </a:p>
        </p:txBody>
      </p:sp>
      <p:sp>
        <p:nvSpPr>
          <p:cNvPr id="100289"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290"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291"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292"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293"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294"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295" name="!!#s12-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4 · TRANSLATION</a:t>
            </a:r>
          </a:p>
        </p:txBody>
      </p:sp>
      <p:sp>
        <p:nvSpPr>
          <p:cNvPr id="100296" name="!!#s12-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IR Generation</a:t>
            </a:r>
          </a:p>
        </p:txBody>
      </p:sp>
      <p:sp>
        <p:nvSpPr>
          <p:cNvPr id="100297" name="!!#s12-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One translation rule per AST node, applied in post-order</a:t>
            </a:r>
          </a:p>
          <a:p xmlns:a="http://schemas.openxmlformats.org/drawingml/2006/main">
            <a:pPr algn="l">
              <a:spcAft>
                <a:spcPts val="600"/>
              </a:spcAft>
            </a:pPr>
            <a:r>
              <a:rPr lang="en-US" sz="1800" b="0">
                <a:solidFill>
                  <a:srgbClr val="D1FAE5"/>
                </a:solidFill>
                <a:latin typeface="Segoe UI"/>
                <a:ea typeface="Segoe UI"/>
              </a:rPr>
              <a:t>▸  Operands are pushed before the operator — exactly what a stack machine needs</a:t>
            </a:r>
          </a:p>
          <a:p xmlns:a="http://schemas.openxmlformats.org/drawingml/2006/main">
            <a:pPr algn="l">
              <a:spcAft>
                <a:spcPts val="600"/>
              </a:spcAft>
            </a:pPr>
            <a:r>
              <a:rPr lang="en-US" sz="1800" b="0">
                <a:solidFill>
                  <a:srgbClr val="D1FAE5"/>
                </a:solidFill>
                <a:latin typeface="Segoe UI"/>
                <a:ea typeface="Segoe UI"/>
              </a:rPr>
              <a:t>▸  for → while desugaring; forward jumps emitted as “?” and backpatched</a:t>
            </a:r>
          </a:p>
        </p:txBody>
      </p:sp>
      <p:sp>
        <p:nvSpPr>
          <p:cNvPr id="100298" name="!!#s12-plus"/>
          <p:cNvSpPr/>
          <p:nvPr/>
        </p:nvSpPr>
        <p:spPr>
          <a:xfrm xmlns:a="http://schemas.openxmlformats.org/drawingml/2006/main">
            <a:off x="4716000" y="3780000"/>
            <a:ext cx="720000" cy="72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2400">
                <a:solidFill>
                  <a:srgbClr val="00140A"/>
                </a:solidFill>
                <a:latin typeface="Arial Black"/>
                <a:ea typeface="Arial Black"/>
              </a:rPr>
              <a:t>+</a:t>
            </a:r>
          </a:p>
        </p:txBody>
      </p:sp>
      <p:sp>
        <p:nvSpPr>
          <p:cNvPr id="100299" name="!!#s12-one"/>
          <p:cNvSpPr/>
          <p:nvPr/>
        </p:nvSpPr>
        <p:spPr>
          <a:xfrm xmlns:a="http://schemas.openxmlformats.org/drawingml/2006/main">
            <a:off x="4140000" y="5076000"/>
            <a:ext cx="648000" cy="648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5EEAD4"/>
            </a:solidFill>
          </a:ln>
        </p:spPr>
        <p:txBody>
          <a:bodyPr xmlns:a="http://schemas.openxmlformats.org/drawingml/2006/main" anchor="ctr"/>
          <a:lstStyle xmlns:a="http://schemas.openxmlformats.org/drawingml/2006/main"/>
          <a:p xmlns:a="http://schemas.openxmlformats.org/drawingml/2006/main">
            <a:pPr algn="ctr"/>
            <a:r>
              <a:rPr lang="en-US" sz="1800">
                <a:solidFill>
                  <a:srgbClr val="FFFFFF"/>
                </a:solidFill>
                <a:latin typeface="Arial Black"/>
                <a:ea typeface="Arial Black"/>
              </a:rPr>
              <a:t>1</a:t>
            </a:r>
          </a:p>
        </p:txBody>
      </p:sp>
      <p:sp>
        <p:nvSpPr>
          <p:cNvPr id="100300" name="!!#s12-two"/>
          <p:cNvSpPr/>
          <p:nvPr/>
        </p:nvSpPr>
        <p:spPr>
          <a:xfrm xmlns:a="http://schemas.openxmlformats.org/drawingml/2006/main">
            <a:off x="5364000" y="5076000"/>
            <a:ext cx="648000" cy="648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5EEAD4"/>
            </a:solidFill>
          </a:ln>
        </p:spPr>
        <p:txBody>
          <a:bodyPr xmlns:a="http://schemas.openxmlformats.org/drawingml/2006/main" anchor="ctr"/>
          <a:lstStyle xmlns:a="http://schemas.openxmlformats.org/drawingml/2006/main"/>
          <a:p xmlns:a="http://schemas.openxmlformats.org/drawingml/2006/main">
            <a:pPr algn="ctr"/>
            <a:r>
              <a:rPr lang="en-US" sz="1800">
                <a:solidFill>
                  <a:srgbClr val="FFFFFF"/>
                </a:solidFill>
                <a:latin typeface="Arial Black"/>
                <a:ea typeface="Arial Black"/>
              </a:rPr>
              <a:t>2</a:t>
            </a:r>
          </a:p>
        </p:txBody>
      </p:sp>
      <p:cxnSp>
        <p:nvCxnSpPr>
          <p:cNvPr id="100301" name="Connector 1"/>
          <p:cNvCxnSpPr>
            <a:stCxn xmlns:a="http://schemas.openxmlformats.org/drawingml/2006/main" id="100298" idx="0"/>
            <a:endCxn xmlns:a="http://schemas.openxmlformats.org/drawingml/2006/main" id="100299" idx="0"/>
          </p:cNvCxnSpPr>
          <p:nvPr/>
        </p:nvCxnSpPr>
        <p:spPr>
          <a:xfrm xmlns:a="http://schemas.openxmlformats.org/drawingml/2006/main" flipH="1">
            <a:off x="4464000" y="4500000"/>
            <a:ext cx="612000" cy="576000"/>
          </a:xfrm>
          <a:prstGeom xmlns:a="http://schemas.openxmlformats.org/drawingml/2006/main" prst="straightConnector1">
            <a:avLst/>
          </a:prstGeom>
          <a:ln xmlns:a="http://schemas.openxmlformats.org/drawingml/2006/main" w="25400">
            <a:solidFill>
              <a:srgbClr val="D1FAE5"/>
            </a:solidFill>
            <a:tailEnd type="triangle"/>
          </a:ln>
        </p:spPr>
      </p:cxnSp>
      <p:cxnSp>
        <p:nvCxnSpPr>
          <p:cNvPr id="100302" name="Connector 2"/>
          <p:cNvCxnSpPr>
            <a:stCxn xmlns:a="http://schemas.openxmlformats.org/drawingml/2006/main" id="100298" idx="0"/>
            <a:endCxn xmlns:a="http://schemas.openxmlformats.org/drawingml/2006/main" id="100300" idx="0"/>
          </p:cNvCxnSpPr>
          <p:nvPr/>
        </p:nvCxnSpPr>
        <p:spPr>
          <a:xfrm xmlns:a="http://schemas.openxmlformats.org/drawingml/2006/main">
            <a:off x="5076000" y="4500000"/>
            <a:ext cx="612000" cy="576000"/>
          </a:xfrm>
          <a:prstGeom xmlns:a="http://schemas.openxmlformats.org/drawingml/2006/main" prst="straightConnector1">
            <a:avLst/>
          </a:prstGeom>
          <a:ln xmlns:a="http://schemas.openxmlformats.org/drawingml/2006/main" w="25400">
            <a:solidFill>
              <a:srgbClr val="D1FAE5"/>
            </a:solidFill>
            <a:tailEnd type="triangle"/>
          </a:ln>
        </p:spPr>
      </p:cxnSp>
      <p:sp>
        <p:nvSpPr>
          <p:cNvPr id="100303" name="!!#s12-i0"/>
          <p:cNvSpPr/>
          <p:nvPr/>
        </p:nvSpPr>
        <p:spPr>
          <a:xfrm xmlns:a="http://schemas.openxmlformats.org/drawingml/2006/main">
            <a:off x="6840000" y="3744000"/>
            <a:ext cx="3816000" cy="486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LOAD_CONST  1</a:t>
            </a:r>
          </a:p>
        </p:txBody>
      </p:sp>
      <p:sp>
        <p:nvSpPr>
          <p:cNvPr id="100304" name="!!#s12-i1"/>
          <p:cNvSpPr/>
          <p:nvPr/>
        </p:nvSpPr>
        <p:spPr>
          <a:xfrm xmlns:a="http://schemas.openxmlformats.org/drawingml/2006/main">
            <a:off x="6840000" y="4338000"/>
            <a:ext cx="3816000" cy="486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LOAD_CONST  2</a:t>
            </a:r>
          </a:p>
        </p:txBody>
      </p:sp>
      <p:sp>
        <p:nvSpPr>
          <p:cNvPr id="100305" name="!!#s12-i2"/>
          <p:cNvSpPr/>
          <p:nvPr/>
        </p:nvSpPr>
        <p:spPr>
          <a:xfrm xmlns:a="http://schemas.openxmlformats.org/drawingml/2006/main">
            <a:off x="6840000" y="4932000"/>
            <a:ext cx="3816000" cy="486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l"/>
            <a:r>
              <a:rPr lang="en-US" sz="1800" b="0">
                <a:solidFill>
                  <a:srgbClr val="00140A"/>
                </a:solidFill>
                <a:latin typeface="Consolas"/>
                <a:ea typeface="Consolas"/>
              </a:rPr>
              <a:t>BINARY_OP   +</a:t>
            </a:r>
          </a:p>
        </p:txBody>
      </p:sp>
      <p:sp>
        <p:nvSpPr>
          <p:cNvPr id="100306" name="!!#s12-i3"/>
          <p:cNvSpPr/>
          <p:nvPr/>
        </p:nvSpPr>
        <p:spPr>
          <a:xfrm xmlns:a="http://schemas.openxmlformats.org/drawingml/2006/main">
            <a:off x="6840000" y="5526000"/>
            <a:ext cx="3816000" cy="486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STORE_FAST  limit</a:t>
            </a:r>
          </a:p>
        </p:txBody>
      </p:sp>
      <p:sp>
        <p:nvSpPr>
          <p:cNvPr id="100307" name="!!#s12-cap"/>
          <p:cNvSpPr txBox="1"/>
          <p:nvPr/>
        </p:nvSpPr>
        <p:spPr>
          <a:xfrm xmlns:a="http://schemas.openxmlformats.org/drawingml/2006/main">
            <a:off x="4032000" y="5868000"/>
            <a:ext cx="27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400" b="0">
                <a:solidFill>
                  <a:srgbClr val="D1FAE5"/>
                </a:solidFill>
                <a:latin typeface="Segoe UI"/>
                <a:ea typeface="Segoe UI"/>
              </a:rPr>
              <a:t>children first, then the node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3.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308" name="!!scene-orb1"/>
          <p:cNvSpPr/>
          <p:nvPr/>
        </p:nvSpPr>
        <p:spPr>
          <a:xfrm xmlns:a="http://schemas.openxmlformats.org/drawingml/2006/main">
            <a:off x="3600000" y="32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309" name="!!scene-orb2"/>
          <p:cNvSpPr/>
          <p:nvPr/>
        </p:nvSpPr>
        <p:spPr>
          <a:xfrm xmlns:a="http://schemas.openxmlformats.org/drawingml/2006/main">
            <a:off x="9720000" y="-108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310" name="!!scene-ring"/>
          <p:cNvSpPr/>
          <p:nvPr/>
        </p:nvSpPr>
        <p:spPr>
          <a:xfrm xmlns:a="http://schemas.openxmlformats.org/drawingml/2006/main">
            <a:off x="183600" y="1371600"/>
            <a:ext cx="3445200" cy="3445200"/>
          </a:xfrm>
          <a:prstGeom xmlns:a="http://schemas.openxmlformats.org/drawingml/2006/main" prst="blockArc">
            <a:avLst>
              <a:gd name="adj1" fmla="val 4800000"/>
              <a:gd name="adj2" fmla="val 30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311" name="!!scene-p5"/>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5</a:t>
            </a:r>
          </a:p>
        </p:txBody>
      </p:sp>
      <p:sp>
        <p:nvSpPr>
          <p:cNvPr id="100312"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313"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314"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315"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4</a:t>
            </a:r>
          </a:p>
        </p:txBody>
      </p:sp>
      <p:sp>
        <p:nvSpPr>
          <p:cNvPr id="100316"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317"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318" name="!!#s13-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5 · FLOW GRAPH</a:t>
            </a:r>
          </a:p>
        </p:txBody>
      </p:sp>
      <p:sp>
        <p:nvSpPr>
          <p:cNvPr id="100319" name="!!#s13-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Optimization</a:t>
            </a:r>
          </a:p>
        </p:txBody>
      </p:sp>
      <p:sp>
        <p:nvSpPr>
          <p:cNvPr id="100320" name="!!#s13-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Leaders → basic blocks → edges; rewrite rules run to a fixpoint</a:t>
            </a:r>
          </a:p>
          <a:p xmlns:a="http://schemas.openxmlformats.org/drawingml/2006/main">
            <a:pPr algn="l">
              <a:spcAft>
                <a:spcPts val="600"/>
              </a:spcAft>
            </a:pPr>
            <a:r>
              <a:rPr lang="en-US" sz="1800" b="0">
                <a:solidFill>
                  <a:srgbClr val="D1FAE5"/>
                </a:solidFill>
                <a:latin typeface="Segoe UI"/>
                <a:ea typeface="Segoe UI"/>
              </a:rPr>
              <a:t>▸  Constant folding, propagation, branch folding, dead-code removal, peephole</a:t>
            </a:r>
          </a:p>
          <a:p xmlns:a="http://schemas.openxmlformats.org/drawingml/2006/main">
            <a:pPr algn="l">
              <a:spcAft>
                <a:spcPts val="600"/>
              </a:spcAft>
            </a:pPr>
            <a:r>
              <a:rPr lang="en-US" sz="1800" b="0">
                <a:solidFill>
                  <a:srgbClr val="D1FAE5"/>
                </a:solidFill>
                <a:latin typeface="Segoe UI"/>
                <a:ea typeface="Segoe UI"/>
              </a:rPr>
              <a:t>▸  Rice's theorem: only provably dead code (no path) goes — 47 → 40 instructions</a:t>
            </a:r>
          </a:p>
        </p:txBody>
      </p:sp>
      <p:sp>
        <p:nvSpPr>
          <p:cNvPr id="100321" name="!!#s13-b0"/>
          <p:cNvSpPr/>
          <p:nvPr/>
        </p:nvSpPr>
        <p:spPr>
          <a:xfrm xmlns:a="http://schemas.openxmlformats.org/drawingml/2006/main">
            <a:off x="4104000" y="3744000"/>
            <a:ext cx="2880000" cy="648000"/>
          </a:xfrm>
          <a:prstGeom xmlns:a="http://schemas.openxmlformats.org/drawingml/2006/main" prst="roundRect">
            <a:avLst/>
          </a:prstGeom>
          <a:solidFill xmlns:a="http://schemas.openxmlformats.org/drawingml/2006/main">
            <a:srgbClr val="03200E"/>
          </a:solidFill>
          <a:ln xmlns:a="http://schemas.openxmlformats.org/drawingml/2006/main" w="25400">
            <a:solidFill>
              <a:srgbClr val="5EEAD4"/>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B0   limit = 3</a:t>
            </a:r>
          </a:p>
        </p:txBody>
      </p:sp>
      <p:sp>
        <p:nvSpPr>
          <p:cNvPr id="100322" name="!!#s13-b1"/>
          <p:cNvSpPr/>
          <p:nvPr/>
        </p:nvSpPr>
        <p:spPr>
          <a:xfrm xmlns:a="http://schemas.openxmlformats.org/drawingml/2006/main">
            <a:off x="4104000" y="5436000"/>
            <a:ext cx="2880000" cy="648000"/>
          </a:xfrm>
          <a:prstGeom xmlns:a="http://schemas.openxmlformats.org/drawingml/2006/main" prst="roundRect">
            <a:avLst/>
          </a:prstGeom>
          <a:solidFill xmlns:a="http://schemas.openxmlformats.org/drawingml/2006/main">
            <a:srgbClr val="03200E"/>
          </a:solidFill>
          <a:ln xmlns:a="http://schemas.openxmlformats.org/drawingml/2006/main" w="25400">
            <a:solidFill>
              <a:srgbClr val="5EEAD4"/>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B1   print names[1]</a:t>
            </a:r>
          </a:p>
        </p:txBody>
      </p:sp>
      <p:sp>
        <p:nvSpPr>
          <p:cNvPr id="100323" name="!!#s13-b2"/>
          <p:cNvSpPr/>
          <p:nvPr/>
        </p:nvSpPr>
        <p:spPr>
          <a:xfrm xmlns:a="http://schemas.openxmlformats.org/drawingml/2006/main">
            <a:off x="7776000" y="4608000"/>
            <a:ext cx="2952000" cy="648000"/>
          </a:xfrm>
          <a:prstGeom xmlns:a="http://schemas.openxmlformats.org/drawingml/2006/main" prst="roundRect">
            <a:avLst/>
          </a:prstGeom>
          <a:solidFill xmlns:a="http://schemas.openxmlformats.org/drawingml/2006/main">
            <a:srgbClr val="2A2A2A"/>
          </a:solidFill>
          <a:ln xmlns:a="http://schemas.openxmlformats.org/drawingml/2006/main" w="25400">
            <a:solidFill>
              <a:srgbClr val="FBBF24"/>
            </a:solidFill>
            <a:prstDash val="dash"/>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B2   print "never"</a:t>
            </a:r>
          </a:p>
        </p:txBody>
      </p:sp>
      <p:cxnSp>
        <p:nvCxnSpPr>
          <p:cNvPr id="100324" name="Connector 1"/>
          <p:cNvCxnSpPr>
            <a:stCxn xmlns:a="http://schemas.openxmlformats.org/drawingml/2006/main" id="100321" idx="0"/>
            <a:endCxn xmlns:a="http://schemas.openxmlformats.org/drawingml/2006/main" id="100322" idx="0"/>
          </p:cNvCxnSpPr>
          <p:nvPr/>
        </p:nvCxnSpPr>
        <p:spPr>
          <a:xfrm xmlns:a="http://schemas.openxmlformats.org/drawingml/2006/main">
            <a:off x="5544000" y="4392000"/>
            <a:ext cx="0" cy="1044000"/>
          </a:xfrm>
          <a:prstGeom xmlns:a="http://schemas.openxmlformats.org/drawingml/2006/main" prst="straightConnector1">
            <a:avLst/>
          </a:prstGeom>
          <a:ln xmlns:a="http://schemas.openxmlformats.org/drawingml/2006/main" w="25400">
            <a:solidFill>
              <a:srgbClr val="5EEAD4"/>
            </a:solidFill>
            <a:tailEnd type="triangle"/>
          </a:ln>
        </p:spPr>
      </p:cxnSp>
      <p:cxnSp>
        <p:nvCxnSpPr>
          <p:cNvPr id="100325" name="Connector 2"/>
          <p:cNvCxnSpPr>
            <a:stCxn xmlns:a="http://schemas.openxmlformats.org/drawingml/2006/main" id="100321" idx="0"/>
            <a:endCxn xmlns:a="http://schemas.openxmlformats.org/drawingml/2006/main" id="100323" idx="0"/>
          </p:cNvCxnSpPr>
          <p:nvPr/>
        </p:nvCxnSpPr>
        <p:spPr>
          <a:xfrm xmlns:a="http://schemas.openxmlformats.org/drawingml/2006/main">
            <a:off x="6984000" y="4068000"/>
            <a:ext cx="792000" cy="864000"/>
          </a:xfrm>
          <a:prstGeom xmlns:a="http://schemas.openxmlformats.org/drawingml/2006/main" prst="straightConnector1">
            <a:avLst/>
          </a:prstGeom>
          <a:ln xmlns:a="http://schemas.openxmlformats.org/drawingml/2006/main" w="25400">
            <a:solidFill>
              <a:srgbClr val="FBBF24"/>
            </a:solidFill>
            <a:prstDash val="dash"/>
            <a:tailEnd type="triangle"/>
          </a:ln>
        </p:spPr>
      </p:cxnSp>
      <p:sp>
        <p:nvSpPr>
          <p:cNvPr id="100326" name="!!#s13-dead"/>
          <p:cNvSpPr txBox="1"/>
          <p:nvPr/>
        </p:nvSpPr>
        <p:spPr>
          <a:xfrm xmlns:a="http://schemas.openxmlformats.org/drawingml/2006/main">
            <a:off x="7776000" y="5328000"/>
            <a:ext cx="295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FBBF24"/>
                </a:solidFill>
                <a:latin typeface="Segoe UI"/>
                <a:ea typeface="Segoe UI"/>
              </a:rPr>
              <a:t>no path → removed</a:t>
            </a:r>
          </a:p>
        </p:txBody>
      </p:sp>
      <p:sp>
        <p:nvSpPr>
          <p:cNvPr id="100327" name="!!#s13-fold"/>
          <p:cNvSpPr/>
          <p:nvPr/>
        </p:nvSpPr>
        <p:spPr>
          <a:xfrm xmlns:a="http://schemas.openxmlformats.org/drawingml/2006/main">
            <a:off x="7776000" y="3744000"/>
            <a:ext cx="2952000" cy="540000"/>
          </a:xfrm>
          <a:prstGeom xmlns:a="http://schemas.openxmlformats.org/drawingml/2006/main" prst="roundRect">
            <a:avLst/>
          </a:prstGeom>
          <a:solidFill xmlns:a="http://schemas.openxmlformats.org/drawingml/2006/main">
            <a:srgbClr val="00FF88"/>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00140A"/>
                </a:solidFill>
                <a:latin typeface="Consolas"/>
                <a:ea typeface="Consolas"/>
              </a:rPr>
              <a:t>1 + 2   ⟶   3</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4.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328" name="!!scene-orb1"/>
          <p:cNvSpPr/>
          <p:nvPr/>
        </p:nvSpPr>
        <p:spPr>
          <a:xfrm xmlns:a="http://schemas.openxmlformats.org/drawingml/2006/main">
            <a:off x="9360000" y="216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329" name="!!scene-orb2"/>
          <p:cNvSpPr/>
          <p:nvPr/>
        </p:nvSpPr>
        <p:spPr>
          <a:xfrm xmlns:a="http://schemas.openxmlformats.org/drawingml/2006/main">
            <a:off x="1440000" y="432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330" name="!!scene-ring"/>
          <p:cNvSpPr/>
          <p:nvPr/>
        </p:nvSpPr>
        <p:spPr>
          <a:xfrm xmlns:a="http://schemas.openxmlformats.org/drawingml/2006/main">
            <a:off x="183600" y="1371600"/>
            <a:ext cx="3445200" cy="3445200"/>
          </a:xfrm>
          <a:prstGeom xmlns:a="http://schemas.openxmlformats.org/drawingml/2006/main" prst="blockArc">
            <a:avLst>
              <a:gd name="adj1" fmla="val 7500000"/>
              <a:gd name="adj2" fmla="val 57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331" name="!!scene-p6"/>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6</a:t>
            </a:r>
          </a:p>
        </p:txBody>
      </p:sp>
      <p:sp>
        <p:nvSpPr>
          <p:cNvPr id="100332"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333"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334"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335"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4</a:t>
            </a:r>
          </a:p>
        </p:txBody>
      </p:sp>
      <p:sp>
        <p:nvSpPr>
          <p:cNvPr id="100336"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5</a:t>
            </a:r>
          </a:p>
        </p:txBody>
      </p:sp>
      <p:sp>
        <p:nvSpPr>
          <p:cNvPr id="100337"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338" name="!!#s14-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6 · WORDCODE</a:t>
            </a:r>
          </a:p>
        </p:txBody>
      </p:sp>
      <p:sp>
        <p:nvSpPr>
          <p:cNvPr id="100339" name="!!#s14-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Bytecode Emission</a:t>
            </a:r>
          </a:p>
        </p:txBody>
      </p:sp>
      <p:sp>
        <p:nvSpPr>
          <p:cNvPr id="100340" name="!!#s14-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Every instruction = 2 bytes (opcode, argument), like CPython 3.12</a:t>
            </a:r>
          </a:p>
          <a:p xmlns:a="http://schemas.openxmlformats.org/drawingml/2006/main">
            <a:pPr algn="l">
              <a:spcAft>
                <a:spcPts val="600"/>
              </a:spcAft>
            </a:pPr>
            <a:r>
              <a:rPr lang="en-US" sz="1800" b="0">
                <a:solidFill>
                  <a:srgbClr val="D1FAE5"/>
                </a:solidFill>
                <a:latin typeface="Segoe UI"/>
                <a:ea typeface="Segoe UI"/>
              </a:rPr>
              <a:t>▸  Labels → relative jumps; EXTENDED_ARG sizes settle at a fixpoint</a:t>
            </a:r>
          </a:p>
          <a:p xmlns:a="http://schemas.openxmlformats.org/drawingml/2006/main">
            <a:pPr algn="l">
              <a:spcAft>
                <a:spcPts val="600"/>
              </a:spcAft>
            </a:pPr>
            <a:r>
              <a:rPr lang="en-US" sz="1800" b="0">
                <a:solidFill>
                  <a:srgbClr val="D1FAE5"/>
                </a:solidFill>
                <a:latin typeface="Segoe UI"/>
                <a:ea typeface="Segoe UI"/>
              </a:rPr>
              <a:t>▸  co_consts, co_names, co_varnames + a line table; a dis-style listing</a:t>
            </a:r>
          </a:p>
        </p:txBody>
      </p:sp>
      <p:sp>
        <p:nvSpPr>
          <p:cNvPr id="100341" name="!!#s14-ins"/>
          <p:cNvSpPr txBox="1"/>
          <p:nvPr/>
        </p:nvSpPr>
        <p:spPr>
          <a:xfrm xmlns:a="http://schemas.openxmlformats.org/drawingml/2006/main">
            <a:off x="4104000" y="3708000"/>
            <a:ext cx="648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200" b="1">
                <a:solidFill>
                  <a:srgbClr val="FFFFFF"/>
                </a:solidFill>
                <a:latin typeface="Consolas"/>
                <a:ea typeface="Consolas"/>
              </a:rPr>
              <a:t>POP_JUMP_IF_FALSE   L_else</a:t>
            </a:r>
          </a:p>
        </p:txBody>
      </p:sp>
      <p:sp>
        <p:nvSpPr>
          <p:cNvPr id="100342" name="!!#s14-off"/>
          <p:cNvSpPr txBox="1"/>
          <p:nvPr/>
        </p:nvSpPr>
        <p:spPr>
          <a:xfrm xmlns:a="http://schemas.openxmlformats.org/drawingml/2006/main">
            <a:off x="4104000" y="4248000"/>
            <a:ext cx="648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5EEAD4"/>
                </a:solidFill>
                <a:latin typeface="Segoe UI"/>
                <a:ea typeface="Segoe UI"/>
              </a:rPr>
              <a:t>↓   L_else is 3 instructions ahead  →  +3</a:t>
            </a:r>
          </a:p>
        </p:txBody>
      </p:sp>
      <p:sp>
        <p:nvSpPr>
          <p:cNvPr id="100343" name="!!#s14-by0"/>
          <p:cNvSpPr/>
          <p:nvPr/>
        </p:nvSpPr>
        <p:spPr>
          <a:xfrm xmlns:a="http://schemas.openxmlformats.org/drawingml/2006/main">
            <a:off x="4104000" y="4932000"/>
            <a:ext cx="720000" cy="72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20</a:t>
            </a:r>
          </a:p>
        </p:txBody>
      </p:sp>
      <p:sp>
        <p:nvSpPr>
          <p:cNvPr id="100344" name="!!#s14-by1"/>
          <p:cNvSpPr/>
          <p:nvPr/>
        </p:nvSpPr>
        <p:spPr>
          <a:xfrm xmlns:a="http://schemas.openxmlformats.org/drawingml/2006/main">
            <a:off x="4932000" y="4932000"/>
            <a:ext cx="720000" cy="72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00</a:t>
            </a:r>
          </a:p>
        </p:txBody>
      </p:sp>
      <p:sp>
        <p:nvSpPr>
          <p:cNvPr id="100345" name="!!#s14-by2"/>
          <p:cNvSpPr/>
          <p:nvPr/>
        </p:nvSpPr>
        <p:spPr>
          <a:xfrm xmlns:a="http://schemas.openxmlformats.org/drawingml/2006/main">
            <a:off x="5760000" y="4932000"/>
            <a:ext cx="720000" cy="720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1">
                <a:solidFill>
                  <a:srgbClr val="00140A"/>
                </a:solidFill>
                <a:latin typeface="Consolas"/>
                <a:ea typeface="Consolas"/>
              </a:rPr>
              <a:t>2C</a:t>
            </a:r>
          </a:p>
        </p:txBody>
      </p:sp>
      <p:sp>
        <p:nvSpPr>
          <p:cNvPr id="100346" name="!!#s14-by3"/>
          <p:cNvSpPr/>
          <p:nvPr/>
        </p:nvSpPr>
        <p:spPr>
          <a:xfrm xmlns:a="http://schemas.openxmlformats.org/drawingml/2006/main">
            <a:off x="6588000" y="4932000"/>
            <a:ext cx="720000" cy="720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1">
                <a:solidFill>
                  <a:srgbClr val="00140A"/>
                </a:solidFill>
                <a:latin typeface="Consolas"/>
                <a:ea typeface="Consolas"/>
              </a:rPr>
              <a:t>03</a:t>
            </a:r>
          </a:p>
        </p:txBody>
      </p:sp>
      <p:sp>
        <p:nvSpPr>
          <p:cNvPr id="100347" name="!!#s14-by4"/>
          <p:cNvSpPr/>
          <p:nvPr/>
        </p:nvSpPr>
        <p:spPr>
          <a:xfrm xmlns:a="http://schemas.openxmlformats.org/drawingml/2006/main">
            <a:off x="7416000" y="4932000"/>
            <a:ext cx="720000" cy="72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06</a:t>
            </a:r>
          </a:p>
        </p:txBody>
      </p:sp>
      <p:sp>
        <p:nvSpPr>
          <p:cNvPr id="100348" name="!!#s14-by5"/>
          <p:cNvSpPr/>
          <p:nvPr/>
        </p:nvSpPr>
        <p:spPr>
          <a:xfrm xmlns:a="http://schemas.openxmlformats.org/drawingml/2006/main">
            <a:off x="8244000" y="4932000"/>
            <a:ext cx="720000" cy="72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00</a:t>
            </a:r>
          </a:p>
        </p:txBody>
      </p:sp>
      <p:sp>
        <p:nvSpPr>
          <p:cNvPr id="100349" name="!!#s14-by6"/>
          <p:cNvSpPr/>
          <p:nvPr/>
        </p:nvSpPr>
        <p:spPr>
          <a:xfrm xmlns:a="http://schemas.openxmlformats.org/drawingml/2006/main">
            <a:off x="9072000" y="4932000"/>
            <a:ext cx="720000" cy="72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05</a:t>
            </a:r>
          </a:p>
        </p:txBody>
      </p:sp>
      <p:sp>
        <p:nvSpPr>
          <p:cNvPr id="100350" name="!!#s14-by7"/>
          <p:cNvSpPr/>
          <p:nvPr/>
        </p:nvSpPr>
        <p:spPr>
          <a:xfrm xmlns:a="http://schemas.openxmlformats.org/drawingml/2006/main">
            <a:off x="9900000" y="4932000"/>
            <a:ext cx="720000" cy="720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00</a:t>
            </a:r>
          </a:p>
        </p:txBody>
      </p:sp>
      <p:sp>
        <p:nvSpPr>
          <p:cNvPr id="100351" name="!!#s14-cap"/>
          <p:cNvSpPr txBox="1"/>
          <p:nvPr/>
        </p:nvSpPr>
        <p:spPr>
          <a:xfrm xmlns:a="http://schemas.openxmlformats.org/drawingml/2006/main">
            <a:off x="4104000" y="5868000"/>
            <a:ext cx="648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opcode · arg   —   2 bytes per instruction</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5.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352" name="!!scene-orb1"/>
          <p:cNvSpPr/>
          <p:nvPr/>
        </p:nvSpPr>
        <p:spPr>
          <a:xfrm xmlns:a="http://schemas.openxmlformats.org/drawingml/2006/main">
            <a:off x="6480000" y="-10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353" name="!!scene-orb2"/>
          <p:cNvSpPr/>
          <p:nvPr/>
        </p:nvSpPr>
        <p:spPr>
          <a:xfrm xmlns:a="http://schemas.openxmlformats.org/drawingml/2006/main">
            <a:off x="-1080000" y="396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354" name="!!scene-ring"/>
          <p:cNvSpPr/>
          <p:nvPr/>
        </p:nvSpPr>
        <p:spPr>
          <a:xfrm xmlns:a="http://schemas.openxmlformats.org/drawingml/2006/main">
            <a:off x="183600" y="1371600"/>
            <a:ext cx="3445200" cy="3445200"/>
          </a:xfrm>
          <a:prstGeom xmlns:a="http://schemas.openxmlformats.org/drawingml/2006/main" prst="blockArc">
            <a:avLst>
              <a:gd name="adj1" fmla="val 10200000"/>
              <a:gd name="adj2" fmla="val 84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355" name="!!scene-p7"/>
          <p:cNvSpPr/>
          <p:nvPr/>
        </p:nvSpPr>
        <p:spPr>
          <a:xfrm xmlns:a="http://schemas.openxmlformats.org/drawingml/2006/main">
            <a:off x="576000" y="1764000"/>
            <a:ext cx="2664000" cy="2664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9600">
                <a:solidFill>
                  <a:srgbClr val="00140A"/>
                </a:solidFill>
                <a:latin typeface="Arial Black"/>
                <a:ea typeface="Arial Black"/>
              </a:rPr>
              <a:t>7</a:t>
            </a:r>
          </a:p>
        </p:txBody>
      </p:sp>
      <p:sp>
        <p:nvSpPr>
          <p:cNvPr id="100356"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357"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358"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359"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4</a:t>
            </a:r>
          </a:p>
        </p:txBody>
      </p:sp>
      <p:sp>
        <p:nvSpPr>
          <p:cNvPr id="100360"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5</a:t>
            </a:r>
          </a:p>
        </p:txBody>
      </p:sp>
      <p:sp>
        <p:nvSpPr>
          <p:cNvPr id="100361"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6</a:t>
            </a:r>
          </a:p>
        </p:txBody>
      </p:sp>
      <p:sp>
        <p:nvSpPr>
          <p:cNvPr id="100362" name="!!#s15-kicker"/>
          <p:cNvSpPr txBox="1"/>
          <p:nvPr/>
        </p:nvSpPr>
        <p:spPr>
          <a:xfrm xmlns:a="http://schemas.openxmlformats.org/drawingml/2006/main">
            <a:off x="4032000" y="216000"/>
            <a:ext cx="3888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PHASE 7 · UNIVERSAL MACHINE</a:t>
            </a:r>
          </a:p>
        </p:txBody>
      </p:sp>
      <p:sp>
        <p:nvSpPr>
          <p:cNvPr id="100363" name="!!#s15-title"/>
          <p:cNvSpPr txBox="1"/>
          <p:nvPr/>
        </p:nvSpPr>
        <p:spPr>
          <a:xfrm xmlns:a="http://schemas.openxmlformats.org/drawingml/2006/main">
            <a:off x="4032000" y="612000"/>
            <a:ext cx="756000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Execution (VM)</a:t>
            </a:r>
          </a:p>
        </p:txBody>
      </p:sp>
      <p:sp>
        <p:nvSpPr>
          <p:cNvPr id="100364" name="!!#s15-pts"/>
          <p:cNvSpPr txBox="1"/>
          <p:nvPr/>
        </p:nvSpPr>
        <p:spPr>
          <a:xfrm xmlns:a="http://schemas.openxmlformats.org/drawingml/2006/main">
            <a:off x="4032000" y="1404000"/>
            <a:ext cx="7632000" cy="21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Fetch–decode–execute over raw bytes: the program is data it interprets</a:t>
            </a:r>
          </a:p>
          <a:p xmlns:a="http://schemas.openxmlformats.org/drawingml/2006/main">
            <a:pPr algn="l">
              <a:spcAft>
                <a:spcPts val="600"/>
              </a:spcAft>
            </a:pPr>
            <a:r>
              <a:rPr lang="en-US" sz="1800" b="0">
                <a:solidFill>
                  <a:srgbClr val="D1FAE5"/>
                </a:solidFill>
                <a:latin typeface="Segoe UI"/>
                <a:ea typeface="Segoe UI"/>
              </a:rPr>
              <a:t>▸  Two stacks + unbounded integers ⇒ Turing-complete ⇒ halting is undecidable</a:t>
            </a:r>
          </a:p>
          <a:p xmlns:a="http://schemas.openxmlformats.org/drawingml/2006/main">
            <a:pPr algn="l">
              <a:spcAft>
                <a:spcPts val="600"/>
              </a:spcAft>
            </a:pPr>
            <a:r>
              <a:rPr lang="en-US" sz="1800" b="0">
                <a:solidFill>
                  <a:srgbClr val="D1FAE5"/>
                </a:solidFill>
                <a:latin typeface="Segoe UI"/>
                <a:ea typeface="Segoe UI"/>
              </a:rPr>
              <a:t>▸  So the VM runs on a budget: 10 000 steps, 256 frames — then explains why</a:t>
            </a:r>
          </a:p>
        </p:txBody>
      </p:sp>
      <p:sp>
        <p:nvSpPr>
          <p:cNvPr id="100365" name="!!#s15-os0"/>
          <p:cNvSpPr/>
          <p:nvPr/>
        </p:nvSpPr>
        <p:spPr>
          <a:xfrm xmlns:a="http://schemas.openxmlformats.org/drawingml/2006/main">
            <a:off x="4104000" y="5328000"/>
            <a:ext cx="1872000" cy="468000"/>
          </a:xfrm>
          <a:prstGeom xmlns:a="http://schemas.openxmlformats.org/drawingml/2006/main" prst="roundRect">
            <a:avLst/>
          </a:prstGeom>
          <a:solidFill xmlns:a="http://schemas.openxmlformats.org/drawingml/2006/main">
            <a:srgbClr val="00FF88"/>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"hi"</a:t>
            </a:r>
          </a:p>
        </p:txBody>
      </p:sp>
      <p:sp>
        <p:nvSpPr>
          <p:cNvPr id="100366" name="!!#s15-os1"/>
          <p:cNvSpPr/>
          <p:nvPr/>
        </p:nvSpPr>
        <p:spPr>
          <a:xfrm xmlns:a="http://schemas.openxmlformats.org/drawingml/2006/main">
            <a:off x="4104000" y="4788000"/>
            <a:ext cx="1872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367" name="!!#s15-os2"/>
          <p:cNvSpPr/>
          <p:nvPr/>
        </p:nvSpPr>
        <p:spPr>
          <a:xfrm xmlns:a="http://schemas.openxmlformats.org/drawingml/2006/main">
            <a:off x="4104000" y="4248000"/>
            <a:ext cx="1872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3</a:t>
            </a:r>
          </a:p>
        </p:txBody>
      </p:sp>
      <p:sp>
        <p:nvSpPr>
          <p:cNvPr id="100368" name="!!#s15-fr0"/>
          <p:cNvSpPr/>
          <p:nvPr/>
        </p:nvSpPr>
        <p:spPr>
          <a:xfrm xmlns:a="http://schemas.openxmlformats.org/drawingml/2006/main">
            <a:off x="6336000" y="5328000"/>
            <a:ext cx="1872000" cy="468000"/>
          </a:xfrm>
          <a:prstGeom xmlns:a="http://schemas.openxmlformats.org/drawingml/2006/main" prst="roundRect">
            <a:avLst/>
          </a:prstGeom>
          <a:solidFill xmlns:a="http://schemas.openxmlformats.org/drawingml/2006/main">
            <a:srgbClr val="03200E"/>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&lt;main&gt;</a:t>
            </a:r>
          </a:p>
        </p:txBody>
      </p:sp>
      <p:sp>
        <p:nvSpPr>
          <p:cNvPr id="100369" name="!!#s15-fr1"/>
          <p:cNvSpPr/>
          <p:nvPr/>
        </p:nvSpPr>
        <p:spPr>
          <a:xfrm xmlns:a="http://schemas.openxmlformats.org/drawingml/2006/main">
            <a:off x="6336000" y="4788000"/>
            <a:ext cx="1872000" cy="468000"/>
          </a:xfrm>
          <a:prstGeom xmlns:a="http://schemas.openxmlformats.org/drawingml/2006/main" prst="roundRect">
            <a:avLst/>
          </a:prstGeom>
          <a:solidFill xmlns:a="http://schemas.openxmlformats.org/drawingml/2006/main">
            <a:srgbClr val="5EEAD4"/>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00140A"/>
                </a:solidFill>
                <a:latin typeface="Consolas"/>
                <a:ea typeface="Consolas"/>
              </a:rPr>
              <a:t>square</a:t>
            </a:r>
          </a:p>
        </p:txBody>
      </p:sp>
      <p:sp>
        <p:nvSpPr>
          <p:cNvPr id="100370" name="!!#s15-con"/>
          <p:cNvSpPr/>
          <p:nvPr/>
        </p:nvSpPr>
        <p:spPr>
          <a:xfrm xmlns:a="http://schemas.openxmlformats.org/drawingml/2006/main">
            <a:off x="8568000" y="4248000"/>
            <a:ext cx="2160000" cy="1548000"/>
          </a:xfrm>
          <a:prstGeom xmlns:a="http://schemas.openxmlformats.org/drawingml/2006/main" prst="roundRect">
            <a:avLst/>
          </a:prstGeom>
          <a:solidFill xmlns:a="http://schemas.openxmlformats.org/drawingml/2006/main">
            <a:srgbClr val="000000"/>
          </a:solidFill>
          <a:ln xmlns:a="http://schemas.openxmlformats.org/drawingml/2006/main" w="12700">
            <a:solidFill>
              <a:srgbClr val="34D399"/>
            </a:solidFill>
          </a:ln>
        </p:spPr>
        <p:txBody>
          <a:bodyPr xmlns:a="http://schemas.openxmlformats.org/drawingml/2006/main" anchor="ctr"/>
          <a:lstStyle xmlns:a="http://schemas.openxmlformats.org/drawingml/2006/main"/>
          <a:p xmlns:a="http://schemas.openxmlformats.org/drawingml/2006/main">
            <a:pPr algn="l"/>
            <a:r>
              <a:rPr lang="en-US" sz="2200" b="0">
                <a:solidFill>
                  <a:srgbClr val="D1FAE5"/>
                </a:solidFill>
                <a:latin typeface="Consolas"/>
                <a:ea typeface="Consolas"/>
              </a:rPr>
              <a:t>&gt; hi</a:t>
            </a:r>
          </a:p>
        </p:txBody>
      </p:sp>
      <p:sp>
        <p:nvSpPr>
          <p:cNvPr id="100371" name="!!#s15-l1"/>
          <p:cNvSpPr txBox="1"/>
          <p:nvPr/>
        </p:nvSpPr>
        <p:spPr>
          <a:xfrm xmlns:a="http://schemas.openxmlformats.org/drawingml/2006/main">
            <a:off x="4104000" y="5868000"/>
            <a:ext cx="194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operand stack</a:t>
            </a:r>
          </a:p>
        </p:txBody>
      </p:sp>
      <p:sp>
        <p:nvSpPr>
          <p:cNvPr id="100372" name="!!#s15-l2"/>
          <p:cNvSpPr txBox="1"/>
          <p:nvPr/>
        </p:nvSpPr>
        <p:spPr>
          <a:xfrm xmlns:a="http://schemas.openxmlformats.org/drawingml/2006/main">
            <a:off x="6336000" y="5868000"/>
            <a:ext cx="194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call frames</a:t>
            </a:r>
          </a:p>
        </p:txBody>
      </p:sp>
      <p:sp>
        <p:nvSpPr>
          <p:cNvPr id="100373" name="!!#s15-l3"/>
          <p:cNvSpPr txBox="1"/>
          <p:nvPr/>
        </p:nvSpPr>
        <p:spPr>
          <a:xfrm xmlns:a="http://schemas.openxmlformats.org/drawingml/2006/main">
            <a:off x="8568000" y="5868000"/>
            <a:ext cx="194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D1FAE5"/>
                </a:solidFill>
                <a:latin typeface="Segoe UI"/>
                <a:ea typeface="Segoe UI"/>
              </a:rPr>
              <a:t>console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6.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374" name="!!scene-orb1"/>
          <p:cNvSpPr/>
          <p:nvPr/>
        </p:nvSpPr>
        <p:spPr>
          <a:xfrm xmlns:a="http://schemas.openxmlformats.org/drawingml/2006/main">
            <a:off x="7920000" y="28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375" name="!!scene-orb2"/>
          <p:cNvSpPr/>
          <p:nvPr/>
        </p:nvSpPr>
        <p:spPr>
          <a:xfrm xmlns:a="http://schemas.openxmlformats.org/drawingml/2006/main">
            <a:off x="720000" y="-144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376" name="!!scene-ring"/>
          <p:cNvSpPr/>
          <p:nvPr/>
        </p:nvSpPr>
        <p:spPr>
          <a:xfrm xmlns:a="http://schemas.openxmlformats.org/drawingml/2006/main">
            <a:off x="9882000" y="4482000"/>
            <a:ext cx="2127600" cy="2127600"/>
          </a:xfrm>
          <a:prstGeom xmlns:a="http://schemas.openxmlformats.org/drawingml/2006/main" prst="blockArc">
            <a:avLst>
              <a:gd name="adj1" fmla="val 15900000"/>
              <a:gd name="adj2" fmla="val 14100000"/>
              <a:gd name="adj3" fmla="val 12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377" name="!!scene-p1"/>
          <p:cNvSpPr/>
          <p:nvPr/>
        </p:nvSpPr>
        <p:spPr>
          <a:xfrm xmlns:a="http://schemas.openxmlformats.org/drawingml/2006/main">
            <a:off x="79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1</a:t>
            </a:r>
          </a:p>
        </p:txBody>
      </p:sp>
      <p:sp>
        <p:nvSpPr>
          <p:cNvPr id="100378" name="!!scene-p2"/>
          <p:cNvSpPr/>
          <p:nvPr/>
        </p:nvSpPr>
        <p:spPr>
          <a:xfrm xmlns:a="http://schemas.openxmlformats.org/drawingml/2006/main">
            <a:off x="84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2</a:t>
            </a:r>
          </a:p>
        </p:txBody>
      </p:sp>
      <p:sp>
        <p:nvSpPr>
          <p:cNvPr id="100379" name="!!scene-p3"/>
          <p:cNvSpPr/>
          <p:nvPr/>
        </p:nvSpPr>
        <p:spPr>
          <a:xfrm xmlns:a="http://schemas.openxmlformats.org/drawingml/2006/main">
            <a:off x="903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3</a:t>
            </a:r>
          </a:p>
        </p:txBody>
      </p:sp>
      <p:sp>
        <p:nvSpPr>
          <p:cNvPr id="100380" name="!!scene-p4"/>
          <p:cNvSpPr/>
          <p:nvPr/>
        </p:nvSpPr>
        <p:spPr>
          <a:xfrm xmlns:a="http://schemas.openxmlformats.org/drawingml/2006/main">
            <a:off x="957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4</a:t>
            </a:r>
          </a:p>
        </p:txBody>
      </p:sp>
      <p:sp>
        <p:nvSpPr>
          <p:cNvPr id="100381" name="!!scene-p5"/>
          <p:cNvSpPr/>
          <p:nvPr/>
        </p:nvSpPr>
        <p:spPr>
          <a:xfrm xmlns:a="http://schemas.openxmlformats.org/drawingml/2006/main">
            <a:off x="1011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5</a:t>
            </a:r>
          </a:p>
        </p:txBody>
      </p:sp>
      <p:sp>
        <p:nvSpPr>
          <p:cNvPr id="100382" name="!!scene-p6"/>
          <p:cNvSpPr/>
          <p:nvPr/>
        </p:nvSpPr>
        <p:spPr>
          <a:xfrm xmlns:a="http://schemas.openxmlformats.org/drawingml/2006/main">
            <a:off x="1065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6</a:t>
            </a:r>
          </a:p>
        </p:txBody>
      </p:sp>
      <p:sp>
        <p:nvSpPr>
          <p:cNvPr id="100383" name="!!scene-p7"/>
          <p:cNvSpPr/>
          <p:nvPr/>
        </p:nvSpPr>
        <p:spPr>
          <a:xfrm xmlns:a="http://schemas.openxmlformats.org/drawingml/2006/main">
            <a:off x="11196000" y="216000"/>
            <a:ext cx="360000" cy="360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00140A"/>
                </a:solidFill>
                <a:latin typeface="Arial Black"/>
                <a:ea typeface="Arial Black"/>
              </a:rPr>
              <a:t>7</a:t>
            </a:r>
          </a:p>
        </p:txBody>
      </p:sp>
      <p:sp>
        <p:nvSpPr>
          <p:cNvPr id="100384" name="!!#s16-kicker"/>
          <p:cNvSpPr txBox="1"/>
          <p:nvPr/>
        </p:nvSpPr>
        <p:spPr>
          <a:xfrm xmlns:a="http://schemas.openxmlformats.org/drawingml/2006/main">
            <a:off x="576000" y="252000"/>
            <a:ext cx="720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06 · RESULTS</a:t>
            </a:r>
          </a:p>
        </p:txBody>
      </p:sp>
      <p:sp>
        <p:nvSpPr>
          <p:cNvPr id="100385" name="!!#s16-title"/>
          <p:cNvSpPr txBox="1"/>
          <p:nvPr/>
        </p:nvSpPr>
        <p:spPr>
          <a:xfrm xmlns:a="http://schemas.openxmlformats.org/drawingml/2006/main">
            <a:off x="576000" y="576000"/>
            <a:ext cx="1080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Results</a:t>
            </a:r>
          </a:p>
        </p:txBody>
      </p:sp>
      <p:sp>
        <p:nvSpPr>
          <p:cNvPr id="100386" name="!!#s16-c0"/>
          <p:cNvSpPr/>
          <p:nvPr/>
        </p:nvSpPr>
        <p:spPr>
          <a:xfrm xmlns:a="http://schemas.openxmlformats.org/drawingml/2006/main">
            <a:off x="576000" y="1728000"/>
            <a:ext cx="3488400" cy="1728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387" name="!!#s16-b0"/>
          <p:cNvSpPr txBox="1"/>
          <p:nvPr/>
        </p:nvSpPr>
        <p:spPr>
          <a:xfrm xmlns:a="http://schemas.openxmlformats.org/drawingml/2006/main">
            <a:off x="756000" y="1908000"/>
            <a:ext cx="31284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600" b="0">
                <a:solidFill>
                  <a:srgbClr val="00FF88"/>
                </a:solidFill>
                <a:latin typeface="Arial Black"/>
                <a:ea typeface="Arial Black"/>
              </a:rPr>
              <a:t>7 / 7</a:t>
            </a:r>
          </a:p>
        </p:txBody>
      </p:sp>
      <p:sp>
        <p:nvSpPr>
          <p:cNvPr id="100388" name="!!#s16-l0"/>
          <p:cNvSpPr txBox="1"/>
          <p:nvPr/>
        </p:nvSpPr>
        <p:spPr>
          <a:xfrm xmlns:a="http://schemas.openxmlformats.org/drawingml/2006/main">
            <a:off x="756000" y="2664000"/>
            <a:ext cx="31284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1800" b="0">
                <a:solidFill>
                  <a:srgbClr val="D1FAE5"/>
                </a:solidFill>
                <a:latin typeface="Segoe UI"/>
                <a:ea typeface="Segoe UI"/>
              </a:rPr>
              <a:t>phases implemented and visualized</a:t>
            </a:r>
          </a:p>
        </p:txBody>
      </p:sp>
      <p:sp>
        <p:nvSpPr>
          <p:cNvPr id="100389" name="!!#s16-c1"/>
          <p:cNvSpPr/>
          <p:nvPr/>
        </p:nvSpPr>
        <p:spPr>
          <a:xfrm xmlns:a="http://schemas.openxmlformats.org/drawingml/2006/main">
            <a:off x="4352400" y="1728000"/>
            <a:ext cx="3488400" cy="1728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390" name="!!#s16-b1"/>
          <p:cNvSpPr txBox="1"/>
          <p:nvPr/>
        </p:nvSpPr>
        <p:spPr>
          <a:xfrm xmlns:a="http://schemas.openxmlformats.org/drawingml/2006/main">
            <a:off x="4532400" y="1908000"/>
            <a:ext cx="31284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600" b="0">
                <a:solidFill>
                  <a:srgbClr val="00FF88"/>
                </a:solidFill>
                <a:latin typeface="Arial Black"/>
                <a:ea typeface="Arial Black"/>
              </a:rPr>
              <a:t>94 · 700</a:t>
            </a:r>
          </a:p>
        </p:txBody>
      </p:sp>
      <p:sp>
        <p:nvSpPr>
          <p:cNvPr id="100391" name="!!#s16-l1"/>
          <p:cNvSpPr txBox="1"/>
          <p:nvPr/>
        </p:nvSpPr>
        <p:spPr>
          <a:xfrm xmlns:a="http://schemas.openxmlformats.org/drawingml/2006/main">
            <a:off x="4532400" y="2664000"/>
            <a:ext cx="31284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1800" b="0">
                <a:solidFill>
                  <a:srgbClr val="D1FAE5"/>
                </a:solidFill>
                <a:latin typeface="Segoe UI"/>
                <a:ea typeface="Segoe UI"/>
              </a:rPr>
              <a:t>tokens · DFA steps on demo.snek</a:t>
            </a:r>
          </a:p>
        </p:txBody>
      </p:sp>
      <p:sp>
        <p:nvSpPr>
          <p:cNvPr id="100392" name="!!#s16-c2"/>
          <p:cNvSpPr/>
          <p:nvPr/>
        </p:nvSpPr>
        <p:spPr>
          <a:xfrm xmlns:a="http://schemas.openxmlformats.org/drawingml/2006/main">
            <a:off x="8128800" y="1728000"/>
            <a:ext cx="3488400" cy="1728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393" name="!!#s16-b2"/>
          <p:cNvSpPr txBox="1"/>
          <p:nvPr/>
        </p:nvSpPr>
        <p:spPr>
          <a:xfrm xmlns:a="http://schemas.openxmlformats.org/drawingml/2006/main">
            <a:off x="8308800" y="1908000"/>
            <a:ext cx="31284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600" b="0">
                <a:solidFill>
                  <a:srgbClr val="00FF88"/>
                </a:solidFill>
                <a:latin typeface="Arial Black"/>
                <a:ea typeface="Arial Black"/>
              </a:rPr>
              <a:t>559 · 0</a:t>
            </a:r>
          </a:p>
        </p:txBody>
      </p:sp>
      <p:sp>
        <p:nvSpPr>
          <p:cNvPr id="100394" name="!!#s16-l2"/>
          <p:cNvSpPr txBox="1"/>
          <p:nvPr/>
        </p:nvSpPr>
        <p:spPr>
          <a:xfrm xmlns:a="http://schemas.openxmlformats.org/drawingml/2006/main">
            <a:off x="8308800" y="2664000"/>
            <a:ext cx="31284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1800" b="0">
                <a:solidFill>
                  <a:srgbClr val="D1FAE5"/>
                </a:solidFill>
                <a:latin typeface="Segoe UI"/>
                <a:ea typeface="Segoe UI"/>
              </a:rPr>
              <a:t>PDA moves · LL(1) conflicts</a:t>
            </a:r>
          </a:p>
        </p:txBody>
      </p:sp>
      <p:sp>
        <p:nvSpPr>
          <p:cNvPr id="100395" name="!!#s16-c3"/>
          <p:cNvSpPr/>
          <p:nvPr/>
        </p:nvSpPr>
        <p:spPr>
          <a:xfrm xmlns:a="http://schemas.openxmlformats.org/drawingml/2006/main">
            <a:off x="576000" y="3744000"/>
            <a:ext cx="3488400" cy="1728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396" name="!!#s16-b3"/>
          <p:cNvSpPr txBox="1"/>
          <p:nvPr/>
        </p:nvSpPr>
        <p:spPr>
          <a:xfrm xmlns:a="http://schemas.openxmlformats.org/drawingml/2006/main">
            <a:off x="756000" y="3924000"/>
            <a:ext cx="31284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600" b="0">
                <a:solidFill>
                  <a:srgbClr val="00FF88"/>
                </a:solidFill>
                <a:latin typeface="Arial Black"/>
                <a:ea typeface="Arial Black"/>
              </a:rPr>
              <a:t>47 → 40</a:t>
            </a:r>
          </a:p>
        </p:txBody>
      </p:sp>
      <p:sp>
        <p:nvSpPr>
          <p:cNvPr id="100397" name="!!#s16-l3"/>
          <p:cNvSpPr txBox="1"/>
          <p:nvPr/>
        </p:nvSpPr>
        <p:spPr>
          <a:xfrm xmlns:a="http://schemas.openxmlformats.org/drawingml/2006/main">
            <a:off x="756000" y="4680000"/>
            <a:ext cx="31284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1800" b="0">
                <a:solidFill>
                  <a:srgbClr val="D1FAE5"/>
                </a:solidFill>
                <a:latin typeface="Segoe UI"/>
                <a:ea typeface="Segoe UI"/>
              </a:rPr>
              <a:t>instructions after optimization, same output</a:t>
            </a:r>
          </a:p>
        </p:txBody>
      </p:sp>
      <p:sp>
        <p:nvSpPr>
          <p:cNvPr id="100398" name="!!#s16-c4"/>
          <p:cNvSpPr/>
          <p:nvPr/>
        </p:nvSpPr>
        <p:spPr>
          <a:xfrm xmlns:a="http://schemas.openxmlformats.org/drawingml/2006/main">
            <a:off x="4352400" y="3744000"/>
            <a:ext cx="3488400" cy="1728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399" name="!!#s16-b4"/>
          <p:cNvSpPr txBox="1"/>
          <p:nvPr/>
        </p:nvSpPr>
        <p:spPr>
          <a:xfrm xmlns:a="http://schemas.openxmlformats.org/drawingml/2006/main">
            <a:off x="4532400" y="3924000"/>
            <a:ext cx="31284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600" b="0">
                <a:solidFill>
                  <a:srgbClr val="00FF88"/>
                </a:solidFill>
                <a:latin typeface="Arial Black"/>
                <a:ea typeface="Arial Black"/>
              </a:rPr>
              <a:t>6 / 6</a:t>
            </a:r>
          </a:p>
        </p:txBody>
      </p:sp>
      <p:sp>
        <p:nvSpPr>
          <p:cNvPr id="100400" name="!!#s16-l4"/>
          <p:cNvSpPr txBox="1"/>
          <p:nvPr/>
        </p:nvSpPr>
        <p:spPr>
          <a:xfrm xmlns:a="http://schemas.openxmlformats.org/drawingml/2006/main">
            <a:off x="4532400" y="4680000"/>
            <a:ext cx="31284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1800" b="0">
                <a:solidFill>
                  <a:srgbClr val="D1FAE5"/>
                </a:solidFill>
                <a:latin typeface="Segoe UI"/>
                <a:ea typeface="Segoe UI"/>
              </a:rPr>
              <a:t>sample programs fail in the right phase</a:t>
            </a:r>
          </a:p>
        </p:txBody>
      </p:sp>
      <p:sp>
        <p:nvSpPr>
          <p:cNvPr id="100401" name="!!#s16-c5"/>
          <p:cNvSpPr/>
          <p:nvPr/>
        </p:nvSpPr>
        <p:spPr>
          <a:xfrm xmlns:a="http://schemas.openxmlformats.org/drawingml/2006/main">
            <a:off x="8128800" y="3744000"/>
            <a:ext cx="3488400" cy="1728000"/>
          </a:xfrm>
          <a:prstGeom xmlns:a="http://schemas.openxmlformats.org/drawingml/2006/main" prst="roundRect">
            <a:avLst/>
          </a:prstGeom>
          <a:solidFill xmlns:a="http://schemas.openxmlformats.org/drawingml/2006/main">
            <a:srgbClr val="03200E"/>
          </a:solidFill>
          <a:ln xmlns:a="http://schemas.openxmlformats.org/drawingml/2006/main" w="19050">
            <a:solidFill>
              <a:srgbClr val="34D399"/>
            </a:solid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402" name="!!#s16-b5"/>
          <p:cNvSpPr txBox="1"/>
          <p:nvPr/>
        </p:nvSpPr>
        <p:spPr>
          <a:xfrm xmlns:a="http://schemas.openxmlformats.org/drawingml/2006/main">
            <a:off x="8308800" y="3924000"/>
            <a:ext cx="31284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3600" b="0">
                <a:solidFill>
                  <a:srgbClr val="00FF88"/>
                </a:solidFill>
                <a:latin typeface="Arial Black"/>
                <a:ea typeface="Arial Black"/>
              </a:rPr>
              <a:t>7 / 7</a:t>
            </a:r>
          </a:p>
        </p:txBody>
      </p:sp>
      <p:sp>
        <p:nvSpPr>
          <p:cNvPr id="100403" name="!!#s16-l5"/>
          <p:cNvSpPr txBox="1"/>
          <p:nvPr/>
        </p:nvSpPr>
        <p:spPr>
          <a:xfrm xmlns:a="http://schemas.openxmlformats.org/drawingml/2006/main">
            <a:off x="8308800" y="4680000"/>
            <a:ext cx="31284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r>
              <a:rPr lang="en-US" sz="1800" b="0">
                <a:solidFill>
                  <a:srgbClr val="D1FAE5"/>
                </a:solidFill>
                <a:latin typeface="Segoe UI"/>
                <a:ea typeface="Segoe UI"/>
              </a:rPr>
              <a:t>self-check scripts pass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7.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404" name="!!scene-orb1"/>
          <p:cNvSpPr/>
          <p:nvPr/>
        </p:nvSpPr>
        <p:spPr>
          <a:xfrm xmlns:a="http://schemas.openxmlformats.org/drawingml/2006/main">
            <a:off x="-1440000" y="288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405" name="!!scene-orb2"/>
          <p:cNvSpPr/>
          <p:nvPr/>
        </p:nvSpPr>
        <p:spPr>
          <a:xfrm xmlns:a="http://schemas.openxmlformats.org/drawingml/2006/main">
            <a:off x="8640000" y="-108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406" name="!!scene-ring"/>
          <p:cNvSpPr/>
          <p:nvPr/>
        </p:nvSpPr>
        <p:spPr>
          <a:xfrm xmlns:a="http://schemas.openxmlformats.org/drawingml/2006/main">
            <a:off x="8035200" y="1915200"/>
            <a:ext cx="3369600" cy="3369600"/>
          </a:xfrm>
          <a:prstGeom xmlns:a="http://schemas.openxmlformats.org/drawingml/2006/main" prst="blockArc">
            <a:avLst>
              <a:gd name="adj1" fmla="val 9900000"/>
              <a:gd name="adj2" fmla="val 810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407" name="!!scene-p1"/>
          <p:cNvSpPr/>
          <p:nvPr/>
        </p:nvSpPr>
        <p:spPr>
          <a:xfrm xmlns:a="http://schemas.openxmlformats.org/drawingml/2006/main">
            <a:off x="9396000" y="16920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1</a:t>
            </a:r>
          </a:p>
        </p:txBody>
      </p:sp>
      <p:sp>
        <p:nvSpPr>
          <p:cNvPr id="100408" name="!!scene-p2"/>
          <p:cNvSpPr/>
          <p:nvPr/>
        </p:nvSpPr>
        <p:spPr>
          <a:xfrm xmlns:a="http://schemas.openxmlformats.org/drawingml/2006/main">
            <a:off x="10634400" y="22896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2</a:t>
            </a:r>
          </a:p>
        </p:txBody>
      </p:sp>
      <p:sp>
        <p:nvSpPr>
          <p:cNvPr id="100409" name="!!scene-p3"/>
          <p:cNvSpPr/>
          <p:nvPr/>
        </p:nvSpPr>
        <p:spPr>
          <a:xfrm xmlns:a="http://schemas.openxmlformats.org/drawingml/2006/main">
            <a:off x="10940400" y="36288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3</a:t>
            </a:r>
          </a:p>
        </p:txBody>
      </p:sp>
      <p:sp>
        <p:nvSpPr>
          <p:cNvPr id="100410" name="!!scene-p4"/>
          <p:cNvSpPr/>
          <p:nvPr/>
        </p:nvSpPr>
        <p:spPr>
          <a:xfrm xmlns:a="http://schemas.openxmlformats.org/drawingml/2006/main">
            <a:off x="10083600" y="47016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4</a:t>
            </a:r>
          </a:p>
        </p:txBody>
      </p:sp>
      <p:sp>
        <p:nvSpPr>
          <p:cNvPr id="100411" name="!!scene-p5"/>
          <p:cNvSpPr/>
          <p:nvPr/>
        </p:nvSpPr>
        <p:spPr>
          <a:xfrm xmlns:a="http://schemas.openxmlformats.org/drawingml/2006/main">
            <a:off x="8708400" y="47016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5</a:t>
            </a:r>
          </a:p>
        </p:txBody>
      </p:sp>
      <p:sp>
        <p:nvSpPr>
          <p:cNvPr id="100412" name="!!scene-p6"/>
          <p:cNvSpPr/>
          <p:nvPr/>
        </p:nvSpPr>
        <p:spPr>
          <a:xfrm xmlns:a="http://schemas.openxmlformats.org/drawingml/2006/main">
            <a:off x="7851600" y="36288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6</a:t>
            </a:r>
          </a:p>
        </p:txBody>
      </p:sp>
      <p:sp>
        <p:nvSpPr>
          <p:cNvPr id="100413" name="!!scene-p7"/>
          <p:cNvSpPr/>
          <p:nvPr/>
        </p:nvSpPr>
        <p:spPr>
          <a:xfrm xmlns:a="http://schemas.openxmlformats.org/drawingml/2006/main">
            <a:off x="8157600" y="2289600"/>
            <a:ext cx="648000" cy="648000"/>
          </a:xfrm>
          <a:prstGeom xmlns:a="http://schemas.openxmlformats.org/drawingml/2006/main" prst="ellipse">
            <a:avLst/>
          </a:prstGeom>
          <a:gradFill xmlns:a="http://schemas.openxmlformats.org/drawingml/2006/main">
            <a:gsLst>
              <a:gs pos="0">
                <a:srgbClr val="00FF88"/>
              </a:gs>
              <a:gs pos="100000">
                <a:srgbClr val="0B8F45"/>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a:solidFill>
                  <a:srgbClr val="00140A"/>
                </a:solidFill>
                <a:latin typeface="Arial Black"/>
                <a:ea typeface="Arial Black"/>
              </a:rPr>
              <a:t>7</a:t>
            </a:r>
          </a:p>
        </p:txBody>
      </p:sp>
      <p:sp>
        <p:nvSpPr>
          <p:cNvPr id="100414" name="!!#s17-kicker"/>
          <p:cNvSpPr txBox="1"/>
          <p:nvPr/>
        </p:nvSpPr>
        <p:spPr>
          <a:xfrm xmlns:a="http://schemas.openxmlformats.org/drawingml/2006/main">
            <a:off x="576000" y="252000"/>
            <a:ext cx="720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07 · DEMONSTRATION</a:t>
            </a:r>
          </a:p>
        </p:txBody>
      </p:sp>
      <p:sp>
        <p:nvSpPr>
          <p:cNvPr id="100415" name="!!#s17-title"/>
          <p:cNvSpPr txBox="1"/>
          <p:nvPr/>
        </p:nvSpPr>
        <p:spPr>
          <a:xfrm xmlns:a="http://schemas.openxmlformats.org/drawingml/2006/main">
            <a:off x="576000" y="576000"/>
            <a:ext cx="1080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Live Demo</a:t>
            </a:r>
          </a:p>
        </p:txBody>
      </p:sp>
      <p:sp>
        <p:nvSpPr>
          <p:cNvPr id="100416" name="!!#s17-pts"/>
          <p:cNvSpPr txBox="1"/>
          <p:nvPr/>
        </p:nvSpPr>
        <p:spPr>
          <a:xfrm xmlns:a="http://schemas.openxmlformats.org/drawingml/2006/main">
            <a:off x="576000" y="1584000"/>
            <a:ext cx="6984000" cy="37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2000" b="0">
                <a:solidFill>
                  <a:srgbClr val="D1FAE5"/>
                </a:solidFill>
                <a:latin typeface="Segoe UI"/>
                <a:ea typeface="Segoe UI"/>
              </a:rPr>
              <a:t>▸  demo.snek through all 7 phases — scrubber + explanation grid</a:t>
            </a:r>
          </a:p>
          <a:p xmlns:a="http://schemas.openxmlformats.org/drawingml/2006/main">
            <a:pPr algn="l">
              <a:spcAft>
                <a:spcPts val="600"/>
              </a:spcAft>
            </a:pPr>
            <a:r>
              <a:rPr lang="en-US" sz="2000" b="0">
                <a:solidFill>
                  <a:srgbClr val="D1FAE5"/>
                </a:solidFill>
                <a:latin typeface="Segoe UI"/>
                <a:ea typeface="Segoe UI"/>
              </a:rPr>
              <a:t>▸  err-lex.snek — 123abc → BAD_NUMBER in the DFA</a:t>
            </a:r>
          </a:p>
          <a:p xmlns:a="http://schemas.openxmlformats.org/drawingml/2006/main">
            <a:pPr algn="l">
              <a:spcAft>
                <a:spcPts val="600"/>
              </a:spcAft>
            </a:pPr>
            <a:r>
              <a:rPr lang="en-US" sz="2000" b="0">
                <a:solidFill>
                  <a:srgbClr val="D1FAE5"/>
                </a:solidFill>
                <a:latin typeface="Segoe UI"/>
                <a:ea typeface="Segoe UI"/>
              </a:rPr>
              <a:t>▸  err-parse.snek — empty LL(1) cell → expected-token set</a:t>
            </a:r>
          </a:p>
          <a:p xmlns:a="http://schemas.openxmlformats.org/drawingml/2006/main">
            <a:pPr algn="l">
              <a:spcAft>
                <a:spcPts val="600"/>
              </a:spcAft>
            </a:pPr>
            <a:r>
              <a:rPr lang="en-US" sz="2000" b="0">
                <a:solidFill>
                  <a:srgbClr val="D1FAE5"/>
                </a:solidFill>
                <a:latin typeface="Segoe UI"/>
                <a:ea typeface="Segoe UI"/>
              </a:rPr>
              <a:t>▸  err-semantic.snek — int + bool: no typing rule</a:t>
            </a:r>
          </a:p>
          <a:p xmlns:a="http://schemas.openxmlformats.org/drawingml/2006/main">
            <a:pPr algn="l">
              <a:spcAft>
                <a:spcPts val="600"/>
              </a:spcAft>
            </a:pPr>
            <a:r>
              <a:rPr lang="en-US" sz="2000" b="0">
                <a:solidFill>
                  <a:srgbClr val="D1FAE5"/>
                </a:solidFill>
                <a:latin typeface="Segoe UI"/>
                <a:ea typeface="Segoe UI"/>
              </a:rPr>
              <a:t>▸  err-runtime / err-halt — division by zero · step budget (halting)</a:t>
            </a:r>
          </a:p>
        </p:txBody>
      </p:sp>
      <p:sp>
        <p:nvSpPr>
          <p:cNvPr id="100417" name="!!#s17-url"/>
          <p:cNvSpPr txBox="1"/>
          <p:nvPr/>
        </p:nvSpPr>
        <p:spPr>
          <a:xfrm xmlns:a="http://schemas.openxmlformats.org/drawingml/2006/main">
            <a:off x="576000" y="5760000"/>
            <a:ext cx="684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1">
                <a:solidFill>
                  <a:srgbClr val="5EEAD4"/>
                </a:solidFill>
                <a:latin typeface="Segoe UI"/>
                <a:ea typeface="Segoe UI"/>
              </a:rPr>
              <a:t>github.com/OrangeSorbet/Ouroboros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8.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00000"/>
            </a:gs>
            <a:gs pos="50000">
              <a:srgbClr val="03150A"/>
            </a:gs>
            <a:gs pos="100000">
              <a:srgbClr val="062A12"/>
            </a:gs>
          </a:gsLst>
          <a:lin ang="8100000" scaled="1"/>
        </a:gradFill>
      </p:bgPr>
    </p:bg>
    <p:spTree>
      <p:nvGrpSpPr>
        <p:cNvPr id="1" name=""/>
        <p:cNvGrpSpPr/>
        <p:nvPr/>
      </p:nvGrpSpPr>
      <p:grpSpPr/>
      <p:sp>
        <p:nvSpPr>
          <p:cNvPr id="100418"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00FF88">
              <a:alpha val="16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419"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5EEAD4">
              <a:alpha val="12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420" name="!!scene-ring"/>
          <p:cNvSpPr/>
          <p:nvPr/>
        </p:nvSpPr>
        <p:spPr>
          <a:xfrm xmlns:a="http://schemas.openxmlformats.org/drawingml/2006/main">
            <a:off x="7034400" y="1382400"/>
            <a:ext cx="4287600" cy="4287600"/>
          </a:xfrm>
          <a:prstGeom xmlns:a="http://schemas.openxmlformats.org/drawingml/2006/main" prst="blockArc">
            <a:avLst>
              <a:gd name="adj1" fmla="val 14700000"/>
              <a:gd name="adj2" fmla="val 14580000"/>
              <a:gd name="adj3" fmla="val 6000"/>
            </a:avLst>
          </a:prstGeom>
          <a:gradFill xmlns:a="http://schemas.openxmlformats.org/drawingml/2006/main">
            <a:gsLst>
              <a:gs pos="0">
                <a:srgbClr val="00FF88"/>
              </a:gs>
              <a:gs pos="100000">
                <a:srgbClr val="0B8F45"/>
              </a:gs>
            </a:gsLst>
            <a:lin ang="2700000" scaled="1"/>
          </a:gradFill>
          <a:ln xmlns:a="http://schemas.openxmlformats.org/drawingml/2006/main">
            <a:noFill/>
          </a:ln>
          <a:effectLst xmlns:a="http://schemas.openxmlformats.org/drawingml/2006/main">
            <a:glow rad="101600">
              <a:srgbClr val="00FF88">
                <a:alpha val="75000"/>
              </a:srgbClr>
            </a:glow>
          </a:effectLst>
        </p:spPr>
        <p:txBody>
          <a:bodyPr xmlns:a="http://schemas.openxmlformats.org/drawingml/2006/main"/>
          <a:lstStyle xmlns:a="http://schemas.openxmlformats.org/drawingml/2006/main"/>
          <a:p xmlns:a="http://schemas.openxmlformats.org/drawingml/2006/main"/>
        </p:txBody>
      </p:sp>
      <p:sp>
        <p:nvSpPr>
          <p:cNvPr id="100421" name="!!scene-p1"/>
          <p:cNvSpPr/>
          <p:nvPr/>
        </p:nvSpPr>
        <p:spPr>
          <a:xfrm xmlns:a="http://schemas.openxmlformats.org/drawingml/2006/main">
            <a:off x="8748000" y="10800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1</a:t>
            </a:r>
          </a:p>
        </p:txBody>
      </p:sp>
      <p:sp>
        <p:nvSpPr>
          <p:cNvPr id="100422" name="!!scene-p2"/>
          <p:cNvSpPr/>
          <p:nvPr/>
        </p:nvSpPr>
        <p:spPr>
          <a:xfrm xmlns:a="http://schemas.openxmlformats.org/drawingml/2006/main">
            <a:off x="10324800" y="18396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2</a:t>
            </a:r>
          </a:p>
        </p:txBody>
      </p:sp>
      <p:sp>
        <p:nvSpPr>
          <p:cNvPr id="100423" name="!!scene-p3"/>
          <p:cNvSpPr/>
          <p:nvPr/>
        </p:nvSpPr>
        <p:spPr>
          <a:xfrm xmlns:a="http://schemas.openxmlformats.org/drawingml/2006/main">
            <a:off x="10713600" y="35460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3</a:t>
            </a:r>
          </a:p>
        </p:txBody>
      </p:sp>
      <p:sp>
        <p:nvSpPr>
          <p:cNvPr id="100424" name="!!scene-p4"/>
          <p:cNvSpPr/>
          <p:nvPr/>
        </p:nvSpPr>
        <p:spPr>
          <a:xfrm xmlns:a="http://schemas.openxmlformats.org/drawingml/2006/main">
            <a:off x="9622800" y="49140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4</a:t>
            </a:r>
          </a:p>
        </p:txBody>
      </p:sp>
      <p:sp>
        <p:nvSpPr>
          <p:cNvPr id="100425" name="!!scene-p5"/>
          <p:cNvSpPr/>
          <p:nvPr/>
        </p:nvSpPr>
        <p:spPr>
          <a:xfrm xmlns:a="http://schemas.openxmlformats.org/drawingml/2006/main">
            <a:off x="7873200" y="49140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5</a:t>
            </a:r>
          </a:p>
        </p:txBody>
      </p:sp>
      <p:sp>
        <p:nvSpPr>
          <p:cNvPr id="100426" name="!!scene-p6"/>
          <p:cNvSpPr/>
          <p:nvPr/>
        </p:nvSpPr>
        <p:spPr>
          <a:xfrm xmlns:a="http://schemas.openxmlformats.org/drawingml/2006/main">
            <a:off x="6782400" y="35460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6</a:t>
            </a:r>
          </a:p>
        </p:txBody>
      </p:sp>
      <p:sp>
        <p:nvSpPr>
          <p:cNvPr id="100427" name="!!scene-p7"/>
          <p:cNvSpPr/>
          <p:nvPr/>
        </p:nvSpPr>
        <p:spPr>
          <a:xfrm xmlns:a="http://schemas.openxmlformats.org/drawingml/2006/main">
            <a:off x="7171200" y="1839600"/>
            <a:ext cx="864000" cy="864000"/>
          </a:xfrm>
          <a:prstGeom xmlns:a="http://schemas.openxmlformats.org/drawingml/2006/main" prst="ellipse">
            <a:avLst/>
          </a:prstGeom>
          <a:solidFill xmlns:a="http://schemas.openxmlformats.org/drawingml/2006/main">
            <a:srgbClr val="00FF88"/>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00140A"/>
                </a:solidFill>
                <a:latin typeface="Arial Black"/>
                <a:ea typeface="Arial Black"/>
              </a:rPr>
              <a:t>7</a:t>
            </a:r>
          </a:p>
        </p:txBody>
      </p:sp>
      <p:sp>
        <p:nvSpPr>
          <p:cNvPr id="100428" name="!!#s18-kicker"/>
          <p:cNvSpPr txBox="1"/>
          <p:nvPr/>
        </p:nvSpPr>
        <p:spPr>
          <a:xfrm xmlns:a="http://schemas.openxmlformats.org/drawingml/2006/main">
            <a:off x="576000" y="216000"/>
            <a:ext cx="612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5EEAD4"/>
                </a:solidFill>
                <a:latin typeface="Segoe UI"/>
                <a:ea typeface="Segoe UI"/>
              </a:rPr>
              <a:t>08 · CONCLUSION</a:t>
            </a:r>
          </a:p>
        </p:txBody>
      </p:sp>
      <p:sp>
        <p:nvSpPr>
          <p:cNvPr id="100429" name="!!#s18-title"/>
          <p:cNvSpPr txBox="1"/>
          <p:nvPr/>
        </p:nvSpPr>
        <p:spPr>
          <a:xfrm xmlns:a="http://schemas.openxmlformats.org/drawingml/2006/main">
            <a:off x="576000" y="540000"/>
            <a:ext cx="6300000" cy="165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00FF88"/>
                </a:solidFill>
                <a:latin typeface="Arial Black"/>
                <a:ea typeface="Arial Black"/>
              </a:rPr>
              <a:t>The snake eats its tail.</a:t>
            </a:r>
          </a:p>
        </p:txBody>
      </p:sp>
      <p:sp>
        <p:nvSpPr>
          <p:cNvPr id="100430" name="!!#s18-pts"/>
          <p:cNvSpPr txBox="1"/>
          <p:nvPr/>
        </p:nvSpPr>
        <p:spPr>
          <a:xfrm xmlns:a="http://schemas.openxmlformats.org/drawingml/2006/main">
            <a:off x="576000" y="2304000"/>
            <a:ext cx="6192000" cy="3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lstStyle xmlns:a="http://schemas.openxmlformats.org/drawingml/2006/main"/>
          <a:p xmlns:a="http://schemas.openxmlformats.org/drawingml/2006/main">
            <a:pPr algn="l">
              <a:spcAft>
                <a:spcPts val="600"/>
              </a:spcAft>
            </a:pPr>
            <a:r>
              <a:rPr lang="en-US" sz="1800" b="0">
                <a:solidFill>
                  <a:srgbClr val="D1FAE5"/>
                </a:solidFill>
                <a:latin typeface="Segoe UI"/>
                <a:ea typeface="Segoe UI"/>
              </a:rPr>
              <a:t>▸  Every compiler phase is a machine: DFA → PDA → algorithms → a Turing-complete VM.</a:t>
            </a:r>
          </a:p>
          <a:p xmlns:a="http://schemas.openxmlformats.org/drawingml/2006/main">
            <a:pPr algn="l">
              <a:spcAft>
                <a:spcPts val="600"/>
              </a:spcAft>
            </a:pPr>
            <a:r>
              <a:rPr lang="en-US" sz="1800" b="0">
                <a:solidFill>
                  <a:srgbClr val="D1FAE5"/>
                </a:solidFill>
                <a:latin typeface="Segoe UI"/>
                <a:ea typeface="Segoe UI"/>
              </a:rPr>
              <a:t>▸  ToC is heaviest in Phases 1–2; later phases meet its limits.</a:t>
            </a:r>
          </a:p>
          <a:p xmlns:a="http://schemas.openxmlformats.org/drawingml/2006/main">
            <a:pPr algn="l">
              <a:spcAft>
                <a:spcPts val="600"/>
              </a:spcAft>
            </a:pPr>
            <a:r>
              <a:rPr lang="en-US" sz="1800" b="0">
                <a:solidFill>
                  <a:srgbClr val="D1FAE5"/>
                </a:solidFill>
                <a:latin typeface="Segoe UI"/>
                <a:ea typeface="Segoe UI"/>
              </a:rPr>
              <a:t>▸  Nothing hidden: every step is replayable and explained.</a:t>
            </a:r>
          </a:p>
          <a:p xmlns:a="http://schemas.openxmlformats.org/drawingml/2006/main">
            <a:pPr algn="l">
              <a:spcAft>
                <a:spcPts val="600"/>
              </a:spcAft>
            </a:pPr>
            <a:r>
              <a:rPr lang="en-US" sz="1800" b="0">
                <a:solidFill>
                  <a:srgbClr val="D1FAE5"/>
                </a:solidFill>
                <a:latin typeface="Segoe UI"/>
                <a:ea typeface="Segoe UI"/>
              </a:rPr>
              <a:t>▸  Future work: regex → NFA → DFA (Thompson + subset construction).</a:t>
            </a:r>
          </a:p>
        </p:txBody>
      </p:sp>
      <p:sp>
        <p:nvSpPr>
          <p:cNvPr id="100431" name="!!#s18-thanks"/>
          <p:cNvSpPr txBox="1"/>
          <p:nvPr/>
        </p:nvSpPr>
        <p:spPr>
          <a:xfrm xmlns:a="http://schemas.openxmlformats.org/drawingml/2006/main">
            <a:off x="576000" y="5832000"/>
            <a:ext cx="6120000" cy="54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400" b="0">
                <a:solidFill>
                  <a:srgbClr val="FBBF24"/>
                </a:solidFill>
                <a:latin typeface="Arial Black"/>
                <a:ea typeface="Arial Black"/>
              </a:rPr>
              <a:t>Thank you  —  questions?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2026-09-27T13:52:51Z</dcterms:created>
  <cp:lastModifiedBy>OfficeCLI</cp:lastModifiedBy>
  <dcterms:modified xsi:type="dcterms:W3CDTF">2026-09-27T13:52:51Z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2026-09-27T13:54:01Z</vt:lpwstr>
  </op:property>
</op:Properties>
</file>