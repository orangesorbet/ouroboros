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666a523cc7c4b26" /><Relationship Type="http://schemas.openxmlformats.org/package/2006/relationships/metadata/core-properties" Target="/docProps/core.xml" Id="Rb2c60b37c2054b3d" /><Relationship Type="http://schemas.openxmlformats.org/officeDocument/2006/relationships/extended-properties" Target="/docProps/app.xml" Id="Ra128a728ee724e23" /><Relationship Type="http://schemas.openxmlformats.org/officeDocument/2006/relationships/custom-properties" Target="/docProps/custom.xml" Id="R294bf04ce65d44d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c627bfbf09f746cf"/>
  </p:notesMasterIdLst>
  <p:sldIdLst>
    <p:sldId id="256" r:id="R8f351f8342f149b5"/>
    <p:sldId id="257" r:id="Rbf0364ed02e94c4a"/>
    <p:sldId id="258" r:id="R9ea9d256854f4512"/>
    <p:sldId id="259" r:id="R4d81dcb45f664ec1"/>
    <p:sldId id="260" r:id="Ra61cbeffeb604fd9"/>
    <p:sldId id="261" r:id="R74fb910762b346dc"/>
    <p:sldId id="262" r:id="R434310666da8469e"/>
    <p:sldId id="263" r:id="Refffa176be664a33"/>
    <p:sldId id="264" r:id="R1dd7ce4796e34c9b"/>
    <p:sldId id="265" r:id="Rc15a0c34ee81446f"/>
    <p:sldId id="266" r:id="R8d3d3c0a32dd40eb"/>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8f351f8342f149b5" /><Relationship Type="http://schemas.openxmlformats.org/officeDocument/2006/relationships/slide" Target="/ppt/slides/slide2.xml" Id="Rbf0364ed02e94c4a" /><Relationship Type="http://schemas.openxmlformats.org/officeDocument/2006/relationships/notesMaster" Target="/ppt/notesMasters/notesMaster1.xml" Id="Rc627bfbf09f746cf" /><Relationship Type="http://schemas.openxmlformats.org/officeDocument/2006/relationships/slide" Target="/ppt/slides/slide3.xml" Id="R9ea9d256854f4512" /><Relationship Type="http://schemas.openxmlformats.org/officeDocument/2006/relationships/slide" Target="/ppt/slides/slide4.xml" Id="R4d81dcb45f664ec1" /><Relationship Type="http://schemas.openxmlformats.org/officeDocument/2006/relationships/slide" Target="/ppt/slides/slide5.xml" Id="Ra61cbeffeb604fd9" /><Relationship Type="http://schemas.openxmlformats.org/officeDocument/2006/relationships/slide" Target="/ppt/slides/slide6.xml" Id="R74fb910762b346dc" /><Relationship Type="http://schemas.openxmlformats.org/officeDocument/2006/relationships/slide" Target="/ppt/slides/slide7.xml" Id="R434310666da8469e" /><Relationship Type="http://schemas.openxmlformats.org/officeDocument/2006/relationships/slide" Target="/ppt/slides/slide8.xml" Id="Refffa176be664a33" /><Relationship Type="http://schemas.openxmlformats.org/officeDocument/2006/relationships/slide" Target="/ppt/slides/slide9.xml" Id="R1dd7ce4796e34c9b" /><Relationship Type="http://schemas.openxmlformats.org/officeDocument/2006/relationships/slide" Target="/ppt/slides/slide10.xml" Id="Rc15a0c34ee81446f" /><Relationship Type="http://schemas.openxmlformats.org/officeDocument/2006/relationships/slide" Target="/ppt/slides/slide11.xml" Id="R8d3d3c0a32dd40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3536a2980fa4106"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414088c089744e7d" /><Relationship Type="http://schemas.openxmlformats.org/officeDocument/2006/relationships/slide" Target="/ppt/slides/slide2.xml" Id="Ra11e218abc1e4763"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fbd27f30d9164ae2" /><Relationship Type="http://schemas.openxmlformats.org/officeDocument/2006/relationships/slide" Target="/ppt/slides/slide3.xml" Id="Re36e97ac8afe4911"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ef73d4f8bd3d4ac9" /><Relationship Type="http://schemas.openxmlformats.org/officeDocument/2006/relationships/slide" Target="/ppt/slides/slide4.xml" Id="R7b716ffd20e64336"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21b1e9d2c6664d50" /><Relationship Type="http://schemas.openxmlformats.org/officeDocument/2006/relationships/slide" Target="/ppt/slides/slide5.xml" Id="R23de2e63e0f748f3"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85db6da860394edf" /><Relationship Type="http://schemas.openxmlformats.org/officeDocument/2006/relationships/slide" Target="/ppt/slides/slide6.xml" Id="R6c496acce93c4cd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d547293b47174800" /><Relationship Type="http://schemas.openxmlformats.org/officeDocument/2006/relationships/slide" Target="/ppt/slides/slide7.xml" Id="Rb633c256bec84340"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eb734574b46c4fbb" /><Relationship Type="http://schemas.openxmlformats.org/officeDocument/2006/relationships/slide" Target="/ppt/slides/slide8.xml" Id="Rbde67d287ad34282"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25840541b8194638" /><Relationship Type="http://schemas.openxmlformats.org/officeDocument/2006/relationships/slide" Target="/ppt/slides/slide9.xml" Id="R45e28ef0e9c04c29"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a1416c26731c41c4" /><Relationship Type="http://schemas.openxmlformats.org/officeDocument/2006/relationships/slide" Target="/ppt/slides/slide10.xml" Id="Rfc187022d29f40b2"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2580b57d08474265" /><Relationship Type="http://schemas.openxmlformats.org/officeDocument/2006/relationships/slide" Target="/ppt/slides/slide11.xml" Id="Rd8cc8a55ffb449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Snek is a toy language we designed: integers, strings, arrays, functions, if/while/for. It is small on purpose. It goes through the same seven phases as CPython: tokenize, parse, check, compile to stack instructions, optimize on a control-flow graph, emit bytecode, run on a stack VM. The difference is that every state, every grammar rule and every byte fits on one screen, so nothing is hidden.</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spine of the talk. Each phase uses the weakest machine that can do its job, and each machine's limit is why the next phase exists. A DFA can't count nested brackets, so parsing needs a stack. A PDA can't check declared-before-use (that is like the language w c w, not context-free by the pumping lemma), so semantic analysis uses a symbol table. The middle phases are decidable algorithms. The VM is as powerful as a Turing machine, so halting becomes undecidable.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lexer is a real DFA: states, alphabet of character classes, transition function, start state, accepting states, shown on screen. There are no epsilon moves; accept-and-restart is the scanner's action. Every state has an edge for every class, and invalid input falls into a DEAD trap state, so the function is total. The scanner keeps moving while it can and backs up to the last accepting state: longest match, which is why &lt;= is one token. 123abc lands in BAD_NUMBER, like real compilers.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grammar is data, in pure BNF. From it we compute FIRST and FOLLOW by fixpoint iteration and build the LL(1) table. Every cell holds at most one production, which makes the PDA deterministic. The PDA has one state; all the work happens on the stack: expand a non-terminal using the table, or match a terminal against the input. The app shows the stack, the leftmost derivation and the exact table cell used, then folds the parse tree into an AST.</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Is x declared before it is used? That is the language w c w, and the pumping lemma shows it is not context-free, so no PDA can check it. Semantic analysis walks the AST with a stack of scopes: the symbol table. It hoists function names first, resolves every name to a slot and types every expression. Exact typing is undecidable (Rice's theorem), so function parameters stay unknown and the VM checks them at run time.</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Now we translate instead of recognise. Each AST node kind has one translation rule, applied in post-order, so operands are pushed before the operator that pops them, exactly what a stack machine needs. For loops are desugared to while loops. Forward jumps are emitted with a question mark and backpatched when their label appears. The output is one code object per function, like CPython.</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instructions are cut into basic blocks at leaders and joined by edges: the control-flow graph. Then rewrite rules run until nothing changes, a fixpoint: constant folding turns 1 + 2 into 3, branches on constants are folded, unreachable blocks are deleted. Rice's theorem says deciding whether code is really dead is impossible in general, so we only remove code with no path in the graph, which is decidable. 1 / 0 is never folded; that error belongs at run time.</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assembler packs each instruction into 2 bytes, opcode and argument, like CPython's wordcode. Labels become relative offsets counted in instructions. Arguments above 255 need EXTENDED_ARG prefixes; a longer jump can push other jumps further, so sizes are recomputed until nothing grows, another fixpoint. The right panel shows a dis-style listing with the raw hex bytes.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VM reads the bytes: fetch the opcode at the program counter, decode, execute, repeat. It treats the program as data, like a universal Turing machine. One stack is a PDA; this machine has two, operand stack and call frames, plus unbounded integers, so Snek is Turing-complete. Therefore halting is undecidable: the VM runs on a budget of 10,000 steps, and err-halt.snek shows that limit tripping with the explanation.</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Source text goes in and comes out as a machine running it: the snake eats its tail. Every step on the way explains what happened, why, the formal rule behind it and what comes next. Now the live demo: demo.snek through all seven phases, then the error samples.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2188f1b4b241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37f4c240a249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9a587bb7744d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df9d9fa0b34c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8bf4247357462f"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665b7dd044a4843"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a3d982c2ff4643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f41ac9f13a4ae4" /><Relationship Type="http://schemas.openxmlformats.org/officeDocument/2006/relationships/notesSlide" Target="/ppt/notesSlides/notesSlide1.xml" Id="Ra0fb0d27b9f948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77c8efc1df4557" /><Relationship Type="http://schemas.openxmlformats.org/officeDocument/2006/relationships/notesSlide" Target="/ppt/notesSlides/notesSlide2.xml" Id="R841a05eb3ce64b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a9cc58ae5a4c96" /><Relationship Type="http://schemas.openxmlformats.org/officeDocument/2006/relationships/notesSlide" Target="/ppt/notesSlides/notesSlide3.xml" Id="R1c40d58622644d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9aa736021b47da" /><Relationship Type="http://schemas.openxmlformats.org/officeDocument/2006/relationships/notesSlide" Target="/ppt/notesSlides/notesSlide4.xml" Id="R297fde850ccd41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50ccee1ac74e36" /><Relationship Type="http://schemas.openxmlformats.org/officeDocument/2006/relationships/notesSlide" Target="/ppt/notesSlides/notesSlide5.xml" Id="Rbd03dd76bb684a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2dc4977a0a4816" /><Relationship Type="http://schemas.openxmlformats.org/officeDocument/2006/relationships/notesSlide" Target="/ppt/notesSlides/notesSlide6.xml" Id="R0fb5d03a8e1c49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452b247e644634" /><Relationship Type="http://schemas.openxmlformats.org/officeDocument/2006/relationships/notesSlide" Target="/ppt/notesSlides/notesSlide7.xml" Id="Rf3f6156bb75542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441a06dc8d4a41" /><Relationship Type="http://schemas.openxmlformats.org/officeDocument/2006/relationships/notesSlide" Target="/ppt/notesSlides/notesSlide8.xml" Id="Rc53f43639db445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88efd392f44cc7" /><Relationship Type="http://schemas.openxmlformats.org/officeDocument/2006/relationships/notesSlide" Target="/ppt/notesSlides/notesSlide9.xml" Id="R3f448b888b2d4f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f9850d83fc4d2b" /><Relationship Type="http://schemas.openxmlformats.org/officeDocument/2006/relationships/notesSlide" Target="/ppt/notesSlides/notesSlide10.xml" Id="R58011a90315549b9" /></Relationships>
</file>

<file path=ppt/slides/slide1.xml><?xml version="1.0" encoding="utf-8"?>
<p:sld xmlns:p="http://schemas.openxmlformats.org/presentationml/2006/main">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000" name="!!scene-orb1"/>
          <p:cNvSpPr/>
          <p:nvPr/>
        </p:nvSpPr>
        <p:spPr>
          <a:xfrm xmlns:a="http://schemas.openxmlformats.org/drawingml/2006/main">
            <a:off x="6480000" y="-108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01" name="!!scene-orb2"/>
          <p:cNvSpPr/>
          <p:nvPr/>
        </p:nvSpPr>
        <p:spPr>
          <a:xfrm xmlns:a="http://schemas.openxmlformats.org/drawingml/2006/main">
            <a:off x="-1080000" y="396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02" name="!!scene-ring"/>
          <p:cNvSpPr/>
          <p:nvPr/>
        </p:nvSpPr>
        <p:spPr>
          <a:xfrm xmlns:a="http://schemas.openxmlformats.org/drawingml/2006/main">
            <a:off x="7034400" y="1274400"/>
            <a:ext cx="4287600" cy="4287600"/>
          </a:xfrm>
          <a:prstGeom xmlns:a="http://schemas.openxmlformats.org/drawingml/2006/main" prst="blockArc">
            <a:avLst>
              <a:gd name="adj1" fmla="val 15540000"/>
              <a:gd name="adj2" fmla="val 1374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003" name="!!scene-p1"/>
          <p:cNvSpPr/>
          <p:nvPr/>
        </p:nvSpPr>
        <p:spPr>
          <a:xfrm xmlns:a="http://schemas.openxmlformats.org/drawingml/2006/main">
            <a:off x="8748000" y="9720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1</a:t>
            </a:r>
          </a:p>
        </p:txBody>
      </p:sp>
      <p:sp>
        <p:nvSpPr>
          <p:cNvPr id="100004" name="!!scene-p2"/>
          <p:cNvSpPr/>
          <p:nvPr/>
        </p:nvSpPr>
        <p:spPr>
          <a:xfrm xmlns:a="http://schemas.openxmlformats.org/drawingml/2006/main">
            <a:off x="10324800" y="17316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2</a:t>
            </a:r>
          </a:p>
        </p:txBody>
      </p:sp>
      <p:sp>
        <p:nvSpPr>
          <p:cNvPr id="100005" name="!!scene-p3"/>
          <p:cNvSpPr/>
          <p:nvPr/>
        </p:nvSpPr>
        <p:spPr>
          <a:xfrm xmlns:a="http://schemas.openxmlformats.org/drawingml/2006/main">
            <a:off x="10713600" y="34380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3</a:t>
            </a:r>
          </a:p>
        </p:txBody>
      </p:sp>
      <p:sp>
        <p:nvSpPr>
          <p:cNvPr id="100006" name="!!scene-p4"/>
          <p:cNvSpPr/>
          <p:nvPr/>
        </p:nvSpPr>
        <p:spPr>
          <a:xfrm xmlns:a="http://schemas.openxmlformats.org/drawingml/2006/main">
            <a:off x="9622800" y="48060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4</a:t>
            </a:r>
          </a:p>
        </p:txBody>
      </p:sp>
      <p:sp>
        <p:nvSpPr>
          <p:cNvPr id="100007" name="!!scene-p5"/>
          <p:cNvSpPr/>
          <p:nvPr/>
        </p:nvSpPr>
        <p:spPr>
          <a:xfrm xmlns:a="http://schemas.openxmlformats.org/drawingml/2006/main">
            <a:off x="7873200" y="48060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5</a:t>
            </a:r>
          </a:p>
        </p:txBody>
      </p:sp>
      <p:sp>
        <p:nvSpPr>
          <p:cNvPr id="100008" name="!!scene-p6"/>
          <p:cNvSpPr/>
          <p:nvPr/>
        </p:nvSpPr>
        <p:spPr>
          <a:xfrm xmlns:a="http://schemas.openxmlformats.org/drawingml/2006/main">
            <a:off x="6782400" y="34380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6</a:t>
            </a:r>
          </a:p>
        </p:txBody>
      </p:sp>
      <p:sp>
        <p:nvSpPr>
          <p:cNvPr id="100009" name="!!scene-p7"/>
          <p:cNvSpPr/>
          <p:nvPr/>
        </p:nvSpPr>
        <p:spPr>
          <a:xfrm xmlns:a="http://schemas.openxmlformats.org/drawingml/2006/main">
            <a:off x="7171200" y="1731600"/>
            <a:ext cx="864000" cy="864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7</a:t>
            </a:r>
          </a:p>
        </p:txBody>
      </p:sp>
      <p:sp>
        <p:nvSpPr>
          <p:cNvPr id="100010" name="#s1-title"/>
          <p:cNvSpPr txBox="1"/>
          <p:nvPr/>
        </p:nvSpPr>
        <p:spPr>
          <a:xfrm xmlns:a="http://schemas.openxmlformats.org/drawingml/2006/main">
            <a:off x="576000" y="2016000"/>
            <a:ext cx="6300000" cy="115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6000" b="0">
                <a:solidFill>
                  <a:srgbClr val="FFFFFF"/>
                </a:solidFill>
                <a:latin typeface="Arial Black"/>
                <a:ea typeface="Arial Black"/>
              </a:rPr>
              <a:t>OUROBOROS</a:t>
            </a:r>
          </a:p>
        </p:txBody>
      </p:sp>
      <p:sp>
        <p:nvSpPr>
          <p:cNvPr id="100011" name="#s1-sub"/>
          <p:cNvSpPr txBox="1"/>
          <p:nvPr/>
        </p:nvSpPr>
        <p:spPr>
          <a:xfrm xmlns:a="http://schemas.openxmlformats.org/drawingml/2006/main">
            <a:off x="576000" y="3204000"/>
            <a:ext cx="6120000" cy="5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600" b="0">
                <a:solidFill>
                  <a:srgbClr val="E9D5FF"/>
                </a:solidFill>
                <a:latin typeface="Segoe UI"/>
                <a:ea typeface="Segoe UI"/>
              </a:rPr>
              <a:t>A compiler that shows its work.</a:t>
            </a:r>
          </a:p>
        </p:txBody>
      </p:sp>
      <p:sp>
        <p:nvSpPr>
          <p:cNvPr id="100012" name="#s1-meta"/>
          <p:cNvSpPr txBox="1"/>
          <p:nvPr/>
        </p:nvSpPr>
        <p:spPr>
          <a:xfrm xmlns:a="http://schemas.openxmlformats.org/drawingml/2006/main">
            <a:off x="576000" y="3852000"/>
            <a:ext cx="61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Theory of Computation  ·  End-Sem Project</a:t>
            </a:r>
          </a:p>
        </p:txBody>
      </p:sp>
      <p:sp>
        <p:nvSpPr>
          <p:cNvPr id="100013" name="#s1-lang"/>
          <p:cNvSpPr txBox="1"/>
          <p:nvPr/>
        </p:nvSpPr>
        <p:spPr>
          <a:xfrm xmlns:a="http://schemas.openxmlformats.org/drawingml/2006/main">
            <a:off x="576000" y="5832000"/>
            <a:ext cx="720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language: Snek  ·  7 phases  ·  every step explained</a:t>
            </a:r>
          </a:p>
        </p:txBody>
      </p:sp>
    </p:spTree>
  </p:cSld>
</p:sld>
</file>

<file path=ppt/slides/slide2.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014" name="!!scene-orb1"/>
          <p:cNvSpPr/>
          <p:nvPr/>
        </p:nvSpPr>
        <p:spPr>
          <a:xfrm xmlns:a="http://schemas.openxmlformats.org/drawingml/2006/main">
            <a:off x="7920000" y="288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15" name="!!scene-orb2"/>
          <p:cNvSpPr/>
          <p:nvPr/>
        </p:nvSpPr>
        <p:spPr>
          <a:xfrm xmlns:a="http://schemas.openxmlformats.org/drawingml/2006/main">
            <a:off x="720000" y="-144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16" name="!!scene-ring"/>
          <p:cNvSpPr/>
          <p:nvPr/>
        </p:nvSpPr>
        <p:spPr>
          <a:xfrm xmlns:a="http://schemas.openxmlformats.org/drawingml/2006/main">
            <a:off x="9414000" y="774000"/>
            <a:ext cx="1760400" cy="1760400"/>
          </a:xfrm>
          <a:prstGeom xmlns:a="http://schemas.openxmlformats.org/drawingml/2006/main" prst="blockArc">
            <a:avLst>
              <a:gd name="adj1" fmla="val 18900000"/>
              <a:gd name="adj2" fmla="val 171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017" name="!!scene-p1"/>
          <p:cNvSpPr/>
          <p:nvPr/>
        </p:nvSpPr>
        <p:spPr>
          <a:xfrm xmlns:a="http://schemas.openxmlformats.org/drawingml/2006/main">
            <a:off x="10116000" y="6480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018" name="!!scene-p2"/>
          <p:cNvSpPr/>
          <p:nvPr/>
        </p:nvSpPr>
        <p:spPr>
          <a:xfrm xmlns:a="http://schemas.openxmlformats.org/drawingml/2006/main">
            <a:off x="10764000" y="9612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019" name="!!scene-p3"/>
          <p:cNvSpPr/>
          <p:nvPr/>
        </p:nvSpPr>
        <p:spPr>
          <a:xfrm xmlns:a="http://schemas.openxmlformats.org/drawingml/2006/main">
            <a:off x="10922400" y="16596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020" name="!!scene-p4"/>
          <p:cNvSpPr/>
          <p:nvPr/>
        </p:nvSpPr>
        <p:spPr>
          <a:xfrm xmlns:a="http://schemas.openxmlformats.org/drawingml/2006/main">
            <a:off x="10476000" y="22212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021" name="!!scene-p5"/>
          <p:cNvSpPr/>
          <p:nvPr/>
        </p:nvSpPr>
        <p:spPr>
          <a:xfrm xmlns:a="http://schemas.openxmlformats.org/drawingml/2006/main">
            <a:off x="9756000" y="22212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022" name="!!scene-p6"/>
          <p:cNvSpPr/>
          <p:nvPr/>
        </p:nvSpPr>
        <p:spPr>
          <a:xfrm xmlns:a="http://schemas.openxmlformats.org/drawingml/2006/main">
            <a:off x="9309600" y="16596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023" name="!!scene-p7"/>
          <p:cNvSpPr/>
          <p:nvPr/>
        </p:nvSpPr>
        <p:spPr>
          <a:xfrm xmlns:a="http://schemas.openxmlformats.org/drawingml/2006/main">
            <a:off x="9468000" y="961200"/>
            <a:ext cx="360000" cy="36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024" name="!!#s2-t1"/>
          <p:cNvSpPr txBox="1"/>
          <p:nvPr/>
        </p:nvSpPr>
        <p:spPr>
          <a:xfrm xmlns:a="http://schemas.openxmlformats.org/drawingml/2006/main">
            <a:off x="576000" y="756000"/>
            <a:ext cx="792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400" b="0">
                <a:solidFill>
                  <a:srgbClr val="FFFFFF"/>
                </a:solidFill>
                <a:latin typeface="Arial Black"/>
                <a:ea typeface="Arial Black"/>
              </a:rPr>
              <a:t>Toy language.</a:t>
            </a:r>
          </a:p>
        </p:txBody>
      </p:sp>
      <p:sp>
        <p:nvSpPr>
          <p:cNvPr id="100025" name="!!#s2-t2"/>
          <p:cNvSpPr txBox="1"/>
          <p:nvPr/>
        </p:nvSpPr>
        <p:spPr>
          <a:xfrm xmlns:a="http://schemas.openxmlformats.org/drawingml/2006/main">
            <a:off x="576000" y="1620000"/>
            <a:ext cx="792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400" b="0">
                <a:solidFill>
                  <a:srgbClr val="FF2E93"/>
                </a:solidFill>
                <a:latin typeface="Arial Black"/>
                <a:ea typeface="Arial Black"/>
              </a:rPr>
              <a:t>Real compiler.</a:t>
            </a:r>
          </a:p>
        </p:txBody>
      </p:sp>
      <p:sp>
        <p:nvSpPr>
          <p:cNvPr id="100026" name="!!#s2-body"/>
          <p:cNvSpPr txBox="1"/>
          <p:nvPr/>
        </p:nvSpPr>
        <p:spPr>
          <a:xfrm xmlns:a="http://schemas.openxmlformats.org/drawingml/2006/main">
            <a:off x="576000" y="2664000"/>
            <a:ext cx="86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200" b="0">
                <a:solidFill>
                  <a:srgbClr val="E9D5FF"/>
                </a:solidFill>
                <a:latin typeface="Segoe UI"/>
                <a:ea typeface="Segoe UI"/>
              </a:rPr>
              <a:t>Snek runs the same 7 phases as CPython — small enough that every state, rule and byte fits on one screen.</a:t>
            </a:r>
          </a:p>
        </p:txBody>
      </p:sp>
      <p:sp>
        <p:nvSpPr>
          <p:cNvPr id="100027" name="!!#s2-l1"/>
          <p:cNvSpPr txBox="1"/>
          <p:nvPr/>
        </p:nvSpPr>
        <p:spPr>
          <a:xfrm xmlns:a="http://schemas.openxmlformats.org/drawingml/2006/main">
            <a:off x="576000" y="4176000"/>
            <a:ext cx="180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1">
                <a:solidFill>
                  <a:srgbClr val="FFFFFF"/>
                </a:solidFill>
                <a:latin typeface="Segoe UI"/>
                <a:ea typeface="Segoe UI"/>
              </a:rPr>
              <a:t>CPython</a:t>
            </a:r>
          </a:p>
        </p:txBody>
      </p:sp>
      <p:sp>
        <p:nvSpPr>
          <p:cNvPr id="100028" name="!!#s2-b1"/>
          <p:cNvSpPr/>
          <p:nvPr/>
        </p:nvSpPr>
        <p:spPr>
          <a:xfrm xmlns:a="http://schemas.openxmlformats.org/drawingml/2006/main">
            <a:off x="2520000" y="4212000"/>
            <a:ext cx="8820000" cy="396000"/>
          </a:xfrm>
          <a:prstGeom xmlns:a="http://schemas.openxmlformats.org/drawingml/2006/main" prst="roundRect">
            <a:avLst/>
          </a:prstGeom>
          <a:solidFill xmlns:a="http://schemas.openxmlformats.org/drawingml/2006/main">
            <a:srgbClr val="6B6B8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29" name="!!#s2-l2"/>
          <p:cNvSpPr txBox="1"/>
          <p:nvPr/>
        </p:nvSpPr>
        <p:spPr>
          <a:xfrm xmlns:a="http://schemas.openxmlformats.org/drawingml/2006/main">
            <a:off x="576000" y="4896000"/>
            <a:ext cx="180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1">
                <a:solidFill>
                  <a:srgbClr val="FF2E93"/>
                </a:solidFill>
                <a:latin typeface="Segoe UI"/>
                <a:ea typeface="Segoe UI"/>
              </a:rPr>
              <a:t>Snek</a:t>
            </a:r>
          </a:p>
        </p:txBody>
      </p:sp>
      <p:sp>
        <p:nvSpPr>
          <p:cNvPr id="100030" name="!!#s2-b2"/>
          <p:cNvSpPr/>
          <p:nvPr/>
        </p:nvSpPr>
        <p:spPr>
          <a:xfrm xmlns:a="http://schemas.openxmlformats.org/drawingml/2006/main">
            <a:off x="2520000" y="4932000"/>
            <a:ext cx="1980000" cy="396000"/>
          </a:xfrm>
          <a:prstGeom xmlns:a="http://schemas.openxmlformats.org/drawingml/2006/main" prst="roundRect">
            <a:avLst/>
          </a:prstGeom>
          <a:solidFill xmlns:a="http://schemas.openxmlformats.org/drawingml/2006/main">
            <a:srgbClr val="FF2E93"/>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800" b="0">
              <a:solidFill>
                <a:srgbClr val="FFFFFF"/>
              </a:solidFill>
              <a:latin typeface="Segoe UI"/>
              <a:ea typeface="Segoe UI"/>
            </a:endParaRPr>
          </a:p>
        </p:txBody>
      </p:sp>
      <p:sp>
        <p:nvSpPr>
          <p:cNvPr id="100031" name="!!#s2-cap"/>
          <p:cNvSpPr txBox="1"/>
          <p:nvPr/>
        </p:nvSpPr>
        <p:spPr>
          <a:xfrm xmlns:a="http://schemas.openxmlformats.org/drawingml/2006/main">
            <a:off x="2520000" y="5508000"/>
            <a:ext cx="86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grammar size, illustrative — same pipeline, a fraction of the rules</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3.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032" name="!!scene-orb1"/>
          <p:cNvSpPr/>
          <p:nvPr/>
        </p:nvSpPr>
        <p:spPr>
          <a:xfrm xmlns:a="http://schemas.openxmlformats.org/drawingml/2006/main">
            <a:off x="-1440000" y="288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33" name="!!scene-orb2"/>
          <p:cNvSpPr/>
          <p:nvPr/>
        </p:nvSpPr>
        <p:spPr>
          <a:xfrm xmlns:a="http://schemas.openxmlformats.org/drawingml/2006/main">
            <a:off x="8640000" y="-108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34" name="!!scene-ring"/>
          <p:cNvSpPr/>
          <p:nvPr/>
        </p:nvSpPr>
        <p:spPr>
          <a:xfrm xmlns:a="http://schemas.openxmlformats.org/drawingml/2006/main">
            <a:off x="10134000" y="4590000"/>
            <a:ext cx="3927600" cy="3927600"/>
          </a:xfrm>
          <a:prstGeom xmlns:a="http://schemas.openxmlformats.org/drawingml/2006/main" prst="blockArc">
            <a:avLst>
              <a:gd name="adj1" fmla="val 9300000"/>
              <a:gd name="adj2" fmla="val 7500000"/>
              <a:gd name="adj3" fmla="val 12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035" name="!!scene-p1"/>
          <p:cNvSpPr/>
          <p:nvPr/>
        </p:nvSpPr>
        <p:spPr>
          <a:xfrm xmlns:a="http://schemas.openxmlformats.org/drawingml/2006/main">
            <a:off x="576000" y="1116000"/>
            <a:ext cx="504000" cy="504000"/>
          </a:xfrm>
          <a:prstGeom xmlns:a="http://schemas.openxmlformats.org/drawingml/2006/main" prst="ellipse">
            <a:avLst/>
          </a:prstGeom>
          <a:solidFill xmlns:a="http://schemas.openxmlformats.org/drawingml/2006/main">
            <a:srgbClr val="22D3EE"/>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1</a:t>
            </a:r>
          </a:p>
        </p:txBody>
      </p:sp>
      <p:sp>
        <p:nvSpPr>
          <p:cNvPr id="100036" name="!!scene-p2"/>
          <p:cNvSpPr/>
          <p:nvPr/>
        </p:nvSpPr>
        <p:spPr>
          <a:xfrm xmlns:a="http://schemas.openxmlformats.org/drawingml/2006/main">
            <a:off x="576000" y="1836000"/>
            <a:ext cx="504000" cy="504000"/>
          </a:xfrm>
          <a:prstGeom xmlns:a="http://schemas.openxmlformats.org/drawingml/2006/main" prst="ellipse">
            <a:avLst/>
          </a:prstGeom>
          <a:solidFill xmlns:a="http://schemas.openxmlformats.org/drawingml/2006/main">
            <a:srgbClr val="8B5CF6"/>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2</a:t>
            </a:r>
          </a:p>
        </p:txBody>
      </p:sp>
      <p:sp>
        <p:nvSpPr>
          <p:cNvPr id="100037" name="!!scene-p3"/>
          <p:cNvSpPr/>
          <p:nvPr/>
        </p:nvSpPr>
        <p:spPr>
          <a:xfrm xmlns:a="http://schemas.openxmlformats.org/drawingml/2006/main">
            <a:off x="576000" y="2556000"/>
            <a:ext cx="504000" cy="50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3</a:t>
            </a:r>
          </a:p>
        </p:txBody>
      </p:sp>
      <p:sp>
        <p:nvSpPr>
          <p:cNvPr id="100038" name="!!scene-p4"/>
          <p:cNvSpPr/>
          <p:nvPr/>
        </p:nvSpPr>
        <p:spPr>
          <a:xfrm xmlns:a="http://schemas.openxmlformats.org/drawingml/2006/main">
            <a:off x="576000" y="3276000"/>
            <a:ext cx="504000" cy="50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4</a:t>
            </a:r>
          </a:p>
        </p:txBody>
      </p:sp>
      <p:sp>
        <p:nvSpPr>
          <p:cNvPr id="100039" name="!!scene-p5"/>
          <p:cNvSpPr/>
          <p:nvPr/>
        </p:nvSpPr>
        <p:spPr>
          <a:xfrm xmlns:a="http://schemas.openxmlformats.org/drawingml/2006/main">
            <a:off x="576000" y="3996000"/>
            <a:ext cx="504000" cy="50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5</a:t>
            </a:r>
          </a:p>
        </p:txBody>
      </p:sp>
      <p:sp>
        <p:nvSpPr>
          <p:cNvPr id="100040" name="!!scene-p6"/>
          <p:cNvSpPr/>
          <p:nvPr/>
        </p:nvSpPr>
        <p:spPr>
          <a:xfrm xmlns:a="http://schemas.openxmlformats.org/drawingml/2006/main">
            <a:off x="576000" y="4716000"/>
            <a:ext cx="504000" cy="50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6</a:t>
            </a:r>
          </a:p>
        </p:txBody>
      </p:sp>
      <p:sp>
        <p:nvSpPr>
          <p:cNvPr id="100041" name="!!scene-p7"/>
          <p:cNvSpPr/>
          <p:nvPr/>
        </p:nvSpPr>
        <p:spPr>
          <a:xfrm xmlns:a="http://schemas.openxmlformats.org/drawingml/2006/main">
            <a:off x="576000" y="5436000"/>
            <a:ext cx="504000" cy="504000"/>
          </a:xfrm>
          <a:prstGeom xmlns:a="http://schemas.openxmlformats.org/drawingml/2006/main" prst="ellipse">
            <a:avLst/>
          </a:prstGeom>
          <a:solidFill xmlns:a="http://schemas.openxmlformats.org/drawingml/2006/main">
            <a:srgbClr val="FBBF24"/>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400">
                <a:solidFill>
                  <a:srgbClr val="FFFFFF"/>
                </a:solidFill>
                <a:latin typeface="Arial Black"/>
                <a:ea typeface="Arial Black"/>
              </a:rPr>
              <a:t>7</a:t>
            </a:r>
          </a:p>
        </p:txBody>
      </p:sp>
      <p:sp>
        <p:nvSpPr>
          <p:cNvPr id="100042" name="!!#s3-title"/>
          <p:cNvSpPr txBox="1"/>
          <p:nvPr/>
        </p:nvSpPr>
        <p:spPr>
          <a:xfrm xmlns:a="http://schemas.openxmlformats.org/drawingml/2006/main">
            <a:off x="1512000" y="180000"/>
            <a:ext cx="1008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000" b="0">
                <a:solidFill>
                  <a:srgbClr val="FFFFFF"/>
                </a:solidFill>
                <a:latin typeface="Arial Black"/>
                <a:ea typeface="Arial Black"/>
              </a:rPr>
              <a:t>Climbing the Chomsky ladder</a:t>
            </a:r>
          </a:p>
        </p:txBody>
      </p:sp>
      <p:sp>
        <p:nvSpPr>
          <p:cNvPr id="100043" name="!!#s3-b1"/>
          <p:cNvSpPr/>
          <p:nvPr/>
        </p:nvSpPr>
        <p:spPr>
          <a:xfrm xmlns:a="http://schemas.openxmlformats.org/drawingml/2006/main">
            <a:off x="1512000" y="1044000"/>
            <a:ext cx="10080000" cy="648000"/>
          </a:xfrm>
          <a:prstGeom xmlns:a="http://schemas.openxmlformats.org/drawingml/2006/main" prst="roundRect">
            <a:avLst/>
          </a:prstGeom>
          <a:solidFill xmlns:a="http://schemas.openxmlformats.org/drawingml/2006/main">
            <a:srgbClr val="22D3EE">
              <a:alpha val="35000"/>
            </a:srgbClr>
          </a:solidFill>
          <a:ln xmlns:a="http://schemas.openxmlformats.org/drawingml/2006/main" w="19050">
            <a:solidFill>
              <a:srgbClr val="22D3EE"/>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REGULAR  ·  DFA  —  Lexing        can't count brackets</a:t>
            </a:r>
          </a:p>
        </p:txBody>
      </p:sp>
      <p:sp>
        <p:nvSpPr>
          <p:cNvPr id="100044" name="!!#s3-b2"/>
          <p:cNvSpPr/>
          <p:nvPr/>
        </p:nvSpPr>
        <p:spPr>
          <a:xfrm xmlns:a="http://schemas.openxmlformats.org/drawingml/2006/main">
            <a:off x="1512000" y="1764000"/>
            <a:ext cx="10080000" cy="648000"/>
          </a:xfrm>
          <a:prstGeom xmlns:a="http://schemas.openxmlformats.org/drawingml/2006/main" prst="roundRect">
            <a:avLst/>
          </a:prstGeom>
          <a:solidFill xmlns:a="http://schemas.openxmlformats.org/drawingml/2006/main">
            <a:srgbClr val="8B5CF6">
              <a:alpha val="35000"/>
            </a:srgbClr>
          </a:solidFill>
          <a:ln xmlns:a="http://schemas.openxmlformats.org/drawingml/2006/main" w="19050">
            <a:solidFill>
              <a:srgbClr val="8B5CF6"/>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CONTEXT-FREE  ·  PDA  —  Parsing        can't check declarations</a:t>
            </a:r>
          </a:p>
        </p:txBody>
      </p:sp>
      <p:sp>
        <p:nvSpPr>
          <p:cNvPr id="100045" name="!!#s3-b3"/>
          <p:cNvSpPr/>
          <p:nvPr/>
        </p:nvSpPr>
        <p:spPr>
          <a:xfrm xmlns:a="http://schemas.openxmlformats.org/drawingml/2006/main">
            <a:off x="1512000" y="2520000"/>
            <a:ext cx="10080000" cy="2736000"/>
          </a:xfrm>
          <a:prstGeom xmlns:a="http://schemas.openxmlformats.org/drawingml/2006/main" prst="roundRect">
            <a:avLst/>
          </a:prstGeom>
          <a:solidFill xmlns:a="http://schemas.openxmlformats.org/drawingml/2006/main">
            <a:srgbClr val="FF2E93">
              <a:alpha val="35000"/>
            </a:srgbClr>
          </a:solidFill>
          <a:ln xmlns:a="http://schemas.openxmlformats.org/drawingml/2006/main" w="19050">
            <a:solidFill>
              <a:srgbClr val="FF2E93"/>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DECIDABLE  ·  algorithms  —  Semantic · IR · Optimize · Bytecode</a:t>
            </a:r>
          </a:p>
          <a:p xmlns:a="http://schemas.openxmlformats.org/drawingml/2006/main">
            <a:pPr algn="l"/>
            <a:r>
              <a:rPr lang="en-US" sz="1800" b="1">
                <a:solidFill>
                  <a:srgbClr val="FFFFFF"/>
                </a:solidFill>
                <a:latin typeface="Segoe UI"/>
                <a:ea typeface="Segoe UI"/>
              </a:rPr>
              <a:t>Rice's theorem: only provable facts, never exact answers</a:t>
            </a:r>
          </a:p>
        </p:txBody>
      </p:sp>
      <p:sp>
        <p:nvSpPr>
          <p:cNvPr id="100046" name="!!#s3-b4"/>
          <p:cNvSpPr/>
          <p:nvPr/>
        </p:nvSpPr>
        <p:spPr>
          <a:xfrm xmlns:a="http://schemas.openxmlformats.org/drawingml/2006/main">
            <a:off x="1512000" y="5400000"/>
            <a:ext cx="10080000" cy="648000"/>
          </a:xfrm>
          <a:prstGeom xmlns:a="http://schemas.openxmlformats.org/drawingml/2006/main" prst="roundRect">
            <a:avLst/>
          </a:prstGeom>
          <a:solidFill xmlns:a="http://schemas.openxmlformats.org/drawingml/2006/main">
            <a:srgbClr val="FBBF24">
              <a:alpha val="35000"/>
            </a:srgbClr>
          </a:solidFill>
          <a:ln xmlns:a="http://schemas.openxmlformats.org/drawingml/2006/main" w="19050">
            <a:solidFill>
              <a:srgbClr val="FBBF24"/>
            </a:solidFill>
          </a:ln>
        </p:spPr>
        <p:txBody>
          <a:bodyPr xmlns:a="http://schemas.openxmlformats.org/drawingml/2006/main" anchor="ctr"/>
          <a:lstStyle xmlns:a="http://schemas.openxmlformats.org/drawingml/2006/main"/>
          <a:p xmlns:a="http://schemas.openxmlformats.org/drawingml/2006/main">
            <a:pPr algn="l"/>
            <a:r>
              <a:rPr lang="en-US" sz="1800" b="1">
                <a:solidFill>
                  <a:srgbClr val="FFFFFF"/>
                </a:solidFill>
                <a:latin typeface="Segoe UI"/>
                <a:ea typeface="Segoe UI"/>
              </a:rPr>
              <a:t>RECURSIVELY ENUMERABLE  ·  TM  —  VM        halting is undecidable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4.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047"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48"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49" name="!!scene-ring"/>
          <p:cNvSpPr/>
          <p:nvPr/>
        </p:nvSpPr>
        <p:spPr>
          <a:xfrm xmlns:a="http://schemas.openxmlformats.org/drawingml/2006/main">
            <a:off x="309600" y="1173600"/>
            <a:ext cx="4060800" cy="4060800"/>
          </a:xfrm>
          <a:prstGeom xmlns:a="http://schemas.openxmlformats.org/drawingml/2006/main" prst="blockArc">
            <a:avLst>
              <a:gd name="adj1" fmla="val 15300000"/>
              <a:gd name="adj2" fmla="val 135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050" name="!!scene-p1"/>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1</a:t>
            </a:r>
          </a:p>
        </p:txBody>
      </p:sp>
      <p:sp>
        <p:nvSpPr>
          <p:cNvPr id="100051"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052"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053"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054"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055"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056"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057" name="!!#s4-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1 · DFA</a:t>
            </a:r>
          </a:p>
        </p:txBody>
      </p:sp>
      <p:sp>
        <p:nvSpPr>
          <p:cNvPr id="100058" name="!!#s4-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Lexing</a:t>
            </a:r>
          </a:p>
        </p:txBody>
      </p:sp>
      <p:sp>
        <p:nvSpPr>
          <p:cNvPr id="100059" name="!!#s4-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Characters become tokens. Longest match, no ε-moves, one DEAD trap state.</a:t>
            </a:r>
          </a:p>
        </p:txBody>
      </p:sp>
      <p:sp>
        <p:nvSpPr>
          <p:cNvPr id="100060" name="!!#s4-start"/>
          <p:cNvSpPr/>
          <p:nvPr/>
        </p:nvSpPr>
        <p:spPr>
          <a:xfrm xmlns:a="http://schemas.openxmlformats.org/drawingml/2006/main">
            <a:off x="4968000" y="3384000"/>
            <a:ext cx="1008000" cy="1008000"/>
          </a:xfrm>
          <a:prstGeom xmlns:a="http://schemas.openxmlformats.org/drawingml/2006/main" prst="ellipse">
            <a:avLst/>
          </a:prstGeom>
          <a:solidFill xmlns:a="http://schemas.openxmlformats.org/drawingml/2006/main">
            <a:srgbClr val="2A0A4A"/>
          </a:solidFill>
          <a:ln xmlns:a="http://schemas.openxmlformats.org/drawingml/2006/main" w="2540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Segoe UI"/>
                <a:ea typeface="Segoe UI"/>
              </a:rPr>
              <a:t>q0</a:t>
            </a:r>
          </a:p>
        </p:txBody>
      </p:sp>
      <p:sp>
        <p:nvSpPr>
          <p:cNvPr id="100061" name="!!#s4-idento"/>
          <p:cNvSpPr/>
          <p:nvPr/>
        </p:nvSpPr>
        <p:spPr>
          <a:xfrm xmlns:a="http://schemas.openxmlformats.org/drawingml/2006/main">
            <a:off x="7272000" y="2952000"/>
            <a:ext cx="1008000" cy="1008000"/>
          </a:xfrm>
          <a:prstGeom xmlns:a="http://schemas.openxmlformats.org/drawingml/2006/main" prst="ellipse">
            <a:avLst/>
          </a:prstGeom>
          <a:noFill xmlns:a="http://schemas.openxmlformats.org/drawingml/2006/main"/>
          <a:ln xmlns:a="http://schemas.openxmlformats.org/drawingml/2006/main" w="25400">
            <a:solidFill>
              <a:srgbClr val="FF2E93"/>
            </a:solidFill>
          </a:ln>
        </p:spPr>
        <p:txBody>
          <a:bodyPr xmlns:a="http://schemas.openxmlformats.org/drawingml/2006/main"/>
          <a:lstStyle xmlns:a="http://schemas.openxmlformats.org/drawingml/2006/main"/>
          <a:p xmlns:a="http://schemas.openxmlformats.org/drawingml/2006/main"/>
        </p:txBody>
      </p:sp>
      <p:sp>
        <p:nvSpPr>
          <p:cNvPr id="100062" name="!!#s4-ident"/>
          <p:cNvSpPr/>
          <p:nvPr/>
        </p:nvSpPr>
        <p:spPr>
          <a:xfrm xmlns:a="http://schemas.openxmlformats.org/drawingml/2006/main">
            <a:off x="7380000" y="3060000"/>
            <a:ext cx="792000" cy="79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b="1">
                <a:solidFill>
                  <a:srgbClr val="FFFFFF"/>
                </a:solidFill>
                <a:latin typeface="Segoe UI"/>
                <a:ea typeface="Segoe UI"/>
              </a:rPr>
              <a:t>ID</a:t>
            </a:r>
          </a:p>
        </p:txBody>
      </p:sp>
      <p:sp>
        <p:nvSpPr>
          <p:cNvPr id="100063" name="!!#s4-numo"/>
          <p:cNvSpPr/>
          <p:nvPr/>
        </p:nvSpPr>
        <p:spPr>
          <a:xfrm xmlns:a="http://schemas.openxmlformats.org/drawingml/2006/main">
            <a:off x="7272000" y="4212000"/>
            <a:ext cx="1008000" cy="1008000"/>
          </a:xfrm>
          <a:prstGeom xmlns:a="http://schemas.openxmlformats.org/drawingml/2006/main" prst="ellipse">
            <a:avLst/>
          </a:prstGeom>
          <a:noFill xmlns:a="http://schemas.openxmlformats.org/drawingml/2006/main"/>
          <a:ln xmlns:a="http://schemas.openxmlformats.org/drawingml/2006/main" w="25400">
            <a:solidFill>
              <a:srgbClr val="FF2E93"/>
            </a:solidFill>
          </a:ln>
        </p:spPr>
        <p:txBody>
          <a:bodyPr xmlns:a="http://schemas.openxmlformats.org/drawingml/2006/main"/>
          <a:lstStyle xmlns:a="http://schemas.openxmlformats.org/drawingml/2006/main"/>
          <a:p xmlns:a="http://schemas.openxmlformats.org/drawingml/2006/main"/>
        </p:txBody>
      </p:sp>
      <p:sp>
        <p:nvSpPr>
          <p:cNvPr id="100064" name="!!#s4-num"/>
          <p:cNvSpPr/>
          <p:nvPr/>
        </p:nvSpPr>
        <p:spPr>
          <a:xfrm xmlns:a="http://schemas.openxmlformats.org/drawingml/2006/main">
            <a:off x="7380000" y="4320000"/>
            <a:ext cx="792000" cy="79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600" b="1">
                <a:solidFill>
                  <a:srgbClr val="FFFFFF"/>
                </a:solidFill>
                <a:latin typeface="Segoe UI"/>
                <a:ea typeface="Segoe UI"/>
              </a:rPr>
              <a:t>NUM</a:t>
            </a:r>
          </a:p>
        </p:txBody>
      </p:sp>
      <p:sp>
        <p:nvSpPr>
          <p:cNvPr id="100065" name="!!#s4-dead"/>
          <p:cNvSpPr/>
          <p:nvPr/>
        </p:nvSpPr>
        <p:spPr>
          <a:xfrm xmlns:a="http://schemas.openxmlformats.org/drawingml/2006/main">
            <a:off x="9864000" y="4212000"/>
            <a:ext cx="1008000" cy="1008000"/>
          </a:xfrm>
          <a:prstGeom xmlns:a="http://schemas.openxmlformats.org/drawingml/2006/main" prst="ellipse">
            <a:avLst/>
          </a:prstGeom>
          <a:solidFill xmlns:a="http://schemas.openxmlformats.org/drawingml/2006/main">
            <a:srgbClr val="3F3F5A"/>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400" b="1">
                <a:solidFill>
                  <a:srgbClr val="FFFFFF"/>
                </a:solidFill>
                <a:latin typeface="Segoe UI"/>
                <a:ea typeface="Segoe UI"/>
              </a:rPr>
              <a:t>DEAD</a:t>
            </a:r>
          </a:p>
        </p:txBody>
      </p:sp>
      <p:cxnSp>
        <p:nvCxnSpPr>
          <p:cNvPr id="100066" name="Connector 1"/>
          <p:cNvCxnSpPr>
            <a:stCxn xmlns:a="http://schemas.openxmlformats.org/drawingml/2006/main" id="100060" idx="0"/>
            <a:endCxn xmlns:a="http://schemas.openxmlformats.org/drawingml/2006/main" id="100061" idx="0"/>
          </p:cNvCxnSpPr>
          <p:nvPr/>
        </p:nvCxnSpPr>
        <p:spPr>
          <a:xfrm xmlns:a="http://schemas.openxmlformats.org/drawingml/2006/main" flipV="1">
            <a:off x="5976000" y="3456000"/>
            <a:ext cx="1296000" cy="432000"/>
          </a:xfrm>
          <a:prstGeom xmlns:a="http://schemas.openxmlformats.org/drawingml/2006/main" prst="straightConnector1">
            <a:avLst/>
          </a:prstGeom>
          <a:ln xmlns:a="http://schemas.openxmlformats.org/drawingml/2006/main" w="25400">
            <a:solidFill>
              <a:srgbClr val="22D3EE"/>
            </a:solidFill>
            <a:tailEnd type="triangle"/>
          </a:ln>
        </p:spPr>
      </p:cxnSp>
      <p:cxnSp>
        <p:nvCxnSpPr>
          <p:cNvPr id="100067" name="Connector 2"/>
          <p:cNvCxnSpPr>
            <a:stCxn xmlns:a="http://schemas.openxmlformats.org/drawingml/2006/main" id="100060" idx="0"/>
            <a:endCxn xmlns:a="http://schemas.openxmlformats.org/drawingml/2006/main" id="100063" idx="0"/>
          </p:cNvCxnSpPr>
          <p:nvPr/>
        </p:nvCxnSpPr>
        <p:spPr>
          <a:xfrm xmlns:a="http://schemas.openxmlformats.org/drawingml/2006/main">
            <a:off x="5976000" y="3888000"/>
            <a:ext cx="1296000" cy="828000"/>
          </a:xfrm>
          <a:prstGeom xmlns:a="http://schemas.openxmlformats.org/drawingml/2006/main" prst="straightConnector1">
            <a:avLst/>
          </a:prstGeom>
          <a:ln xmlns:a="http://schemas.openxmlformats.org/drawingml/2006/main" w="25400">
            <a:solidFill>
              <a:srgbClr val="22D3EE"/>
            </a:solidFill>
            <a:tailEnd type="triangle"/>
          </a:ln>
        </p:spPr>
      </p:cxnSp>
      <p:cxnSp>
        <p:nvCxnSpPr>
          <p:cNvPr id="100068" name="Connector 3"/>
          <p:cNvCxnSpPr>
            <a:stCxn xmlns:a="http://schemas.openxmlformats.org/drawingml/2006/main" id="100063" idx="0"/>
            <a:endCxn xmlns:a="http://schemas.openxmlformats.org/drawingml/2006/main" id="100065" idx="0"/>
          </p:cNvCxnSpPr>
          <p:nvPr/>
        </p:nvCxnSpPr>
        <p:spPr>
          <a:xfrm xmlns:a="http://schemas.openxmlformats.org/drawingml/2006/main">
            <a:off x="8280000" y="4716000"/>
            <a:ext cx="1584000" cy="0"/>
          </a:xfrm>
          <a:prstGeom xmlns:a="http://schemas.openxmlformats.org/drawingml/2006/main" prst="straightConnector1">
            <a:avLst/>
          </a:prstGeom>
          <a:ln xmlns:a="http://schemas.openxmlformats.org/drawingml/2006/main" w="25400">
            <a:solidFill>
              <a:srgbClr val="FBBF24"/>
            </a:solidFill>
            <a:tailEnd type="triangle"/>
          </a:ln>
        </p:spPr>
      </p:cxnSp>
      <p:sp>
        <p:nvSpPr>
          <p:cNvPr id="100069" name="!!#s4-l1"/>
          <p:cNvSpPr txBox="1"/>
          <p:nvPr/>
        </p:nvSpPr>
        <p:spPr>
          <a:xfrm xmlns:a="http://schemas.openxmlformats.org/drawingml/2006/main">
            <a:off x="5868000" y="2952000"/>
            <a:ext cx="12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22D3EE"/>
                </a:solidFill>
                <a:latin typeface="Segoe UI"/>
                <a:ea typeface="Segoe UI"/>
              </a:rPr>
              <a:t>letter</a:t>
            </a:r>
          </a:p>
        </p:txBody>
      </p:sp>
      <p:sp>
        <p:nvSpPr>
          <p:cNvPr id="100070" name="!!#s4-l2"/>
          <p:cNvSpPr txBox="1"/>
          <p:nvPr/>
        </p:nvSpPr>
        <p:spPr>
          <a:xfrm xmlns:a="http://schemas.openxmlformats.org/drawingml/2006/main">
            <a:off x="5868000" y="4644000"/>
            <a:ext cx="12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22D3EE"/>
                </a:solidFill>
                <a:latin typeface="Segoe UI"/>
                <a:ea typeface="Segoe UI"/>
              </a:rPr>
              <a:t>digit</a:t>
            </a:r>
          </a:p>
        </p:txBody>
      </p:sp>
      <p:sp>
        <p:nvSpPr>
          <p:cNvPr id="100071" name="!!#s4-l3"/>
          <p:cNvSpPr txBox="1"/>
          <p:nvPr/>
        </p:nvSpPr>
        <p:spPr>
          <a:xfrm xmlns:a="http://schemas.openxmlformats.org/drawingml/2006/main">
            <a:off x="8424000" y="3708000"/>
            <a:ext cx="306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FBBF24"/>
                </a:solidFill>
                <a:latin typeface="Segoe UI"/>
                <a:ea typeface="Segoe UI"/>
              </a:rPr>
              <a:t>letter → 123abc ✗</a:t>
            </a:r>
          </a:p>
        </p:txBody>
      </p:sp>
      <p:sp>
        <p:nvSpPr>
          <p:cNvPr id="100072" name="!!#s4-tape0"/>
          <p:cNvSpPr/>
          <p:nvPr/>
        </p:nvSpPr>
        <p:spPr>
          <a:xfrm xmlns:a="http://schemas.openxmlformats.org/drawingml/2006/main">
            <a:off x="4968000" y="5400000"/>
            <a:ext cx="414000" cy="414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a:t>
            </a:r>
          </a:p>
        </p:txBody>
      </p:sp>
      <p:sp>
        <p:nvSpPr>
          <p:cNvPr id="100073" name="!!#s4-tape1"/>
          <p:cNvSpPr/>
          <p:nvPr/>
        </p:nvSpPr>
        <p:spPr>
          <a:xfrm xmlns:a="http://schemas.openxmlformats.org/drawingml/2006/main">
            <a:off x="5436000" y="5400000"/>
            <a:ext cx="414000" cy="414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e</a:t>
            </a:r>
          </a:p>
        </p:txBody>
      </p:sp>
      <p:sp>
        <p:nvSpPr>
          <p:cNvPr id="100074" name="!!#s4-tape2"/>
          <p:cNvSpPr/>
          <p:nvPr/>
        </p:nvSpPr>
        <p:spPr>
          <a:xfrm xmlns:a="http://schemas.openxmlformats.org/drawingml/2006/main">
            <a:off x="5904000" y="5400000"/>
            <a:ext cx="414000" cy="414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t</a:t>
            </a:r>
          </a:p>
        </p:txBody>
      </p:sp>
      <p:sp>
        <p:nvSpPr>
          <p:cNvPr id="100075" name="!!#s4-tape3"/>
          <p:cNvSpPr/>
          <p:nvPr/>
        </p:nvSpPr>
        <p:spPr>
          <a:xfrm xmlns:a="http://schemas.openxmlformats.org/drawingml/2006/main">
            <a:off x="6372000" y="5400000"/>
            <a:ext cx="414000" cy="414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076" name="!!#s4-tape4"/>
          <p:cNvSpPr/>
          <p:nvPr/>
        </p:nvSpPr>
        <p:spPr>
          <a:xfrm xmlns:a="http://schemas.openxmlformats.org/drawingml/2006/main">
            <a:off x="6840000" y="5400000"/>
            <a:ext cx="414000" cy="414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x</a:t>
            </a:r>
          </a:p>
        </p:txBody>
      </p:sp>
      <p:sp>
        <p:nvSpPr>
          <p:cNvPr id="100077" name="!!#s4-tape5"/>
          <p:cNvSpPr/>
          <p:nvPr/>
        </p:nvSpPr>
        <p:spPr>
          <a:xfrm xmlns:a="http://schemas.openxmlformats.org/drawingml/2006/main">
            <a:off x="7308000" y="5400000"/>
            <a:ext cx="414000" cy="414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078" name="!!#s4-tape6"/>
          <p:cNvSpPr/>
          <p:nvPr/>
        </p:nvSpPr>
        <p:spPr>
          <a:xfrm xmlns:a="http://schemas.openxmlformats.org/drawingml/2006/main">
            <a:off x="7776000" y="5400000"/>
            <a:ext cx="414000" cy="414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1</a:t>
            </a:r>
          </a:p>
        </p:txBody>
      </p:sp>
      <p:sp>
        <p:nvSpPr>
          <p:cNvPr id="100079" name="!!#s4-tape7"/>
          <p:cNvSpPr/>
          <p:nvPr/>
        </p:nvSpPr>
        <p:spPr>
          <a:xfrm xmlns:a="http://schemas.openxmlformats.org/drawingml/2006/main">
            <a:off x="8244000" y="5400000"/>
            <a:ext cx="414000" cy="414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5.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080" name="!!scene-orb1"/>
          <p:cNvSpPr/>
          <p:nvPr/>
        </p:nvSpPr>
        <p:spPr>
          <a:xfrm xmlns:a="http://schemas.openxmlformats.org/drawingml/2006/main">
            <a:off x="7920000" y="-14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081" name="!!scene-orb2"/>
          <p:cNvSpPr/>
          <p:nvPr/>
        </p:nvSpPr>
        <p:spPr>
          <a:xfrm xmlns:a="http://schemas.openxmlformats.org/drawingml/2006/main">
            <a:off x="-1080000" y="360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082" name="!!scene-ring"/>
          <p:cNvSpPr/>
          <p:nvPr/>
        </p:nvSpPr>
        <p:spPr>
          <a:xfrm xmlns:a="http://schemas.openxmlformats.org/drawingml/2006/main">
            <a:off x="309600" y="1173600"/>
            <a:ext cx="4060800" cy="4060800"/>
          </a:xfrm>
          <a:prstGeom xmlns:a="http://schemas.openxmlformats.org/drawingml/2006/main" prst="blockArc">
            <a:avLst>
              <a:gd name="adj1" fmla="val 17700000"/>
              <a:gd name="adj2" fmla="val 159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083"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084" name="!!scene-p2"/>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2</a:t>
            </a:r>
          </a:p>
        </p:txBody>
      </p:sp>
      <p:sp>
        <p:nvSpPr>
          <p:cNvPr id="100085"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086"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087"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088"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089"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090" name="!!#s5-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2 · PDA  ·  LL(1)</a:t>
            </a:r>
          </a:p>
        </p:txBody>
      </p:sp>
      <p:sp>
        <p:nvSpPr>
          <p:cNvPr id="100091" name="!!#s5-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Parsing</a:t>
            </a:r>
          </a:p>
        </p:txBody>
      </p:sp>
      <p:sp>
        <p:nvSpPr>
          <p:cNvPr id="100092" name="!!#s5-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A one-stack machine checks the tokens against the grammar. The table picks every move.</a:t>
            </a:r>
          </a:p>
        </p:txBody>
      </p:sp>
      <p:sp>
        <p:nvSpPr>
          <p:cNvPr id="100093" name="!!#s5-st0"/>
          <p:cNvSpPr/>
          <p:nvPr/>
        </p:nvSpPr>
        <p:spPr>
          <a:xfrm xmlns:a="http://schemas.openxmlformats.org/drawingml/2006/main">
            <a:off x="4968000" y="5184000"/>
            <a:ext cx="2016000" cy="45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Program</a:t>
            </a:r>
          </a:p>
        </p:txBody>
      </p:sp>
      <p:sp>
        <p:nvSpPr>
          <p:cNvPr id="100094" name="!!#s5-st1"/>
          <p:cNvSpPr/>
          <p:nvPr/>
        </p:nvSpPr>
        <p:spPr>
          <a:xfrm xmlns:a="http://schemas.openxmlformats.org/drawingml/2006/main">
            <a:off x="4968000" y="4662000"/>
            <a:ext cx="2016000" cy="45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Decl*</a:t>
            </a:r>
          </a:p>
        </p:txBody>
      </p:sp>
      <p:sp>
        <p:nvSpPr>
          <p:cNvPr id="100095" name="!!#s5-st2"/>
          <p:cNvSpPr/>
          <p:nvPr/>
        </p:nvSpPr>
        <p:spPr>
          <a:xfrm xmlns:a="http://schemas.openxmlformats.org/drawingml/2006/main">
            <a:off x="4968000" y="4140000"/>
            <a:ext cx="2016000" cy="45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Statement</a:t>
            </a:r>
          </a:p>
        </p:txBody>
      </p:sp>
      <p:sp>
        <p:nvSpPr>
          <p:cNvPr id="100096" name="!!#s5-st3"/>
          <p:cNvSpPr/>
          <p:nvPr/>
        </p:nvSpPr>
        <p:spPr>
          <a:xfrm xmlns:a="http://schemas.openxmlformats.org/drawingml/2006/main">
            <a:off x="4968000" y="3618000"/>
            <a:ext cx="2016000" cy="450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LetStmt</a:t>
            </a:r>
          </a:p>
        </p:txBody>
      </p:sp>
      <p:sp>
        <p:nvSpPr>
          <p:cNvPr id="100097" name="!!#s5-stl"/>
          <p:cNvSpPr txBox="1"/>
          <p:nvPr/>
        </p:nvSpPr>
        <p:spPr>
          <a:xfrm xmlns:a="http://schemas.openxmlformats.org/drawingml/2006/main">
            <a:off x="4968000" y="5688000"/>
            <a:ext cx="2016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stack (top ↑)</a:t>
            </a:r>
          </a:p>
        </p:txBody>
      </p:sp>
      <p:sp>
        <p:nvSpPr>
          <p:cNvPr id="100098" name="!!#s5-h0"/>
          <p:cNvSpPr/>
          <p:nvPr/>
        </p:nvSpPr>
        <p:spPr>
          <a:xfrm xmlns:a="http://schemas.openxmlformats.org/drawingml/2006/main">
            <a:off x="7416000" y="3240000"/>
            <a:ext cx="1296000" cy="468000"/>
          </a:xfrm>
          <a:prstGeom xmlns:a="http://schemas.openxmlformats.org/drawingml/2006/main" prst="roundRect">
            <a:avLst/>
          </a:prstGeom>
          <a:solidFill xmlns:a="http://schemas.openxmlformats.org/drawingml/2006/main">
            <a:srgbClr val="3B146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endParaRPr lang="en-US" sz="1600" b="0">
              <a:solidFill>
                <a:srgbClr val="FFFFFF"/>
              </a:solidFill>
              <a:latin typeface="Consolas"/>
              <a:ea typeface="Consolas"/>
            </a:endParaRPr>
          </a:p>
        </p:txBody>
      </p:sp>
      <p:sp>
        <p:nvSpPr>
          <p:cNvPr id="100099" name="!!#s5-h1"/>
          <p:cNvSpPr/>
          <p:nvPr/>
        </p:nvSpPr>
        <p:spPr>
          <a:xfrm xmlns:a="http://schemas.openxmlformats.org/drawingml/2006/main">
            <a:off x="8784000" y="3240000"/>
            <a:ext cx="1296000" cy="468000"/>
          </a:xfrm>
          <a:prstGeom xmlns:a="http://schemas.openxmlformats.org/drawingml/2006/main" prst="roundRect">
            <a:avLst/>
          </a:prstGeom>
          <a:solidFill xmlns:a="http://schemas.openxmlformats.org/drawingml/2006/main">
            <a:srgbClr val="3B146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let</a:t>
            </a:r>
          </a:p>
        </p:txBody>
      </p:sp>
      <p:sp>
        <p:nvSpPr>
          <p:cNvPr id="100100" name="!!#s5-h2"/>
          <p:cNvSpPr/>
          <p:nvPr/>
        </p:nvSpPr>
        <p:spPr>
          <a:xfrm xmlns:a="http://schemas.openxmlformats.org/drawingml/2006/main">
            <a:off x="10152000" y="3240000"/>
            <a:ext cx="1296000" cy="468000"/>
          </a:xfrm>
          <a:prstGeom xmlns:a="http://schemas.openxmlformats.org/drawingml/2006/main" prst="roundRect">
            <a:avLst/>
          </a:prstGeom>
          <a:solidFill xmlns:a="http://schemas.openxmlformats.org/drawingml/2006/main">
            <a:srgbClr val="3B1466"/>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print</a:t>
            </a:r>
          </a:p>
        </p:txBody>
      </p:sp>
      <p:sp>
        <p:nvSpPr>
          <p:cNvPr id="100101" name="!!#s5-c00"/>
          <p:cNvSpPr/>
          <p:nvPr/>
        </p:nvSpPr>
        <p:spPr>
          <a:xfrm xmlns:a="http://schemas.openxmlformats.org/drawingml/2006/main">
            <a:off x="7416000" y="3780000"/>
            <a:ext cx="129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102" name="!!#s5-c01"/>
          <p:cNvSpPr/>
          <p:nvPr/>
        </p:nvSpPr>
        <p:spPr>
          <a:xfrm xmlns:a="http://schemas.openxmlformats.org/drawingml/2006/main">
            <a:off x="8784000" y="3780000"/>
            <a:ext cx="1296000" cy="468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LetStmt</a:t>
            </a:r>
          </a:p>
        </p:txBody>
      </p:sp>
      <p:sp>
        <p:nvSpPr>
          <p:cNvPr id="100103" name="!!#s5-c02"/>
          <p:cNvSpPr/>
          <p:nvPr/>
        </p:nvSpPr>
        <p:spPr>
          <a:xfrm xmlns:a="http://schemas.openxmlformats.org/drawingml/2006/main">
            <a:off x="10152000" y="3780000"/>
            <a:ext cx="129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PrintStmt</a:t>
            </a:r>
          </a:p>
        </p:txBody>
      </p:sp>
      <p:sp>
        <p:nvSpPr>
          <p:cNvPr id="100104" name="!!#s5-c10"/>
          <p:cNvSpPr/>
          <p:nvPr/>
        </p:nvSpPr>
        <p:spPr>
          <a:xfrm xmlns:a="http://schemas.openxmlformats.org/drawingml/2006/main">
            <a:off x="7416000" y="4320000"/>
            <a:ext cx="129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Decl</a:t>
            </a:r>
          </a:p>
        </p:txBody>
      </p:sp>
      <p:sp>
        <p:nvSpPr>
          <p:cNvPr id="100105" name="!!#s5-c11"/>
          <p:cNvSpPr/>
          <p:nvPr/>
        </p:nvSpPr>
        <p:spPr>
          <a:xfrm xmlns:a="http://schemas.openxmlformats.org/drawingml/2006/main">
            <a:off x="8784000" y="4320000"/>
            <a:ext cx="129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106" name="!!#s5-c12"/>
          <p:cNvSpPr/>
          <p:nvPr/>
        </p:nvSpPr>
        <p:spPr>
          <a:xfrm xmlns:a="http://schemas.openxmlformats.org/drawingml/2006/main">
            <a:off x="10152000" y="4320000"/>
            <a:ext cx="129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400" b="0">
                <a:solidFill>
                  <a:srgbClr val="FFFFFF"/>
                </a:solidFill>
                <a:latin typeface="Consolas"/>
                <a:ea typeface="Consolas"/>
              </a:rPr>
              <a:t>Statement</a:t>
            </a:r>
          </a:p>
        </p:txBody>
      </p:sp>
      <p:sp>
        <p:nvSpPr>
          <p:cNvPr id="100107" name="!!#s5-tl"/>
          <p:cNvSpPr txBox="1"/>
          <p:nvPr/>
        </p:nvSpPr>
        <p:spPr>
          <a:xfrm xmlns:a="http://schemas.openxmlformats.org/drawingml/2006/main">
            <a:off x="7416000" y="4896000"/>
            <a:ext cx="4176000" cy="75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LL(1) table: one entry per cell = deterministic</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6.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108"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09"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10" name="!!scene-ring"/>
          <p:cNvSpPr/>
          <p:nvPr/>
        </p:nvSpPr>
        <p:spPr>
          <a:xfrm xmlns:a="http://schemas.openxmlformats.org/drawingml/2006/main">
            <a:off x="309600" y="1173600"/>
            <a:ext cx="4060800" cy="4060800"/>
          </a:xfrm>
          <a:prstGeom xmlns:a="http://schemas.openxmlformats.org/drawingml/2006/main" prst="blockArc">
            <a:avLst>
              <a:gd name="adj1" fmla="val 20100000"/>
              <a:gd name="adj2" fmla="val 183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111"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112"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13" name="!!scene-p3"/>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3</a:t>
            </a:r>
          </a:p>
        </p:txBody>
      </p:sp>
      <p:sp>
        <p:nvSpPr>
          <p:cNvPr id="100114"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115"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116"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117"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18" name="!!#s6-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3 · SCOPE STACK</a:t>
            </a:r>
          </a:p>
        </p:txBody>
      </p:sp>
      <p:sp>
        <p:nvSpPr>
          <p:cNvPr id="100119" name="!!#s6-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Semantics</a:t>
            </a:r>
          </a:p>
        </p:txBody>
      </p:sp>
      <p:sp>
        <p:nvSpPr>
          <p:cNvPr id="100120" name="!!#s6-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Declared-before-use and types are beyond context-free, so a symbol table walks the tree.</a:t>
            </a:r>
          </a:p>
        </p:txBody>
      </p:sp>
      <p:sp>
        <p:nvSpPr>
          <p:cNvPr id="100121" name="!!#s6-g"/>
          <p:cNvSpPr/>
          <p:nvPr/>
        </p:nvSpPr>
        <p:spPr>
          <a:xfrm xmlns:a="http://schemas.openxmlformats.org/drawingml/2006/main">
            <a:off x="4968000" y="3168000"/>
            <a:ext cx="6624000" cy="2520000"/>
          </a:xfrm>
          <a:prstGeom xmlns:a="http://schemas.openxmlformats.org/drawingml/2006/main" prst="roundRect">
            <a:avLst/>
          </a:prstGeom>
          <a:noFill xmlns:a="http://schemas.openxmlformats.org/drawingml/2006/main"/>
          <a:ln xmlns:a="http://schemas.openxmlformats.org/drawingml/2006/main" w="25400">
            <a:solidFill>
              <a:srgbClr val="8B5CF6"/>
            </a:solidFill>
          </a:ln>
        </p:spPr>
        <p:txBody>
          <a:bodyPr xmlns:a="http://schemas.openxmlformats.org/drawingml/2006/main"/>
          <a:lstStyle xmlns:a="http://schemas.openxmlformats.org/drawingml/2006/main"/>
          <a:p xmlns:a="http://schemas.openxmlformats.org/drawingml/2006/main"/>
        </p:txBody>
      </p:sp>
      <p:sp>
        <p:nvSpPr>
          <p:cNvPr id="100122" name="!!#s6-gl"/>
          <p:cNvSpPr txBox="1"/>
          <p:nvPr/>
        </p:nvSpPr>
        <p:spPr>
          <a:xfrm xmlns:a="http://schemas.openxmlformats.org/drawingml/2006/main">
            <a:off x="5112000" y="3240000"/>
            <a:ext cx="28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8B5CF6"/>
                </a:solidFill>
                <a:latin typeface="Segoe UI"/>
                <a:ea typeface="Segoe UI"/>
              </a:rPr>
              <a:t>global scope</a:t>
            </a:r>
          </a:p>
        </p:txBody>
      </p:sp>
      <p:sp>
        <p:nvSpPr>
          <p:cNvPr id="100123" name="!!#s6-gc0"/>
          <p:cNvSpPr/>
          <p:nvPr/>
        </p:nvSpPr>
        <p:spPr>
          <a:xfrm xmlns:a="http://schemas.openxmlformats.org/drawingml/2006/main">
            <a:off x="5148000" y="3708000"/>
            <a:ext cx="237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square : fn(1)</a:t>
            </a:r>
          </a:p>
        </p:txBody>
      </p:sp>
      <p:sp>
        <p:nvSpPr>
          <p:cNvPr id="100124" name="!!#s6-gc1"/>
          <p:cNvSpPr/>
          <p:nvPr/>
        </p:nvSpPr>
        <p:spPr>
          <a:xfrm xmlns:a="http://schemas.openxmlformats.org/drawingml/2006/main">
            <a:off x="5148000" y="4320000"/>
            <a:ext cx="237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limit : int</a:t>
            </a:r>
          </a:p>
        </p:txBody>
      </p:sp>
      <p:sp>
        <p:nvSpPr>
          <p:cNvPr id="100125" name="!!#s6-gc2"/>
          <p:cNvSpPr/>
          <p:nvPr/>
        </p:nvSpPr>
        <p:spPr>
          <a:xfrm xmlns:a="http://schemas.openxmlformats.org/drawingml/2006/main">
            <a:off x="5148000" y="4932000"/>
            <a:ext cx="237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total : int</a:t>
            </a:r>
          </a:p>
        </p:txBody>
      </p:sp>
      <p:sp>
        <p:nvSpPr>
          <p:cNvPr id="100126" name="!!#s6-f"/>
          <p:cNvSpPr/>
          <p:nvPr/>
        </p:nvSpPr>
        <p:spPr>
          <a:xfrm xmlns:a="http://schemas.openxmlformats.org/drawingml/2006/main">
            <a:off x="7920000" y="3744000"/>
            <a:ext cx="3456000" cy="1728000"/>
          </a:xfrm>
          <a:prstGeom xmlns:a="http://schemas.openxmlformats.org/drawingml/2006/main" prst="roundRect">
            <a:avLst/>
          </a:prstGeom>
          <a:noFill xmlns:a="http://schemas.openxmlformats.org/drawingml/2006/main"/>
          <a:ln xmlns:a="http://schemas.openxmlformats.org/drawingml/2006/main" w="25400">
            <a:solidFill>
              <a:srgbClr val="FF2E93"/>
            </a:solidFill>
          </a:ln>
        </p:spPr>
        <p:txBody>
          <a:bodyPr xmlns:a="http://schemas.openxmlformats.org/drawingml/2006/main"/>
          <a:lstStyle xmlns:a="http://schemas.openxmlformats.org/drawingml/2006/main"/>
          <a:p xmlns:a="http://schemas.openxmlformats.org/drawingml/2006/main"/>
        </p:txBody>
      </p:sp>
      <p:sp>
        <p:nvSpPr>
          <p:cNvPr id="100127" name="!!#s6-fl"/>
          <p:cNvSpPr txBox="1"/>
          <p:nvPr/>
        </p:nvSpPr>
        <p:spPr>
          <a:xfrm xmlns:a="http://schemas.openxmlformats.org/drawingml/2006/main">
            <a:off x="8064000" y="3816000"/>
            <a:ext cx="216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FF2E93"/>
                </a:solidFill>
                <a:latin typeface="Segoe UI"/>
                <a:ea typeface="Segoe UI"/>
              </a:rPr>
              <a:t>fn square</a:t>
            </a:r>
          </a:p>
        </p:txBody>
      </p:sp>
      <p:sp>
        <p:nvSpPr>
          <p:cNvPr id="100128" name="!!#s6-fc"/>
          <p:cNvSpPr/>
          <p:nvPr/>
        </p:nvSpPr>
        <p:spPr>
          <a:xfrm xmlns:a="http://schemas.openxmlformats.org/drawingml/2006/main">
            <a:off x="8100000" y="4392000"/>
            <a:ext cx="2376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FBBF24"/>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n : unknown</a:t>
            </a:r>
          </a:p>
        </p:txBody>
      </p:sp>
      <p:sp>
        <p:nvSpPr>
          <p:cNvPr id="100129" name="!!#s6-fn"/>
          <p:cNvSpPr txBox="1"/>
          <p:nvPr/>
        </p:nvSpPr>
        <p:spPr>
          <a:xfrm xmlns:a="http://schemas.openxmlformats.org/drawingml/2006/main">
            <a:off x="8064000" y="4860000"/>
            <a:ext cx="3240000" cy="5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400" b="0">
                <a:solidFill>
                  <a:srgbClr val="FBBF24"/>
                </a:solidFill>
                <a:latin typeface="Segoe UI"/>
                <a:ea typeface="Segoe UI"/>
              </a:rPr>
              <a:t>checked at run time (Rice)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7.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130" name="!!scene-orb1"/>
          <p:cNvSpPr/>
          <p:nvPr/>
        </p:nvSpPr>
        <p:spPr>
          <a:xfrm xmlns:a="http://schemas.openxmlformats.org/drawingml/2006/main">
            <a:off x="7920000" y="-14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31" name="!!scene-orb2"/>
          <p:cNvSpPr/>
          <p:nvPr/>
        </p:nvSpPr>
        <p:spPr>
          <a:xfrm xmlns:a="http://schemas.openxmlformats.org/drawingml/2006/main">
            <a:off x="-1080000" y="360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32" name="!!scene-ring"/>
          <p:cNvSpPr/>
          <p:nvPr/>
        </p:nvSpPr>
        <p:spPr>
          <a:xfrm xmlns:a="http://schemas.openxmlformats.org/drawingml/2006/main">
            <a:off x="309600" y="1173600"/>
            <a:ext cx="4060800" cy="4060800"/>
          </a:xfrm>
          <a:prstGeom xmlns:a="http://schemas.openxmlformats.org/drawingml/2006/main" prst="blockArc">
            <a:avLst>
              <a:gd name="adj1" fmla="val 900000"/>
              <a:gd name="adj2" fmla="val 207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133"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134"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35"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136" name="!!scene-p4"/>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4</a:t>
            </a:r>
          </a:p>
        </p:txBody>
      </p:sp>
      <p:sp>
        <p:nvSpPr>
          <p:cNvPr id="100137"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138"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139"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40" name="!!#s7-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4 · SYNTAX-DIRECTED TRANSLATION</a:t>
            </a:r>
          </a:p>
        </p:txBody>
      </p:sp>
      <p:sp>
        <p:nvSpPr>
          <p:cNvPr id="100141" name="!!#s7-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IR</a:t>
            </a:r>
          </a:p>
        </p:txBody>
      </p:sp>
      <p:sp>
        <p:nvSpPr>
          <p:cNvPr id="100142" name="!!#s7-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A post-order walk turns the tree into stack instructions: operands first, operator last.</a:t>
            </a:r>
          </a:p>
        </p:txBody>
      </p:sp>
      <p:sp>
        <p:nvSpPr>
          <p:cNvPr id="100143" name="!!#s7-plus"/>
          <p:cNvSpPr/>
          <p:nvPr/>
        </p:nvSpPr>
        <p:spPr>
          <a:xfrm xmlns:a="http://schemas.openxmlformats.org/drawingml/2006/main">
            <a:off x="5580000" y="3240000"/>
            <a:ext cx="720000" cy="720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2400">
                <a:solidFill>
                  <a:srgbClr val="FFFFFF"/>
                </a:solidFill>
                <a:latin typeface="Arial Black"/>
                <a:ea typeface="Arial Black"/>
              </a:rPr>
              <a:t>+</a:t>
            </a:r>
          </a:p>
        </p:txBody>
      </p:sp>
      <p:sp>
        <p:nvSpPr>
          <p:cNvPr id="100144" name="!!#s7-one"/>
          <p:cNvSpPr/>
          <p:nvPr/>
        </p:nvSpPr>
        <p:spPr>
          <a:xfrm xmlns:a="http://schemas.openxmlformats.org/drawingml/2006/main">
            <a:off x="5004000" y="4536000"/>
            <a:ext cx="648000" cy="648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800">
                <a:solidFill>
                  <a:srgbClr val="FFFFFF"/>
                </a:solidFill>
                <a:latin typeface="Arial Black"/>
                <a:ea typeface="Arial Black"/>
              </a:rPr>
              <a:t>1</a:t>
            </a:r>
          </a:p>
        </p:txBody>
      </p:sp>
      <p:sp>
        <p:nvSpPr>
          <p:cNvPr id="100145" name="!!#s7-two"/>
          <p:cNvSpPr/>
          <p:nvPr/>
        </p:nvSpPr>
        <p:spPr>
          <a:xfrm xmlns:a="http://schemas.openxmlformats.org/drawingml/2006/main">
            <a:off x="6228000" y="4536000"/>
            <a:ext cx="648000" cy="648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22D3EE"/>
            </a:solidFill>
          </a:ln>
        </p:spPr>
        <p:txBody>
          <a:bodyPr xmlns:a="http://schemas.openxmlformats.org/drawingml/2006/main" anchor="ctr"/>
          <a:lstStyle xmlns:a="http://schemas.openxmlformats.org/drawingml/2006/main"/>
          <a:p xmlns:a="http://schemas.openxmlformats.org/drawingml/2006/main">
            <a:pPr algn="ctr"/>
            <a:r>
              <a:rPr lang="en-US" sz="1800">
                <a:solidFill>
                  <a:srgbClr val="FFFFFF"/>
                </a:solidFill>
                <a:latin typeface="Arial Black"/>
                <a:ea typeface="Arial Black"/>
              </a:rPr>
              <a:t>2</a:t>
            </a:r>
          </a:p>
        </p:txBody>
      </p:sp>
      <p:cxnSp>
        <p:nvCxnSpPr>
          <p:cNvPr id="100146" name="Connector 1"/>
          <p:cNvCxnSpPr>
            <a:stCxn xmlns:a="http://schemas.openxmlformats.org/drawingml/2006/main" id="100143" idx="0"/>
            <a:endCxn xmlns:a="http://schemas.openxmlformats.org/drawingml/2006/main" id="100144" idx="0"/>
          </p:cNvCxnSpPr>
          <p:nvPr/>
        </p:nvCxnSpPr>
        <p:spPr>
          <a:xfrm xmlns:a="http://schemas.openxmlformats.org/drawingml/2006/main" flipH="1">
            <a:off x="5328000" y="3960000"/>
            <a:ext cx="612000" cy="576000"/>
          </a:xfrm>
          <a:prstGeom xmlns:a="http://schemas.openxmlformats.org/drawingml/2006/main" prst="straightConnector1">
            <a:avLst/>
          </a:prstGeom>
          <a:ln xmlns:a="http://schemas.openxmlformats.org/drawingml/2006/main" w="25400">
            <a:solidFill>
              <a:srgbClr val="E9D5FF"/>
            </a:solidFill>
            <a:tailEnd type="triangle"/>
          </a:ln>
        </p:spPr>
      </p:cxnSp>
      <p:cxnSp>
        <p:nvCxnSpPr>
          <p:cNvPr id="100147" name="Connector 2"/>
          <p:cNvCxnSpPr>
            <a:stCxn xmlns:a="http://schemas.openxmlformats.org/drawingml/2006/main" id="100143" idx="0"/>
            <a:endCxn xmlns:a="http://schemas.openxmlformats.org/drawingml/2006/main" id="100145" idx="0"/>
          </p:cNvCxnSpPr>
          <p:nvPr/>
        </p:nvCxnSpPr>
        <p:spPr>
          <a:xfrm xmlns:a="http://schemas.openxmlformats.org/drawingml/2006/main">
            <a:off x="5940000" y="3960000"/>
            <a:ext cx="612000" cy="576000"/>
          </a:xfrm>
          <a:prstGeom xmlns:a="http://schemas.openxmlformats.org/drawingml/2006/main" prst="straightConnector1">
            <a:avLst/>
          </a:prstGeom>
          <a:ln xmlns:a="http://schemas.openxmlformats.org/drawingml/2006/main" w="25400">
            <a:solidFill>
              <a:srgbClr val="E9D5FF"/>
            </a:solidFill>
            <a:tailEnd type="triangle"/>
          </a:ln>
        </p:spPr>
      </p:cxnSp>
      <p:sp>
        <p:nvSpPr>
          <p:cNvPr id="100148" name="!!#s7-i0"/>
          <p:cNvSpPr/>
          <p:nvPr/>
        </p:nvSpPr>
        <p:spPr>
          <a:xfrm xmlns:a="http://schemas.openxmlformats.org/drawingml/2006/main">
            <a:off x="7704000" y="3204000"/>
            <a:ext cx="3816000" cy="486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LOAD_CONST  1</a:t>
            </a:r>
          </a:p>
        </p:txBody>
      </p:sp>
      <p:sp>
        <p:nvSpPr>
          <p:cNvPr id="100149" name="!!#s7-i1"/>
          <p:cNvSpPr/>
          <p:nvPr/>
        </p:nvSpPr>
        <p:spPr>
          <a:xfrm xmlns:a="http://schemas.openxmlformats.org/drawingml/2006/main">
            <a:off x="7704000" y="3798000"/>
            <a:ext cx="3816000" cy="486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LOAD_CONST  2</a:t>
            </a:r>
          </a:p>
        </p:txBody>
      </p:sp>
      <p:sp>
        <p:nvSpPr>
          <p:cNvPr id="100150" name="!!#s7-i2"/>
          <p:cNvSpPr/>
          <p:nvPr/>
        </p:nvSpPr>
        <p:spPr>
          <a:xfrm xmlns:a="http://schemas.openxmlformats.org/drawingml/2006/main">
            <a:off x="7704000" y="4392000"/>
            <a:ext cx="3816000" cy="486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BINARY_OP   +</a:t>
            </a:r>
          </a:p>
        </p:txBody>
      </p:sp>
      <p:sp>
        <p:nvSpPr>
          <p:cNvPr id="100151" name="!!#s7-i3"/>
          <p:cNvSpPr/>
          <p:nvPr/>
        </p:nvSpPr>
        <p:spPr>
          <a:xfrm xmlns:a="http://schemas.openxmlformats.org/drawingml/2006/main">
            <a:off x="7704000" y="4986000"/>
            <a:ext cx="3816000" cy="486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STORE_FAST  limit</a:t>
            </a:r>
          </a:p>
        </p:txBody>
      </p:sp>
      <p:sp>
        <p:nvSpPr>
          <p:cNvPr id="100152" name="!!#s7-cap"/>
          <p:cNvSpPr txBox="1"/>
          <p:nvPr/>
        </p:nvSpPr>
        <p:spPr>
          <a:xfrm xmlns:a="http://schemas.openxmlformats.org/drawingml/2006/main">
            <a:off x="4896000" y="5328000"/>
            <a:ext cx="27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400" b="0">
                <a:solidFill>
                  <a:srgbClr val="E9D5FF"/>
                </a:solidFill>
                <a:latin typeface="Segoe UI"/>
                <a:ea typeface="Segoe UI"/>
              </a:rPr>
              <a:t>children first, then the node</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8.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153"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54"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55" name="!!scene-ring"/>
          <p:cNvSpPr/>
          <p:nvPr/>
        </p:nvSpPr>
        <p:spPr>
          <a:xfrm xmlns:a="http://schemas.openxmlformats.org/drawingml/2006/main">
            <a:off x="309600" y="1173600"/>
            <a:ext cx="4060800" cy="4060800"/>
          </a:xfrm>
          <a:prstGeom xmlns:a="http://schemas.openxmlformats.org/drawingml/2006/main" prst="blockArc">
            <a:avLst>
              <a:gd name="adj1" fmla="val 3300000"/>
              <a:gd name="adj2" fmla="val 15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156"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157"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58"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159"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160" name="!!scene-p5"/>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5</a:t>
            </a:r>
          </a:p>
        </p:txBody>
      </p:sp>
      <p:sp>
        <p:nvSpPr>
          <p:cNvPr id="100161"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162"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63" name="!!#s8-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5 · CONTROL-FLOW GRAPH</a:t>
            </a:r>
          </a:p>
        </p:txBody>
      </p:sp>
      <p:sp>
        <p:nvSpPr>
          <p:cNvPr id="100164" name="!!#s8-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Optimize</a:t>
            </a:r>
          </a:p>
        </p:txBody>
      </p:sp>
      <p:sp>
        <p:nvSpPr>
          <p:cNvPr id="100165" name="!!#s8-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Blocks and edges, then fold and prune to a fixpoint. Only provably dead code goes.</a:t>
            </a:r>
          </a:p>
        </p:txBody>
      </p:sp>
      <p:sp>
        <p:nvSpPr>
          <p:cNvPr id="100166" name="!!#s8-b0"/>
          <p:cNvSpPr/>
          <p:nvPr/>
        </p:nvSpPr>
        <p:spPr>
          <a:xfrm xmlns:a="http://schemas.openxmlformats.org/drawingml/2006/main">
            <a:off x="4968000" y="3204000"/>
            <a:ext cx="2880000" cy="648000"/>
          </a:xfrm>
          <a:prstGeom xmlns:a="http://schemas.openxmlformats.org/drawingml/2006/main" prst="roundRect">
            <a:avLst/>
          </a:prstGeom>
          <a:solidFill xmlns:a="http://schemas.openxmlformats.org/drawingml/2006/main">
            <a:srgbClr val="2A0A4A"/>
          </a:solidFill>
          <a:ln xmlns:a="http://schemas.openxmlformats.org/drawingml/2006/main" w="25400">
            <a:solidFill>
              <a:srgbClr val="22D3EE"/>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B0   limit = 3</a:t>
            </a:r>
          </a:p>
        </p:txBody>
      </p:sp>
      <p:sp>
        <p:nvSpPr>
          <p:cNvPr id="100167" name="!!#s8-b1"/>
          <p:cNvSpPr/>
          <p:nvPr/>
        </p:nvSpPr>
        <p:spPr>
          <a:xfrm xmlns:a="http://schemas.openxmlformats.org/drawingml/2006/main">
            <a:off x="4968000" y="4896000"/>
            <a:ext cx="2880000" cy="648000"/>
          </a:xfrm>
          <a:prstGeom xmlns:a="http://schemas.openxmlformats.org/drawingml/2006/main" prst="roundRect">
            <a:avLst/>
          </a:prstGeom>
          <a:solidFill xmlns:a="http://schemas.openxmlformats.org/drawingml/2006/main">
            <a:srgbClr val="2A0A4A"/>
          </a:solidFill>
          <a:ln xmlns:a="http://schemas.openxmlformats.org/drawingml/2006/main" w="25400">
            <a:solidFill>
              <a:srgbClr val="22D3EE"/>
            </a:solidFill>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B1   print names[1]</a:t>
            </a:r>
          </a:p>
        </p:txBody>
      </p:sp>
      <p:sp>
        <p:nvSpPr>
          <p:cNvPr id="100168" name="!!#s8-b2"/>
          <p:cNvSpPr/>
          <p:nvPr/>
        </p:nvSpPr>
        <p:spPr>
          <a:xfrm xmlns:a="http://schemas.openxmlformats.org/drawingml/2006/main">
            <a:off x="8640000" y="4068000"/>
            <a:ext cx="2952000" cy="648000"/>
          </a:xfrm>
          <a:prstGeom xmlns:a="http://schemas.openxmlformats.org/drawingml/2006/main" prst="roundRect">
            <a:avLst/>
          </a:prstGeom>
          <a:solidFill xmlns:a="http://schemas.openxmlformats.org/drawingml/2006/main">
            <a:srgbClr val="3F3F5A"/>
          </a:solidFill>
          <a:ln xmlns:a="http://schemas.openxmlformats.org/drawingml/2006/main" w="25400">
            <a:solidFill>
              <a:srgbClr val="FBBF24"/>
            </a:solidFill>
            <a:prstDash val="dash"/>
          </a:ln>
        </p:spPr>
        <p:txBody>
          <a:bodyPr xmlns:a="http://schemas.openxmlformats.org/drawingml/2006/main" anchor="ctr"/>
          <a:lstStyle xmlns:a="http://schemas.openxmlformats.org/drawingml/2006/main"/>
          <a:p xmlns:a="http://schemas.openxmlformats.org/drawingml/2006/main">
            <a:pPr algn="l"/>
            <a:r>
              <a:rPr lang="en-US" sz="1800" b="0">
                <a:solidFill>
                  <a:srgbClr val="FFFFFF"/>
                </a:solidFill>
                <a:latin typeface="Consolas"/>
                <a:ea typeface="Consolas"/>
              </a:rPr>
              <a:t>B2   print "never"</a:t>
            </a:r>
          </a:p>
        </p:txBody>
      </p:sp>
      <p:cxnSp>
        <p:nvCxnSpPr>
          <p:cNvPr id="100169" name="Connector 1"/>
          <p:cNvCxnSpPr>
            <a:stCxn xmlns:a="http://schemas.openxmlformats.org/drawingml/2006/main" id="100166" idx="0"/>
            <a:endCxn xmlns:a="http://schemas.openxmlformats.org/drawingml/2006/main" id="100167" idx="0"/>
          </p:cNvCxnSpPr>
          <p:nvPr/>
        </p:nvCxnSpPr>
        <p:spPr>
          <a:xfrm xmlns:a="http://schemas.openxmlformats.org/drawingml/2006/main">
            <a:off x="6408000" y="3852000"/>
            <a:ext cx="0" cy="1044000"/>
          </a:xfrm>
          <a:prstGeom xmlns:a="http://schemas.openxmlformats.org/drawingml/2006/main" prst="straightConnector1">
            <a:avLst/>
          </a:prstGeom>
          <a:ln xmlns:a="http://schemas.openxmlformats.org/drawingml/2006/main" w="25400">
            <a:solidFill>
              <a:srgbClr val="22D3EE"/>
            </a:solidFill>
            <a:tailEnd type="triangle"/>
          </a:ln>
        </p:spPr>
      </p:cxnSp>
      <p:cxnSp>
        <p:nvCxnSpPr>
          <p:cNvPr id="100170" name="Connector 2"/>
          <p:cNvCxnSpPr>
            <a:stCxn xmlns:a="http://schemas.openxmlformats.org/drawingml/2006/main" id="100166" idx="0"/>
            <a:endCxn xmlns:a="http://schemas.openxmlformats.org/drawingml/2006/main" id="100168" idx="0"/>
          </p:cNvCxnSpPr>
          <p:nvPr/>
        </p:nvCxnSpPr>
        <p:spPr>
          <a:xfrm xmlns:a="http://schemas.openxmlformats.org/drawingml/2006/main">
            <a:off x="7848000" y="3528000"/>
            <a:ext cx="792000" cy="864000"/>
          </a:xfrm>
          <a:prstGeom xmlns:a="http://schemas.openxmlformats.org/drawingml/2006/main" prst="straightConnector1">
            <a:avLst/>
          </a:prstGeom>
          <a:ln xmlns:a="http://schemas.openxmlformats.org/drawingml/2006/main" w="25400">
            <a:solidFill>
              <a:srgbClr val="FBBF24"/>
            </a:solidFill>
            <a:prstDash val="dash"/>
            <a:tailEnd type="triangle"/>
          </a:ln>
        </p:spPr>
      </p:cxnSp>
      <p:sp>
        <p:nvSpPr>
          <p:cNvPr id="100171" name="!!#s8-dead"/>
          <p:cNvSpPr txBox="1"/>
          <p:nvPr/>
        </p:nvSpPr>
        <p:spPr>
          <a:xfrm xmlns:a="http://schemas.openxmlformats.org/drawingml/2006/main">
            <a:off x="8640000" y="4788000"/>
            <a:ext cx="295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FBBF24"/>
                </a:solidFill>
                <a:latin typeface="Segoe UI"/>
                <a:ea typeface="Segoe UI"/>
              </a:rPr>
              <a:t>no path → removed</a:t>
            </a:r>
          </a:p>
        </p:txBody>
      </p:sp>
      <p:sp>
        <p:nvSpPr>
          <p:cNvPr id="100172" name="!!#s8-fold"/>
          <p:cNvSpPr/>
          <p:nvPr/>
        </p:nvSpPr>
        <p:spPr>
          <a:xfrm xmlns:a="http://schemas.openxmlformats.org/drawingml/2006/main">
            <a:off x="8640000" y="3204000"/>
            <a:ext cx="2952000" cy="540000"/>
          </a:xfrm>
          <a:prstGeom xmlns:a="http://schemas.openxmlformats.org/drawingml/2006/main" prst="roundRect">
            <a:avLst/>
          </a:prstGeom>
          <a:solidFill xmlns:a="http://schemas.openxmlformats.org/drawingml/2006/main">
            <a:srgbClr val="FF2E93"/>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r>
              <a:rPr lang="en-US" sz="1800" b="1">
                <a:solidFill>
                  <a:srgbClr val="FFFFFF"/>
                </a:solidFill>
                <a:latin typeface="Consolas"/>
                <a:ea typeface="Consolas"/>
              </a:rPr>
              <a:t>1 + 2   ⟶   3</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9.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173" name="!!scene-orb1"/>
          <p:cNvSpPr/>
          <p:nvPr/>
        </p:nvSpPr>
        <p:spPr>
          <a:xfrm xmlns:a="http://schemas.openxmlformats.org/drawingml/2006/main">
            <a:off x="7920000" y="-14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74" name="!!scene-orb2"/>
          <p:cNvSpPr/>
          <p:nvPr/>
        </p:nvSpPr>
        <p:spPr>
          <a:xfrm xmlns:a="http://schemas.openxmlformats.org/drawingml/2006/main">
            <a:off x="-1080000" y="360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75" name="!!scene-ring"/>
          <p:cNvSpPr/>
          <p:nvPr/>
        </p:nvSpPr>
        <p:spPr>
          <a:xfrm xmlns:a="http://schemas.openxmlformats.org/drawingml/2006/main">
            <a:off x="309600" y="1173600"/>
            <a:ext cx="4060800" cy="4060800"/>
          </a:xfrm>
          <a:prstGeom xmlns:a="http://schemas.openxmlformats.org/drawingml/2006/main" prst="blockArc">
            <a:avLst>
              <a:gd name="adj1" fmla="val 5700000"/>
              <a:gd name="adj2" fmla="val 39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176"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177"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178"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179"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180"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181" name="!!scene-p6"/>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6</a:t>
            </a:r>
          </a:p>
        </p:txBody>
      </p:sp>
      <p:sp>
        <p:nvSpPr>
          <p:cNvPr id="100182" name="!!scene-p7"/>
          <p:cNvSpPr/>
          <p:nvPr/>
        </p:nvSpPr>
        <p:spPr>
          <a:xfrm xmlns:a="http://schemas.openxmlformats.org/drawingml/2006/main">
            <a:off x="8424000" y="5976000"/>
            <a:ext cx="432000" cy="432000"/>
          </a:xfrm>
          <a:prstGeom xmlns:a="http://schemas.openxmlformats.org/drawingml/2006/main" prst="ellipse">
            <a:avLst/>
          </a:prstGeom>
          <a:solidFill xmlns:a="http://schemas.openxmlformats.org/drawingml/2006/main">
            <a:srgbClr val="2A0A4A"/>
          </a:solidFill>
          <a:ln xmlns:a="http://schemas.openxmlformats.org/drawingml/2006/main" w="19050">
            <a:solidFill>
              <a:srgbClr val="A78BFA"/>
            </a:solid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7</a:t>
            </a:r>
          </a:p>
        </p:txBody>
      </p:sp>
      <p:sp>
        <p:nvSpPr>
          <p:cNvPr id="100183" name="!!#s9-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6 · WORDCODE</a:t>
            </a:r>
          </a:p>
        </p:txBody>
      </p:sp>
      <p:sp>
        <p:nvSpPr>
          <p:cNvPr id="100184" name="!!#s9-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Bytecode</a:t>
            </a:r>
          </a:p>
        </p:txBody>
      </p:sp>
      <p:sp>
        <p:nvSpPr>
          <p:cNvPr id="100185" name="!!#s9-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Every instruction becomes 2 bytes. Labels become relative jumps.</a:t>
            </a:r>
          </a:p>
        </p:txBody>
      </p:sp>
      <p:sp>
        <p:nvSpPr>
          <p:cNvPr id="100186" name="!!#s9-ins"/>
          <p:cNvSpPr txBox="1"/>
          <p:nvPr/>
        </p:nvSpPr>
        <p:spPr>
          <a:xfrm xmlns:a="http://schemas.openxmlformats.org/drawingml/2006/main">
            <a:off x="4968000" y="3168000"/>
            <a:ext cx="6480000" cy="50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200" b="1">
                <a:solidFill>
                  <a:srgbClr val="FFFFFF"/>
                </a:solidFill>
                <a:latin typeface="Consolas"/>
                <a:ea typeface="Consolas"/>
              </a:rPr>
              <a:t>POP_JUMP_IF_FALSE   L_else</a:t>
            </a:r>
          </a:p>
        </p:txBody>
      </p:sp>
      <p:sp>
        <p:nvSpPr>
          <p:cNvPr id="100187" name="!!#s9-off"/>
          <p:cNvSpPr txBox="1"/>
          <p:nvPr/>
        </p:nvSpPr>
        <p:spPr>
          <a:xfrm xmlns:a="http://schemas.openxmlformats.org/drawingml/2006/main">
            <a:off x="4968000" y="3708000"/>
            <a:ext cx="648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0">
                <a:solidFill>
                  <a:srgbClr val="22D3EE"/>
                </a:solidFill>
                <a:latin typeface="Segoe UI"/>
                <a:ea typeface="Segoe UI"/>
              </a:rPr>
              <a:t>↓   L_else is 3 instructions ahead  →  +3</a:t>
            </a:r>
          </a:p>
        </p:txBody>
      </p:sp>
      <p:sp>
        <p:nvSpPr>
          <p:cNvPr id="100188" name="!!#s9-by0"/>
          <p:cNvSpPr/>
          <p:nvPr/>
        </p:nvSpPr>
        <p:spPr>
          <a:xfrm xmlns:a="http://schemas.openxmlformats.org/drawingml/2006/main">
            <a:off x="4968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20</a:t>
            </a:r>
          </a:p>
        </p:txBody>
      </p:sp>
      <p:sp>
        <p:nvSpPr>
          <p:cNvPr id="100189" name="!!#s9-by1"/>
          <p:cNvSpPr/>
          <p:nvPr/>
        </p:nvSpPr>
        <p:spPr>
          <a:xfrm xmlns:a="http://schemas.openxmlformats.org/drawingml/2006/main">
            <a:off x="5796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190" name="!!#s9-by2"/>
          <p:cNvSpPr/>
          <p:nvPr/>
        </p:nvSpPr>
        <p:spPr>
          <a:xfrm xmlns:a="http://schemas.openxmlformats.org/drawingml/2006/main">
            <a:off x="6624000" y="4392000"/>
            <a:ext cx="720000" cy="720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1">
                <a:solidFill>
                  <a:srgbClr val="FFFFFF"/>
                </a:solidFill>
                <a:latin typeface="Consolas"/>
                <a:ea typeface="Consolas"/>
              </a:rPr>
              <a:t>2C</a:t>
            </a:r>
          </a:p>
        </p:txBody>
      </p:sp>
      <p:sp>
        <p:nvSpPr>
          <p:cNvPr id="100191" name="!!#s9-by3"/>
          <p:cNvSpPr/>
          <p:nvPr/>
        </p:nvSpPr>
        <p:spPr>
          <a:xfrm xmlns:a="http://schemas.openxmlformats.org/drawingml/2006/main">
            <a:off x="7452000" y="4392000"/>
            <a:ext cx="720000" cy="720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1">
                <a:solidFill>
                  <a:srgbClr val="FFFFFF"/>
                </a:solidFill>
                <a:latin typeface="Consolas"/>
                <a:ea typeface="Consolas"/>
              </a:rPr>
              <a:t>03</a:t>
            </a:r>
          </a:p>
        </p:txBody>
      </p:sp>
      <p:sp>
        <p:nvSpPr>
          <p:cNvPr id="100192" name="!!#s9-by4"/>
          <p:cNvSpPr/>
          <p:nvPr/>
        </p:nvSpPr>
        <p:spPr>
          <a:xfrm xmlns:a="http://schemas.openxmlformats.org/drawingml/2006/main">
            <a:off x="8280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06</a:t>
            </a:r>
          </a:p>
        </p:txBody>
      </p:sp>
      <p:sp>
        <p:nvSpPr>
          <p:cNvPr id="100193" name="!!#s9-by5"/>
          <p:cNvSpPr/>
          <p:nvPr/>
        </p:nvSpPr>
        <p:spPr>
          <a:xfrm xmlns:a="http://schemas.openxmlformats.org/drawingml/2006/main">
            <a:off x="9108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194" name="!!#s9-by6"/>
          <p:cNvSpPr/>
          <p:nvPr/>
        </p:nvSpPr>
        <p:spPr>
          <a:xfrm xmlns:a="http://schemas.openxmlformats.org/drawingml/2006/main">
            <a:off x="9936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05</a:t>
            </a:r>
          </a:p>
        </p:txBody>
      </p:sp>
      <p:sp>
        <p:nvSpPr>
          <p:cNvPr id="100195" name="!!#s9-by7"/>
          <p:cNvSpPr/>
          <p:nvPr/>
        </p:nvSpPr>
        <p:spPr>
          <a:xfrm xmlns:a="http://schemas.openxmlformats.org/drawingml/2006/main">
            <a:off x="10764000" y="4392000"/>
            <a:ext cx="720000" cy="720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2000" b="0">
                <a:solidFill>
                  <a:srgbClr val="FFFFFF"/>
                </a:solidFill>
                <a:latin typeface="Consolas"/>
                <a:ea typeface="Consolas"/>
              </a:rPr>
              <a:t>00</a:t>
            </a:r>
          </a:p>
        </p:txBody>
      </p:sp>
      <p:sp>
        <p:nvSpPr>
          <p:cNvPr id="100196" name="!!#s9-cap"/>
          <p:cNvSpPr txBox="1"/>
          <p:nvPr/>
        </p:nvSpPr>
        <p:spPr>
          <a:xfrm xmlns:a="http://schemas.openxmlformats.org/drawingml/2006/main">
            <a:off x="4968000" y="5328000"/>
            <a:ext cx="648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opcode · arg   —   2 bytes per instruction</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0.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197" name="!!scene-orb1"/>
          <p:cNvSpPr/>
          <p:nvPr/>
        </p:nvSpPr>
        <p:spPr>
          <a:xfrm xmlns:a="http://schemas.openxmlformats.org/drawingml/2006/main">
            <a:off x="-1800000" y="32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198" name="!!scene-orb2"/>
          <p:cNvSpPr/>
          <p:nvPr/>
        </p:nvSpPr>
        <p:spPr>
          <a:xfrm xmlns:a="http://schemas.openxmlformats.org/drawingml/2006/main">
            <a:off x="9360000" y="432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199" name="!!scene-ring"/>
          <p:cNvSpPr/>
          <p:nvPr/>
        </p:nvSpPr>
        <p:spPr>
          <a:xfrm xmlns:a="http://schemas.openxmlformats.org/drawingml/2006/main">
            <a:off x="309600" y="1173600"/>
            <a:ext cx="4060800" cy="4060800"/>
          </a:xfrm>
          <a:prstGeom xmlns:a="http://schemas.openxmlformats.org/drawingml/2006/main" prst="blockArc">
            <a:avLst>
              <a:gd name="adj1" fmla="val 8100000"/>
              <a:gd name="adj2" fmla="val 630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200" name="!!scene-p1"/>
          <p:cNvSpPr/>
          <p:nvPr/>
        </p:nvSpPr>
        <p:spPr>
          <a:xfrm xmlns:a="http://schemas.openxmlformats.org/drawingml/2006/main">
            <a:off x="486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1</a:t>
            </a:r>
          </a:p>
        </p:txBody>
      </p:sp>
      <p:sp>
        <p:nvSpPr>
          <p:cNvPr id="100201" name="!!scene-p2"/>
          <p:cNvSpPr/>
          <p:nvPr/>
        </p:nvSpPr>
        <p:spPr>
          <a:xfrm xmlns:a="http://schemas.openxmlformats.org/drawingml/2006/main">
            <a:off x="5454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2</a:t>
            </a:r>
          </a:p>
        </p:txBody>
      </p:sp>
      <p:sp>
        <p:nvSpPr>
          <p:cNvPr id="100202" name="!!scene-p3"/>
          <p:cNvSpPr/>
          <p:nvPr/>
        </p:nvSpPr>
        <p:spPr>
          <a:xfrm xmlns:a="http://schemas.openxmlformats.org/drawingml/2006/main">
            <a:off x="6048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3</a:t>
            </a:r>
          </a:p>
        </p:txBody>
      </p:sp>
      <p:sp>
        <p:nvSpPr>
          <p:cNvPr id="100203" name="!!scene-p4"/>
          <p:cNvSpPr/>
          <p:nvPr/>
        </p:nvSpPr>
        <p:spPr>
          <a:xfrm xmlns:a="http://schemas.openxmlformats.org/drawingml/2006/main">
            <a:off x="6642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4</a:t>
            </a:r>
          </a:p>
        </p:txBody>
      </p:sp>
      <p:sp>
        <p:nvSpPr>
          <p:cNvPr id="100204" name="!!scene-p5"/>
          <p:cNvSpPr/>
          <p:nvPr/>
        </p:nvSpPr>
        <p:spPr>
          <a:xfrm xmlns:a="http://schemas.openxmlformats.org/drawingml/2006/main">
            <a:off x="7236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5</a:t>
            </a:r>
          </a:p>
        </p:txBody>
      </p:sp>
      <p:sp>
        <p:nvSpPr>
          <p:cNvPr id="100205" name="!!scene-p6"/>
          <p:cNvSpPr/>
          <p:nvPr/>
        </p:nvSpPr>
        <p:spPr>
          <a:xfrm xmlns:a="http://schemas.openxmlformats.org/drawingml/2006/main">
            <a:off x="7830000" y="5976000"/>
            <a:ext cx="432000" cy="432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1100">
                <a:solidFill>
                  <a:srgbClr val="FFFFFF"/>
                </a:solidFill>
                <a:latin typeface="Arial Black"/>
                <a:ea typeface="Arial Black"/>
              </a:rPr>
              <a:t>6</a:t>
            </a:r>
          </a:p>
        </p:txBody>
      </p:sp>
      <p:sp>
        <p:nvSpPr>
          <p:cNvPr id="100206" name="!!scene-p7"/>
          <p:cNvSpPr/>
          <p:nvPr/>
        </p:nvSpPr>
        <p:spPr>
          <a:xfrm xmlns:a="http://schemas.openxmlformats.org/drawingml/2006/main">
            <a:off x="720000" y="1584000"/>
            <a:ext cx="3240000" cy="3240000"/>
          </a:xfrm>
          <a:prstGeom xmlns:a="http://schemas.openxmlformats.org/drawingml/2006/main" prst="ellipse">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lIns="0" tIns="0" rIns="0" bIns="0" anchor="ctr"/>
          <a:lstStyle xmlns:a="http://schemas.openxmlformats.org/drawingml/2006/main"/>
          <a:p xmlns:a="http://schemas.openxmlformats.org/drawingml/2006/main">
            <a:pPr algn="ctr"/>
            <a:r>
              <a:rPr lang="en-US" sz="11000">
                <a:solidFill>
                  <a:srgbClr val="FFFFFF"/>
                </a:solidFill>
                <a:latin typeface="Arial Black"/>
                <a:ea typeface="Arial Black"/>
              </a:rPr>
              <a:t>7</a:t>
            </a:r>
          </a:p>
        </p:txBody>
      </p:sp>
      <p:sp>
        <p:nvSpPr>
          <p:cNvPr id="100207" name="!!#s10-kicker"/>
          <p:cNvSpPr txBox="1"/>
          <p:nvPr/>
        </p:nvSpPr>
        <p:spPr>
          <a:xfrm xmlns:a="http://schemas.openxmlformats.org/drawingml/2006/main">
            <a:off x="4896000" y="504000"/>
            <a:ext cx="684000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800" b="1">
                <a:solidFill>
                  <a:srgbClr val="22D3EE"/>
                </a:solidFill>
                <a:latin typeface="Segoe UI"/>
                <a:ea typeface="Segoe UI"/>
              </a:rPr>
              <a:t>PHASE 7 · UNIVERSAL MACHINE</a:t>
            </a:r>
          </a:p>
        </p:txBody>
      </p:sp>
      <p:sp>
        <p:nvSpPr>
          <p:cNvPr id="100208" name="!!#s10-title"/>
          <p:cNvSpPr txBox="1"/>
          <p:nvPr/>
        </p:nvSpPr>
        <p:spPr>
          <a:xfrm xmlns:a="http://schemas.openxmlformats.org/drawingml/2006/main">
            <a:off x="4896000" y="900000"/>
            <a:ext cx="6840000" cy="93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800" b="0">
                <a:solidFill>
                  <a:srgbClr val="FFFFFF"/>
                </a:solidFill>
                <a:latin typeface="Arial Black"/>
                <a:ea typeface="Arial Black"/>
              </a:rPr>
              <a:t>VM</a:t>
            </a:r>
          </a:p>
        </p:txBody>
      </p:sp>
      <p:sp>
        <p:nvSpPr>
          <p:cNvPr id="100209" name="!!#s10-line"/>
          <p:cNvSpPr txBox="1"/>
          <p:nvPr/>
        </p:nvSpPr>
        <p:spPr>
          <a:xfrm xmlns:a="http://schemas.openxmlformats.org/drawingml/2006/main">
            <a:off x="4896000" y="1872000"/>
            <a:ext cx="673200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0">
                <a:solidFill>
                  <a:srgbClr val="E9D5FF"/>
                </a:solidFill>
                <a:latin typeface="Segoe UI"/>
                <a:ea typeface="Segoe UI"/>
              </a:rPr>
              <a:t>Fetch, decode, execute. Two stacks + unbounded integers = Turing power.</a:t>
            </a:r>
          </a:p>
        </p:txBody>
      </p:sp>
      <p:sp>
        <p:nvSpPr>
          <p:cNvPr id="100210" name="!!#s10-os0"/>
          <p:cNvSpPr/>
          <p:nvPr/>
        </p:nvSpPr>
        <p:spPr>
          <a:xfrm xmlns:a="http://schemas.openxmlformats.org/drawingml/2006/main">
            <a:off x="4968000" y="4788000"/>
            <a:ext cx="1872000" cy="468000"/>
          </a:xfrm>
          <a:prstGeom xmlns:a="http://schemas.openxmlformats.org/drawingml/2006/main" prst="roundRect">
            <a:avLst/>
          </a:prstGeom>
          <a:solidFill xmlns:a="http://schemas.openxmlformats.org/drawingml/2006/main">
            <a:srgbClr val="FF2E93"/>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"hi"</a:t>
            </a:r>
          </a:p>
        </p:txBody>
      </p:sp>
      <p:sp>
        <p:nvSpPr>
          <p:cNvPr id="100211" name="!!#s10-os1"/>
          <p:cNvSpPr/>
          <p:nvPr/>
        </p:nvSpPr>
        <p:spPr>
          <a:xfrm xmlns:a="http://schemas.openxmlformats.org/drawingml/2006/main">
            <a:off x="4968000" y="4248000"/>
            <a:ext cx="1872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a:t>
            </a:r>
          </a:p>
        </p:txBody>
      </p:sp>
      <p:sp>
        <p:nvSpPr>
          <p:cNvPr id="100212" name="!!#s10-os2"/>
          <p:cNvSpPr/>
          <p:nvPr/>
        </p:nvSpPr>
        <p:spPr>
          <a:xfrm xmlns:a="http://schemas.openxmlformats.org/drawingml/2006/main">
            <a:off x="4968000" y="3708000"/>
            <a:ext cx="1872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3</a:t>
            </a:r>
          </a:p>
        </p:txBody>
      </p:sp>
      <p:sp>
        <p:nvSpPr>
          <p:cNvPr id="100213" name="!!#s10-fr0"/>
          <p:cNvSpPr/>
          <p:nvPr/>
        </p:nvSpPr>
        <p:spPr>
          <a:xfrm xmlns:a="http://schemas.openxmlformats.org/drawingml/2006/main">
            <a:off x="7200000" y="4788000"/>
            <a:ext cx="1872000" cy="468000"/>
          </a:xfrm>
          <a:prstGeom xmlns:a="http://schemas.openxmlformats.org/drawingml/2006/main" prst="roundRect">
            <a:avLst/>
          </a:prstGeom>
          <a:solidFill xmlns:a="http://schemas.openxmlformats.org/drawingml/2006/main">
            <a:srgbClr val="2A0A4A"/>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&lt;main&gt;</a:t>
            </a:r>
          </a:p>
        </p:txBody>
      </p:sp>
      <p:sp>
        <p:nvSpPr>
          <p:cNvPr id="100214" name="!!#s10-fr1"/>
          <p:cNvSpPr/>
          <p:nvPr/>
        </p:nvSpPr>
        <p:spPr>
          <a:xfrm xmlns:a="http://schemas.openxmlformats.org/drawingml/2006/main">
            <a:off x="7200000" y="4248000"/>
            <a:ext cx="1872000" cy="468000"/>
          </a:xfrm>
          <a:prstGeom xmlns:a="http://schemas.openxmlformats.org/drawingml/2006/main" prst="roundRect">
            <a:avLst/>
          </a:prstGeom>
          <a:solidFill xmlns:a="http://schemas.openxmlformats.org/drawingml/2006/main">
            <a:srgbClr val="8B5CF6"/>
          </a:solidFill>
          <a:ln xmlns:a="http://schemas.openxmlformats.org/drawingml/2006/main" w="12700">
            <a:solidFill>
              <a:srgbClr val="A78BFA"/>
            </a:solidFill>
          </a:ln>
        </p:spPr>
        <p:txBody>
          <a:bodyPr xmlns:a="http://schemas.openxmlformats.org/drawingml/2006/main" anchor="ctr"/>
          <a:lstStyle xmlns:a="http://schemas.openxmlformats.org/drawingml/2006/main"/>
          <a:p xmlns:a="http://schemas.openxmlformats.org/drawingml/2006/main">
            <a:pPr algn="ctr"/>
            <a:r>
              <a:rPr lang="en-US" sz="1600" b="0">
                <a:solidFill>
                  <a:srgbClr val="FFFFFF"/>
                </a:solidFill>
                <a:latin typeface="Consolas"/>
                <a:ea typeface="Consolas"/>
              </a:rPr>
              <a:t>square</a:t>
            </a:r>
          </a:p>
        </p:txBody>
      </p:sp>
      <p:sp>
        <p:nvSpPr>
          <p:cNvPr id="100215" name="!!#s10-con"/>
          <p:cNvSpPr/>
          <p:nvPr/>
        </p:nvSpPr>
        <p:spPr>
          <a:xfrm xmlns:a="http://schemas.openxmlformats.org/drawingml/2006/main">
            <a:off x="9432000" y="3708000"/>
            <a:ext cx="2160000" cy="1548000"/>
          </a:xfrm>
          <a:prstGeom xmlns:a="http://schemas.openxmlformats.org/drawingml/2006/main" prst="roundRect">
            <a:avLst/>
          </a:prstGeom>
          <a:solidFill xmlns:a="http://schemas.openxmlformats.org/drawingml/2006/main">
            <a:srgbClr val="000000">
              <a:alpha val="60000"/>
            </a:srgb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200" b="0">
                <a:solidFill>
                  <a:srgbClr val="22D3EE"/>
                </a:solidFill>
                <a:latin typeface="Consolas"/>
                <a:ea typeface="Consolas"/>
              </a:rPr>
              <a:t>&gt; hi</a:t>
            </a:r>
          </a:p>
        </p:txBody>
      </p:sp>
      <p:sp>
        <p:nvSpPr>
          <p:cNvPr id="100216" name="!!#s10-l1"/>
          <p:cNvSpPr txBox="1"/>
          <p:nvPr/>
        </p:nvSpPr>
        <p:spPr>
          <a:xfrm xmlns:a="http://schemas.openxmlformats.org/drawingml/2006/main">
            <a:off x="4968000" y="532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operand stack</a:t>
            </a:r>
          </a:p>
        </p:txBody>
      </p:sp>
      <p:sp>
        <p:nvSpPr>
          <p:cNvPr id="100217" name="!!#s10-l2"/>
          <p:cNvSpPr txBox="1"/>
          <p:nvPr/>
        </p:nvSpPr>
        <p:spPr>
          <a:xfrm xmlns:a="http://schemas.openxmlformats.org/drawingml/2006/main">
            <a:off x="7200000" y="532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call frames</a:t>
            </a:r>
          </a:p>
        </p:txBody>
      </p:sp>
      <p:sp>
        <p:nvSpPr>
          <p:cNvPr id="100218" name="!!#s10-l3"/>
          <p:cNvSpPr txBox="1"/>
          <p:nvPr/>
        </p:nvSpPr>
        <p:spPr>
          <a:xfrm xmlns:a="http://schemas.openxmlformats.org/drawingml/2006/main">
            <a:off x="9432000" y="5328000"/>
            <a:ext cx="194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0">
                <a:solidFill>
                  <a:srgbClr val="E9D5FF"/>
                </a:solidFill>
                <a:latin typeface="Segoe UI"/>
                <a:ea typeface="Segoe UI"/>
              </a:rPr>
              <a:t>console</a:t>
            </a:r>
          </a:p>
        </p:txBody>
      </p:sp>
      <p:sp>
        <p:nvSpPr>
          <p:cNvPr id="100219" name="!!#s10-cap"/>
          <p:cNvSpPr txBox="1"/>
          <p:nvPr/>
        </p:nvSpPr>
        <p:spPr>
          <a:xfrm xmlns:a="http://schemas.openxmlformats.org/drawingml/2006/main">
            <a:off x="4968000" y="3132000"/>
            <a:ext cx="6480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1600" b="1">
                <a:solidFill>
                  <a:srgbClr val="FBBF24"/>
                </a:solidFill>
                <a:latin typeface="Segoe UI"/>
                <a:ea typeface="Segoe UI"/>
              </a:rPr>
              <a:t>step cap 10 000 — halting problem</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slides/slide11.xml><?xml version="1.0" encoding="utf-8"?>
<p:sld xmlns:p159="http://schemas.microsoft.com/office/powerpoint/2015/09/main" xmlns:mc="http://schemas.openxmlformats.org/markup-compatibility/2006" xmlns:p14="http://schemas.microsoft.com/office/powerpoint/2010/main" xmlns:p="http://schemas.openxmlformats.org/presentationml/2006/main" mc:Ignorable="p159">
  <p:cSld>
    <p:bg>
      <p:bgPr>
        <a:gradFill xmlns:a="http://schemas.openxmlformats.org/drawingml/2006/main">
          <a:gsLst>
            <a:gs pos="0">
              <a:srgbClr val="0B0120"/>
            </a:gs>
            <a:gs pos="50000">
              <a:srgbClr val="2A0A4A"/>
            </a:gs>
            <a:gs pos="100000">
              <a:srgbClr val="4C0B45"/>
            </a:gs>
          </a:gsLst>
          <a:lin ang="8100000" scaled="1"/>
        </a:gradFill>
      </p:bgPr>
    </p:bg>
    <p:spTree>
      <p:nvGrpSpPr>
        <p:cNvPr id="1" name=""/>
        <p:cNvGrpSpPr/>
        <p:nvPr/>
      </p:nvGrpSpPr>
      <p:grpSpPr/>
      <p:sp>
        <p:nvSpPr>
          <p:cNvPr id="100220" name="!!scene-orb1"/>
          <p:cNvSpPr/>
          <p:nvPr/>
        </p:nvSpPr>
        <p:spPr>
          <a:xfrm xmlns:a="http://schemas.openxmlformats.org/drawingml/2006/main">
            <a:off x="5040000" y="-1440000"/>
            <a:ext cx="5400000" cy="5400000"/>
          </a:xfrm>
          <a:prstGeom xmlns:a="http://schemas.openxmlformats.org/drawingml/2006/main" prst="ellipse">
            <a:avLst/>
          </a:prstGeom>
          <a:solidFill xmlns:a="http://schemas.openxmlformats.org/drawingml/2006/main">
            <a:srgbClr val="FF2E93">
              <a:alpha val="32000"/>
            </a:srgbClr>
          </a:solidFill>
          <a:ln xmlns:a="http://schemas.openxmlformats.org/drawingml/2006/main">
            <a:noFill/>
          </a:ln>
          <a:effectLst xmlns:a="http://schemas.openxmlformats.org/drawingml/2006/main">
            <a:softEdge rad="762000"/>
          </a:effectLst>
        </p:spPr>
        <p:txBody>
          <a:bodyPr xmlns:a="http://schemas.openxmlformats.org/drawingml/2006/main"/>
          <a:lstStyle xmlns:a="http://schemas.openxmlformats.org/drawingml/2006/main"/>
          <a:p xmlns:a="http://schemas.openxmlformats.org/drawingml/2006/main"/>
        </p:txBody>
      </p:sp>
      <p:sp>
        <p:nvSpPr>
          <p:cNvPr id="100221" name="!!scene-orb2"/>
          <p:cNvSpPr/>
          <p:nvPr/>
        </p:nvSpPr>
        <p:spPr>
          <a:xfrm xmlns:a="http://schemas.openxmlformats.org/drawingml/2006/main">
            <a:off x="7200000" y="3960000"/>
            <a:ext cx="3960000" cy="3960000"/>
          </a:xfrm>
          <a:prstGeom xmlns:a="http://schemas.openxmlformats.org/drawingml/2006/main" prst="ellipse">
            <a:avLst/>
          </a:prstGeom>
          <a:solidFill xmlns:a="http://schemas.openxmlformats.org/drawingml/2006/main">
            <a:srgbClr val="22D3EE">
              <a:alpha val="20000"/>
            </a:srgbClr>
          </a:solidFill>
          <a:ln xmlns:a="http://schemas.openxmlformats.org/drawingml/2006/main">
            <a:noFill/>
          </a:ln>
          <a:effectLst xmlns:a="http://schemas.openxmlformats.org/drawingml/2006/main">
            <a:softEdge rad="635000"/>
          </a:effectLst>
        </p:spPr>
        <p:txBody>
          <a:bodyPr xmlns:a="http://schemas.openxmlformats.org/drawingml/2006/main"/>
          <a:lstStyle xmlns:a="http://schemas.openxmlformats.org/drawingml/2006/main"/>
          <a:p xmlns:a="http://schemas.openxmlformats.org/drawingml/2006/main"/>
        </p:txBody>
      </p:sp>
      <p:sp>
        <p:nvSpPr>
          <p:cNvPr id="100222" name="!!scene-ring"/>
          <p:cNvSpPr/>
          <p:nvPr/>
        </p:nvSpPr>
        <p:spPr>
          <a:xfrm xmlns:a="http://schemas.openxmlformats.org/drawingml/2006/main">
            <a:off x="7034400" y="1274400"/>
            <a:ext cx="4287600" cy="4287600"/>
          </a:xfrm>
          <a:prstGeom xmlns:a="http://schemas.openxmlformats.org/drawingml/2006/main" prst="blockArc">
            <a:avLst>
              <a:gd name="adj1" fmla="val 14700000"/>
              <a:gd name="adj2" fmla="val 14580000"/>
              <a:gd name="adj3" fmla="val 6000"/>
            </a:avLst>
          </a:prstGeom>
          <a:gradFill xmlns:a="http://schemas.openxmlformats.org/drawingml/2006/main">
            <a:gsLst>
              <a:gs pos="0">
                <a:srgbClr val="FF2E93"/>
              </a:gs>
              <a:gs pos="100000">
                <a:srgbClr val="8B5CF6"/>
              </a:gs>
            </a:gsLst>
            <a:lin ang="2700000" scaled="1"/>
          </a:gradFill>
          <a:ln xmlns:a="http://schemas.openxmlformats.org/drawingml/2006/main">
            <a:noFill/>
          </a:ln>
          <a:effectLst xmlns:a="http://schemas.openxmlformats.org/drawingml/2006/main">
            <a:glow rad="101600">
              <a:srgbClr val="FF2E93">
                <a:alpha val="75000"/>
              </a:srgbClr>
            </a:glow>
          </a:effectLst>
        </p:spPr>
        <p:txBody>
          <a:bodyPr xmlns:a="http://schemas.openxmlformats.org/drawingml/2006/main"/>
          <a:lstStyle xmlns:a="http://schemas.openxmlformats.org/drawingml/2006/main"/>
          <a:p xmlns:a="http://schemas.openxmlformats.org/drawingml/2006/main"/>
        </p:txBody>
      </p:sp>
      <p:sp>
        <p:nvSpPr>
          <p:cNvPr id="100223" name="!!scene-p1"/>
          <p:cNvSpPr/>
          <p:nvPr/>
        </p:nvSpPr>
        <p:spPr>
          <a:xfrm xmlns:a="http://schemas.openxmlformats.org/drawingml/2006/main">
            <a:off x="8748000" y="9720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1</a:t>
            </a:r>
          </a:p>
        </p:txBody>
      </p:sp>
      <p:sp>
        <p:nvSpPr>
          <p:cNvPr id="100224" name="!!scene-p2"/>
          <p:cNvSpPr/>
          <p:nvPr/>
        </p:nvSpPr>
        <p:spPr>
          <a:xfrm xmlns:a="http://schemas.openxmlformats.org/drawingml/2006/main">
            <a:off x="10324800" y="17316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2</a:t>
            </a:r>
          </a:p>
        </p:txBody>
      </p:sp>
      <p:sp>
        <p:nvSpPr>
          <p:cNvPr id="100225" name="!!scene-p3"/>
          <p:cNvSpPr/>
          <p:nvPr/>
        </p:nvSpPr>
        <p:spPr>
          <a:xfrm xmlns:a="http://schemas.openxmlformats.org/drawingml/2006/main">
            <a:off x="10713600" y="34380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3</a:t>
            </a:r>
          </a:p>
        </p:txBody>
      </p:sp>
      <p:sp>
        <p:nvSpPr>
          <p:cNvPr id="100226" name="!!scene-p4"/>
          <p:cNvSpPr/>
          <p:nvPr/>
        </p:nvSpPr>
        <p:spPr>
          <a:xfrm xmlns:a="http://schemas.openxmlformats.org/drawingml/2006/main">
            <a:off x="9622800" y="48060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4</a:t>
            </a:r>
          </a:p>
        </p:txBody>
      </p:sp>
      <p:sp>
        <p:nvSpPr>
          <p:cNvPr id="100227" name="!!scene-p5"/>
          <p:cNvSpPr/>
          <p:nvPr/>
        </p:nvSpPr>
        <p:spPr>
          <a:xfrm xmlns:a="http://schemas.openxmlformats.org/drawingml/2006/main">
            <a:off x="7873200" y="48060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5</a:t>
            </a:r>
          </a:p>
        </p:txBody>
      </p:sp>
      <p:sp>
        <p:nvSpPr>
          <p:cNvPr id="100228" name="!!scene-p6"/>
          <p:cNvSpPr/>
          <p:nvPr/>
        </p:nvSpPr>
        <p:spPr>
          <a:xfrm xmlns:a="http://schemas.openxmlformats.org/drawingml/2006/main">
            <a:off x="6782400" y="34380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6</a:t>
            </a:r>
          </a:p>
        </p:txBody>
      </p:sp>
      <p:sp>
        <p:nvSpPr>
          <p:cNvPr id="100229" name="!!scene-p7"/>
          <p:cNvSpPr/>
          <p:nvPr/>
        </p:nvSpPr>
        <p:spPr>
          <a:xfrm xmlns:a="http://schemas.openxmlformats.org/drawingml/2006/main">
            <a:off x="7171200" y="1731600"/>
            <a:ext cx="864000" cy="864000"/>
          </a:xfrm>
          <a:prstGeom xmlns:a="http://schemas.openxmlformats.org/drawingml/2006/main" prst="ellipse">
            <a:avLst/>
          </a:prstGeom>
          <a:solidFill xmlns:a="http://schemas.openxmlformats.org/drawingml/2006/main">
            <a:srgbClr val="FF2E93"/>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r>
              <a:rPr lang="en-US" sz="2000">
                <a:solidFill>
                  <a:srgbClr val="FFFFFF"/>
                </a:solidFill>
                <a:latin typeface="Arial Black"/>
                <a:ea typeface="Arial Black"/>
              </a:rPr>
              <a:t>7</a:t>
            </a:r>
          </a:p>
        </p:txBody>
      </p:sp>
      <p:sp>
        <p:nvSpPr>
          <p:cNvPr id="100230" name="!!#s11-title"/>
          <p:cNvSpPr txBox="1"/>
          <p:nvPr/>
        </p:nvSpPr>
        <p:spPr>
          <a:xfrm xmlns:a="http://schemas.openxmlformats.org/drawingml/2006/main">
            <a:off x="576000" y="1404000"/>
            <a:ext cx="6300000" cy="17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4400" b="0">
                <a:solidFill>
                  <a:srgbClr val="FFFFFF"/>
                </a:solidFill>
                <a:latin typeface="Arial Black"/>
                <a:ea typeface="Arial Black"/>
              </a:rPr>
              <a:t>The snake eats its tail.</a:t>
            </a:r>
          </a:p>
        </p:txBody>
      </p:sp>
      <p:sp>
        <p:nvSpPr>
          <p:cNvPr id="100231" name="!!#s11-body"/>
          <p:cNvSpPr txBox="1"/>
          <p:nvPr/>
        </p:nvSpPr>
        <p:spPr>
          <a:xfrm xmlns:a="http://schemas.openxmlformats.org/drawingml/2006/main">
            <a:off x="576000" y="3168000"/>
            <a:ext cx="6120000" cy="86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200" b="0">
                <a:solidFill>
                  <a:srgbClr val="E9D5FF"/>
                </a:solidFill>
                <a:latin typeface="Segoe UI"/>
                <a:ea typeface="Segoe UI"/>
              </a:rPr>
              <a:t>Source text in. A running machine out. Every step explained.</a:t>
            </a:r>
          </a:p>
        </p:txBody>
      </p:sp>
      <p:sp>
        <p:nvSpPr>
          <p:cNvPr id="100232" name="!!#s11-link"/>
          <p:cNvSpPr txBox="1"/>
          <p:nvPr/>
        </p:nvSpPr>
        <p:spPr>
          <a:xfrm xmlns:a="http://schemas.openxmlformats.org/drawingml/2006/main">
            <a:off x="576000" y="4320000"/>
            <a:ext cx="612000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000" b="1">
                <a:solidFill>
                  <a:srgbClr val="22D3EE"/>
                </a:solidFill>
                <a:latin typeface="Segoe UI"/>
                <a:ea typeface="Segoe UI"/>
              </a:rPr>
              <a:t>github.com/OrangeSorbet/Ouroboros</a:t>
            </a:r>
          </a:p>
        </p:txBody>
      </p:sp>
      <p:sp>
        <p:nvSpPr>
          <p:cNvPr id="100233" name="!!#s11-demo"/>
          <p:cNvSpPr txBox="1"/>
          <p:nvPr/>
        </p:nvSpPr>
        <p:spPr>
          <a:xfrm xmlns:a="http://schemas.openxmlformats.org/drawingml/2006/main">
            <a:off x="576000" y="5256000"/>
            <a:ext cx="4320000" cy="57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lstStyle xmlns:a="http://schemas.openxmlformats.org/drawingml/2006/main"/>
          <a:p xmlns:a="http://schemas.openxmlformats.org/drawingml/2006/main">
            <a:pPr algn="l"/>
            <a:r>
              <a:rPr lang="en-US" sz="2800" b="0">
                <a:solidFill>
                  <a:srgbClr val="FBBF24"/>
                </a:solidFill>
                <a:latin typeface="Arial Black"/>
                <a:ea typeface="Arial Black"/>
              </a:rPr>
              <a:t>Live demo  →</a:t>
            </a:r>
          </a:p>
        </p:txBody>
      </p:sp>
    </p:spTree>
  </p:cSld>
  <mc:AlternateContent>
    <mc:Choice Requires="p159">
      <p:transition xmlns:p159="http://schemas.microsoft.com/office/powerpoint/2015/09/main">
        <p159:morph option="byObject"/>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2026-09-27T11:10:24Z</dcterms:created>
  <cp:lastModifiedBy>OfficeCLI</cp:lastModifiedBy>
  <dcterms:modified xsi:type="dcterms:W3CDTF">2026-09-27T11:10:24Z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2026-09-27T11:10:43Z</vt:lpwstr>
  </op:property>
</op:Properties>
</file>